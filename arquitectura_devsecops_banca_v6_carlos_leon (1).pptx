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37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5469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Apertura: presentarme brevemente: Soy Carlos Enrique Leon Vela, Ingeniero de Sistemas y Magister en Inteligencia Artificial. El objetivo no es vender un CRUD, sino una capacidad DevSecOps reutilizable para banca. Mencionar certificaciones solo como respaldo, no leerlas una por una.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establece el nivel ejecutivo: riesgo, solución y resultado. Evitar entrar todavía en herramientas.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en lenguaje simple: si alguien introduce una vulnerabilidad, el pipeline marca el check; si ese check es obligatorio, el PR no entra a 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es una diapositiva para vender. Decir: es robusta porque no tiene un solo punto de control; combina prevención, detección, bloqueo y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profundizar demasiado aquí: esta diapositiva demuestra dominio general. Luego las siguientes dan contexto capa por capa.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Explicación: si se sube un token real, no basta borrarlo. Hay que rotarlo. Por eso el control preventivo es crítico.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Aclarar: SAST no reemplaza pruebas ni pentest. Es un filtro temprano, rápido y repetible.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Conectar con Java: pom.xml, Maven, dependencias transitivas. Explicar que SCA mira lo que trae el software de terceros.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Decir: una imagen insegura no debería llegar a un registry productivo. Si se detecta después, ya generamos exposición.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Ejemplo simple: contenedor privilegiado, sin límites de recursos o servicio expuesto innecesariamente.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Explicar: no prometer que ZAP reemplaza un pentest. Se usa como control automatizado recurrente.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matiz es importante para no sobreprometer. La attestation da procedencia; la seguridad la determinan las políticas y los resultados de los escaneos.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Aquí debes decir: el banco ya invirtió en GitHub Enterprise. Esta propuesta busca sacarle mayor valor, pero hay que confirmar qué módulos avanzados están habilitados.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diapositiva te protege: no prometes magia. Demuestras criterio de líder: beneficio, riesgo y mitigación.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Respuesta al “por qué finalmente”: porque aprovecha inversión existente, reduce riesgo, genera evidencia y puede escalar por plantilla.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Preparar la demo con un PR inseguro. No improvisar. Mostrar 1) check rojo, 2) evidencia, 3) corrección.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sin fechas. Pedir validación del piloto y definición de estándar mínimo.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8EA7C7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3" name="Text 1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8EA7C7"/>
                </a:solidFill>
              </a:rPr>
              <a:t>1</a:t>
            </a:r>
            <a:endParaRPr lang="en-US" sz="62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1C5B4"/>
                </a:solidFill>
              </a:rPr>
              <a:t>PROPUESTA EJECUTIVA - SEGURIDAD DE SOFTWARE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21792" y="960120"/>
            <a:ext cx="6035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</a:rPr>
              <a:t>Arquitectura</a:t>
            </a:r>
            <a:endParaRPr lang="en-US" sz="3700" dirty="0"/>
          </a:p>
          <a:p>
            <a:pPr marL="0" indent="0" algn="l">
              <a:buNone/>
            </a:pPr>
            <a:r>
              <a:rPr lang="en-US" sz="3700" b="1" dirty="0">
                <a:solidFill>
                  <a:srgbClr val="FFFFFF"/>
                </a:solidFill>
              </a:rPr>
              <a:t>DevSecOps Bancaria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658368" y="2670048"/>
            <a:ext cx="6629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dirty="0">
                <a:solidFill>
                  <a:srgbClr val="C7D6EA"/>
                </a:solidFill>
              </a:rPr>
              <a:t>Controles automáticos, evidencia verificable y defensa en profundidad para proteger el ciclo de vida del software.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43800" y="960120"/>
            <a:ext cx="3657600" cy="102412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/>
            <a:r>
              <a:rPr sz="1600" b="1" dirty="0">
                <a:solidFill>
                  <a:srgbClr val="FFFFFF"/>
                </a:solidFill>
                <a:latin typeface="Aptos"/>
              </a:rPr>
              <a:t>Carlos Enrique León Vela</a:t>
            </a:r>
          </a:p>
          <a:p>
            <a:pPr algn="l"/>
            <a:r>
              <a:rPr sz="1200" dirty="0" err="1">
                <a:solidFill>
                  <a:srgbClr val="FFFFFF"/>
                </a:solidFill>
                <a:latin typeface="Aptos"/>
              </a:rPr>
              <a:t>Ingeniero</a:t>
            </a:r>
            <a:r>
              <a:rPr sz="1200" dirty="0">
                <a:solidFill>
                  <a:srgbClr val="FFFFFF"/>
                </a:solidFill>
                <a:latin typeface="Aptos"/>
              </a:rPr>
              <a:t> de </a:t>
            </a:r>
            <a:r>
              <a:rPr sz="1200" dirty="0" err="1">
                <a:solidFill>
                  <a:srgbClr val="FFFFFF"/>
                </a:solidFill>
                <a:latin typeface="Aptos"/>
              </a:rPr>
              <a:t>Sistemas</a:t>
            </a:r>
            <a:endParaRPr sz="1200" dirty="0">
              <a:solidFill>
                <a:srgbClr val="FFFFFF"/>
              </a:solidFill>
              <a:latin typeface="Aptos"/>
            </a:endParaRPr>
          </a:p>
          <a:p>
            <a:pPr algn="l"/>
            <a:r>
              <a:rPr sz="1200" dirty="0">
                <a:solidFill>
                  <a:srgbClr val="FFFFFF"/>
                </a:solidFill>
                <a:latin typeface="Aptos"/>
              </a:rPr>
              <a:t>Ma</a:t>
            </a:r>
            <a:r>
              <a:rPr lang="es-ES" sz="1200" dirty="0" err="1">
                <a:solidFill>
                  <a:srgbClr val="FFFFFF"/>
                </a:solidFill>
                <a:latin typeface="Aptos"/>
              </a:rPr>
              <a:t>estria</a:t>
            </a:r>
            <a:r>
              <a:rPr sz="120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Aptos"/>
              </a:rPr>
              <a:t>en</a:t>
            </a:r>
            <a:r>
              <a:rPr sz="1200" dirty="0">
                <a:solidFill>
                  <a:srgbClr val="FFFFFF"/>
                </a:solidFill>
                <a:latin typeface="Aptos"/>
              </a:rPr>
              <a:t> </a:t>
            </a:r>
            <a:r>
              <a:rPr sz="1200" dirty="0" err="1">
                <a:solidFill>
                  <a:srgbClr val="FFFFFF"/>
                </a:solidFill>
                <a:latin typeface="Aptos"/>
              </a:rPr>
              <a:t>Inteligencia</a:t>
            </a:r>
            <a:r>
              <a:rPr sz="1200" dirty="0">
                <a:solidFill>
                  <a:srgbClr val="FFFFFF"/>
                </a:solidFill>
                <a:latin typeface="Aptos"/>
              </a:rPr>
              <a:t> Artificial</a:t>
            </a:r>
          </a:p>
        </p:txBody>
      </p:sp>
      <p:sp>
        <p:nvSpPr>
          <p:cNvPr id="8" name="Text 6"/>
          <p:cNvSpPr/>
          <p:nvPr/>
        </p:nvSpPr>
        <p:spPr>
          <a:xfrm>
            <a:off x="9372600" y="2341979"/>
            <a:ext cx="1572768" cy="310896"/>
          </a:xfrm>
          <a:prstGeom prst="rect">
            <a:avLst/>
          </a:prstGeom>
          <a:solidFill>
            <a:srgbClr val="092552"/>
          </a:solidFill>
          <a:ln w="10160">
            <a:solidFill>
              <a:srgbClr val="11C5B4"/>
            </a:solidFill>
          </a:ln>
        </p:spPr>
        <p:txBody>
          <a:bodyPr wrap="square" lIns="54864" tIns="27432" rIns="54864" bIns="27432" rtlCol="0" anchor="ctr">
            <a:normAutofit lnSpcReduction="10000"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GitHub Copilot</a:t>
            </a:r>
          </a:p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Professional (GH-900)</a:t>
            </a:r>
          </a:p>
        </p:txBody>
      </p:sp>
      <p:sp>
        <p:nvSpPr>
          <p:cNvPr id="9" name="Text 7"/>
          <p:cNvSpPr/>
          <p:nvPr/>
        </p:nvSpPr>
        <p:spPr>
          <a:xfrm>
            <a:off x="7635240" y="3310128"/>
            <a:ext cx="1572768" cy="310896"/>
          </a:xfrm>
          <a:prstGeom prst="rect">
            <a:avLst/>
          </a:prstGeom>
          <a:solidFill>
            <a:srgbClr val="092552"/>
          </a:solidFill>
          <a:ln w="10160">
            <a:solidFill>
              <a:srgbClr val="11C5B4"/>
            </a:solidFill>
          </a:ln>
        </p:spPr>
        <p:txBody>
          <a:bodyPr wrap="square" lIns="54864" tIns="27432" rIns="54864" bIns="27432" rtlCol="0" anchor="ctr">
            <a:normAutofit lnSpcReduction="10000"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ISO 27001</a:t>
            </a:r>
          </a:p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Lead Auditor</a:t>
            </a:r>
          </a:p>
        </p:txBody>
      </p:sp>
      <p:sp>
        <p:nvSpPr>
          <p:cNvPr id="10" name="Text 8"/>
          <p:cNvSpPr/>
          <p:nvPr/>
        </p:nvSpPr>
        <p:spPr>
          <a:xfrm>
            <a:off x="7635240" y="2807208"/>
            <a:ext cx="1572768" cy="310896"/>
          </a:xfrm>
          <a:prstGeom prst="rect">
            <a:avLst/>
          </a:prstGeom>
          <a:solidFill>
            <a:srgbClr val="092552"/>
          </a:solidFill>
          <a:ln w="10160">
            <a:solidFill>
              <a:srgbClr val="2454C6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Lead Cybersecurity</a:t>
            </a:r>
          </a:p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Professional</a:t>
            </a:r>
          </a:p>
        </p:txBody>
      </p:sp>
      <p:sp>
        <p:nvSpPr>
          <p:cNvPr id="11" name="Text 9"/>
          <p:cNvSpPr/>
          <p:nvPr/>
        </p:nvSpPr>
        <p:spPr>
          <a:xfrm>
            <a:off x="7635240" y="2341979"/>
            <a:ext cx="1572768" cy="310896"/>
          </a:xfrm>
          <a:prstGeom prst="rect">
            <a:avLst/>
          </a:prstGeom>
          <a:solidFill>
            <a:srgbClr val="092552"/>
          </a:solidFill>
          <a:ln w="10160">
            <a:solidFill>
              <a:srgbClr val="2454C6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GitHub Actions</a:t>
            </a:r>
          </a:p>
        </p:txBody>
      </p:sp>
      <p:sp>
        <p:nvSpPr>
          <p:cNvPr id="12" name="Text 10"/>
          <p:cNvSpPr/>
          <p:nvPr/>
        </p:nvSpPr>
        <p:spPr>
          <a:xfrm>
            <a:off x="9381075" y="2839212"/>
            <a:ext cx="1572768" cy="310896"/>
          </a:xfrm>
          <a:prstGeom prst="rect">
            <a:avLst/>
          </a:prstGeom>
          <a:solidFill>
            <a:srgbClr val="092552"/>
          </a:solidFill>
          <a:ln w="10160">
            <a:solidFill>
              <a:srgbClr val="2454C6"/>
            </a:solidFill>
          </a:ln>
        </p:spPr>
        <p:txBody>
          <a:bodyPr wrap="square" lIns="54864" tIns="27432" rIns="54864" bIns="27432" rtlCol="0" anchor="ctr">
            <a:normAutofit lnSpcReduction="10000"/>
          </a:bodyPr>
          <a:lstStyle/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DevOps Advanced</a:t>
            </a:r>
          </a:p>
          <a:p>
            <a:pPr algn="ctr"/>
            <a:r>
              <a:rPr sz="919" b="1" dirty="0">
                <a:solidFill>
                  <a:srgbClr val="FFFFFF"/>
                </a:solidFill>
                <a:latin typeface="Aptos"/>
              </a:rPr>
              <a:t>Professional</a:t>
            </a:r>
          </a:p>
        </p:txBody>
      </p:sp>
      <p:sp>
        <p:nvSpPr>
          <p:cNvPr id="13" name="Text 11"/>
          <p:cNvSpPr/>
          <p:nvPr/>
        </p:nvSpPr>
        <p:spPr>
          <a:xfrm>
            <a:off x="9372600" y="3310128"/>
            <a:ext cx="1572768" cy="310896"/>
          </a:xfrm>
          <a:prstGeom prst="rect">
            <a:avLst/>
          </a:prstGeom>
          <a:solidFill>
            <a:srgbClr val="092552"/>
          </a:solidFill>
          <a:ln w="10160">
            <a:solidFill>
              <a:srgbClr val="2454C6"/>
            </a:solidFill>
          </a:ln>
        </p:spPr>
        <p:txBody>
          <a:bodyPr wrap="square" lIns="54864" tIns="27432" rIns="54864" bIns="27432" rtlCol="0" anchor="ctr">
            <a:norm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Ethical Hacking</a:t>
            </a:r>
          </a:p>
          <a:p>
            <a:pPr algn="ctr"/>
            <a:r>
              <a:rPr sz="919" b="1">
                <a:solidFill>
                  <a:srgbClr val="FFFFFF"/>
                </a:solidFill>
                <a:latin typeface="Aptos"/>
              </a:rPr>
              <a:t>seguridad ofensiva</a:t>
            </a:r>
          </a:p>
        </p:txBody>
      </p:sp>
      <p:sp>
        <p:nvSpPr>
          <p:cNvPr id="14" name="Text 12"/>
          <p:cNvSpPr/>
          <p:nvPr/>
        </p:nvSpPr>
        <p:spPr>
          <a:xfrm>
            <a:off x="71323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7 capas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defensa en profundidad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215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GitHub Enterprise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aprovechamiento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9107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SBOM + evidencia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auditoria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079992" y="5074920"/>
            <a:ext cx="2331720" cy="658368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 protegido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gobierno</a:t>
            </a:r>
            <a:endParaRPr lang="en-US" sz="1050" dirty="0"/>
          </a:p>
        </p:txBody>
      </p:sp>
      <p:sp>
        <p:nvSpPr>
          <p:cNvPr id="18" name="TextBox 17"/>
          <p:cNvSpPr txBox="1"/>
          <p:nvPr/>
        </p:nvSpPr>
        <p:spPr>
          <a:xfrm>
            <a:off x="7616952" y="2002536"/>
            <a:ext cx="3108960" cy="22860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 algn="l"/>
            <a:r>
              <a:rPr sz="1050" b="1">
                <a:solidFill>
                  <a:srgbClr val="D0D5DD"/>
                </a:solidFill>
                <a:latin typeface="Aptos"/>
              </a:rPr>
              <a:t>Respaldo profesional relevante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MENSAJE CENTRAL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Lo que esta propuesta demuestra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No presento solo una integración de herramientas: presento una capacidad reutilizable para gobernar seguridad en el ciclo de desarrollo.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2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0116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76F"/>
                </a:solidFill>
              </a:rPr>
              <a:t>Problema real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743200"/>
            <a:ext cx="29260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Riesgos se detectan tarde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y la evidencia queda dispersa.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886200" y="3255264"/>
            <a:ext cx="100584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5029200" y="2148840"/>
            <a:ext cx="1828800" cy="411480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9F98"/>
                </a:solidFill>
              </a:rPr>
              <a:t>Solucion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274320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Seguridad como codigo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con controles en el pipeline.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138160" y="3255264"/>
            <a:ext cx="868680" cy="0"/>
          </a:xfrm>
          <a:prstGeom prst="line">
            <a:avLst/>
          </a:prstGeom>
          <a:noFill/>
          <a:ln w="15240">
            <a:solidFill>
              <a:srgbClr val="A5B2C3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9144000" y="2148840"/>
            <a:ext cx="1828800" cy="411480"/>
          </a:xfrm>
          <a:prstGeom prst="rect">
            <a:avLst/>
          </a:prstGeom>
          <a:solidFill>
            <a:srgbClr val="EAF2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454C6"/>
                </a:solidFill>
              </a:rPr>
              <a:t>Resultado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732520" y="2743200"/>
            <a:ext cx="27432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Merge condicionado,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2213A"/>
                </a:solidFill>
              </a:rPr>
              <a:t>evidencia y trazabilidad.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508760" y="5074920"/>
            <a:ext cx="923544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20" b="1" dirty="0">
                <a:solidFill>
                  <a:srgbClr val="FFFFFF"/>
                </a:solidFill>
              </a:rPr>
              <a:t>Frase clave: seguridad automatizada para acelerar con control, no para frenar al equipo.</a:t>
            </a:r>
            <a:endParaRPr lang="en-US" sz="15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1C5B4"/>
                </a:solidFill>
              </a:rPr>
              <a:t>FLUJO OPERATIVO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</a:rPr>
              <a:t>Cómo funciona de extremo a extremo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C7D6EA"/>
                </a:solidFill>
              </a:rPr>
              <a:t>Cada cambio pasa por controles automáticos antes de convertirse en artefacto desplegable.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8EA7C7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8EA7C7"/>
                </a:solidFill>
              </a:rPr>
              <a:t>3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2212848" y="3291840"/>
            <a:ext cx="512064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2834640"/>
            <a:ext cx="1481328" cy="868680"/>
          </a:xfrm>
          <a:prstGeom prst="rect">
            <a:avLst/>
          </a:prstGeom>
          <a:solidFill>
            <a:srgbClr val="0A2B58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Commit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secretos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453128" y="3291840"/>
            <a:ext cx="512064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971800" y="2834640"/>
            <a:ext cx="1481328" cy="8686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PR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SAST + SCA + IaC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693408" y="3291840"/>
            <a:ext cx="512064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5212080" y="2834640"/>
            <a:ext cx="1481328" cy="8686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Build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test + paquete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33688" y="3291840"/>
            <a:ext cx="512064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452360" y="2834640"/>
            <a:ext cx="1481328" cy="8686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Artefacto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imagen + SBOM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92640" y="2834640"/>
            <a:ext cx="1481328" cy="868680"/>
          </a:xfrm>
          <a:prstGeom prst="rect">
            <a:avLst/>
          </a:prstGeom>
          <a:solidFill>
            <a:srgbClr val="0A2B58"/>
          </a:solidFill>
          <a:ln w="10160">
            <a:solidFill>
              <a:srgbClr val="FF9F1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Deploy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DAST + evidencia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10241280" cy="640080"/>
          </a:xfrm>
          <a:prstGeom prst="rect">
            <a:avLst/>
          </a:prstGeom>
          <a:solidFill>
            <a:srgbClr val="092552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Politicas de gobierno: required checks - CODEOWNERS - environments - umbrales de criticidad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5577840"/>
            <a:ext cx="96012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ctr">
              <a:buNone/>
            </a:pPr>
            <a:r>
              <a:rPr lang="en-US" sz="1350" dirty="0">
                <a:solidFill>
                  <a:srgbClr val="C7D6EA"/>
                </a:solidFill>
              </a:rPr>
              <a:t>La fortaleza esta en que la decision queda amarrada al Pull Request y al workflow, no a una revision informal.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ROBUSTEZ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Por qué es una solución robusta de seguridad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La robustez no viene de una herramienta aislada; viene de combinar cobertura, bloqueo, evidencia y mejora continua.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4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480060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E9F98"/>
                </a:solidFill>
              </a:rPr>
              <a:t>Defensa en profundidad
</a:t>
            </a:r>
            <a:r>
              <a:rPr lang="en-US" sz="1120" dirty="0">
                <a:solidFill>
                  <a:srgbClr val="526176"/>
                </a:solidFill>
              </a:rPr>
              <a:t>Siete capas revisan distintos tipos de riesgo: secretos, codigo, dependencias, contenedor, IaC, runtime y supply chain.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6309360" y="2148840"/>
            <a:ext cx="480060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454C6"/>
                </a:solidFill>
              </a:rPr>
              <a:t>Politicas ejecutables
</a:t>
            </a:r>
            <a:r>
              <a:rPr lang="en-US" sz="1120" dirty="0">
                <a:solidFill>
                  <a:srgbClr val="526176"/>
                </a:solidFill>
              </a:rPr>
              <a:t>Los controles dejan de ser recomendaciones y pasan a ser checks obligatorios en Pull Request.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777240" y="3566160"/>
            <a:ext cx="480060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14B86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4B86A"/>
                </a:solidFill>
              </a:rPr>
              <a:t>Evidencia verificable
</a:t>
            </a:r>
            <a:r>
              <a:rPr lang="en-US" sz="1120" dirty="0">
                <a:solidFill>
                  <a:srgbClr val="526176"/>
                </a:solidFill>
              </a:rPr>
              <a:t>Workflow, alertas, SBOM, attestation y aprobaciones quedan como trazabilidad para auditoria.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6309360" y="3566160"/>
            <a:ext cx="4800600" cy="1024128"/>
          </a:xfrm>
          <a:prstGeom prst="rect">
            <a:avLst/>
          </a:prstGeom>
          <a:solidFill>
            <a:srgbClr val="FFFFFF"/>
          </a:solidFill>
          <a:ln w="10160">
            <a:solidFill>
              <a:srgbClr val="FF9F1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9F1C"/>
                </a:solidFill>
              </a:rPr>
              <a:t>Aprovecha plataforma existente
</a:t>
            </a:r>
            <a:r>
              <a:rPr lang="en-US" sz="1120" dirty="0">
                <a:solidFill>
                  <a:srgbClr val="526176"/>
                </a:solidFill>
              </a:rPr>
              <a:t>Se integra con GitHub Enterprise, Actions, CodeQL, Dependabot, Secret Scanning y politicas de Copilot.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1143000" y="5349240"/>
            <a:ext cx="9875520" cy="566928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</a:rPr>
              <a:t>Conclusión: no se trata de detectar más, sino de impedir que riesgos críticos avancen sin decisión y sin evidencia.</a:t>
            </a:r>
            <a:endParaRPr lang="en-US" sz="14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FORO TÉCNICO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Las 7 capas de seguridad: tecnología y funcionamiento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Esta es la vista de foro: para cada capa se ve qué controla, qué tecnología usa y cómo opera.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5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566928" y="1965960"/>
            <a:ext cx="502920" cy="411480"/>
          </a:xfrm>
          <a:prstGeom prst="rect">
            <a:avLst/>
          </a:prstGeom>
          <a:solidFill>
            <a:srgbClr val="EF476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25296" y="19842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213A"/>
                </a:solidFill>
              </a:rPr>
              <a:t>Secretos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419856" y="19842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EF476F"/>
                </a:solidFill>
              </a:rPr>
              <a:t>Gitleaks / Secret Scanning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5458968" y="19659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Tokens, passwords, API keys.</a:t>
            </a:r>
            <a:endParaRPr lang="en-US" sz="840" dirty="0"/>
          </a:p>
        </p:txBody>
      </p:sp>
      <p:sp>
        <p:nvSpPr>
          <p:cNvPr id="11" name="Text 9"/>
          <p:cNvSpPr/>
          <p:nvPr/>
        </p:nvSpPr>
        <p:spPr>
          <a:xfrm>
            <a:off x="8110728" y="196596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Escaneo del historial y bloqueo temprano de secretos.</a:t>
            </a:r>
            <a:endParaRPr lang="en-US" sz="840" dirty="0"/>
          </a:p>
        </p:txBody>
      </p:sp>
      <p:sp>
        <p:nvSpPr>
          <p:cNvPr id="12" name="Shape 10"/>
          <p:cNvSpPr/>
          <p:nvPr/>
        </p:nvSpPr>
        <p:spPr>
          <a:xfrm>
            <a:off x="566928" y="2532888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566928" y="2633472"/>
            <a:ext cx="502920" cy="411480"/>
          </a:xfrm>
          <a:prstGeom prst="rect">
            <a:avLst/>
          </a:prstGeom>
          <a:solidFill>
            <a:srgbClr val="7B3FF2"/>
          </a:solidFill>
          <a:ln w="10160">
            <a:solidFill>
              <a:srgbClr val="7B3FF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25296" y="265176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213A"/>
                </a:solidFill>
              </a:rPr>
              <a:t>SAST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419856" y="265176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7B3FF2"/>
                </a:solidFill>
              </a:rPr>
              <a:t>CodeQL / Semgrep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5458968" y="26334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Errores de codigo y patrones inseguros.</a:t>
            </a:r>
            <a:endParaRPr lang="en-US" sz="840" dirty="0"/>
          </a:p>
        </p:txBody>
      </p:sp>
      <p:sp>
        <p:nvSpPr>
          <p:cNvPr id="17" name="Text 15"/>
          <p:cNvSpPr/>
          <p:nvPr/>
        </p:nvSpPr>
        <p:spPr>
          <a:xfrm>
            <a:off x="8110728" y="263347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Analisis estatico antes del merge.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66928" y="3200400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66928" y="3300984"/>
            <a:ext cx="502920" cy="411480"/>
          </a:xfrm>
          <a:prstGeom prst="rect">
            <a:avLst/>
          </a:prstGeom>
          <a:solidFill>
            <a:srgbClr val="FF9F1C"/>
          </a:solidFill>
          <a:ln w="10160">
            <a:solidFill>
              <a:srgbClr val="FF9F1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25296" y="331927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213A"/>
                </a:solidFill>
              </a:rPr>
              <a:t>SCA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3419856" y="33192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9F1C"/>
                </a:solidFill>
              </a:rPr>
              <a:t>Dependabot / Dependency Review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5458968" y="330098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CVEs y licencias en dependencias.</a:t>
            </a:r>
            <a:endParaRPr lang="en-US" sz="840" dirty="0"/>
          </a:p>
        </p:txBody>
      </p:sp>
      <p:sp>
        <p:nvSpPr>
          <p:cNvPr id="23" name="Text 21"/>
          <p:cNvSpPr/>
          <p:nvPr/>
        </p:nvSpPr>
        <p:spPr>
          <a:xfrm>
            <a:off x="8110728" y="33009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Evalua cambios en pom.xml y lockfiles.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566928" y="3867912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566928" y="3968496"/>
            <a:ext cx="502920" cy="411480"/>
          </a:xfrm>
          <a:prstGeom prst="rect">
            <a:avLst/>
          </a:prstGeom>
          <a:solidFill>
            <a:srgbClr val="2454C6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25296" y="398678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213A"/>
                </a:solidFill>
              </a:rPr>
              <a:t>Contenedor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3419856" y="398678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2454C6"/>
                </a:solidFill>
              </a:rPr>
              <a:t>Trivy</a:t>
            </a:r>
            <a:endParaRPr lang="en-US" sz="980" dirty="0"/>
          </a:p>
        </p:txBody>
      </p:sp>
      <p:sp>
        <p:nvSpPr>
          <p:cNvPr id="28" name="Text 26"/>
          <p:cNvSpPr/>
          <p:nvPr/>
        </p:nvSpPr>
        <p:spPr>
          <a:xfrm>
            <a:off x="5458968" y="3968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CVEs en imagen base y paquetes OS.</a:t>
            </a:r>
            <a:endParaRPr lang="en-US" sz="840" dirty="0"/>
          </a:p>
        </p:txBody>
      </p:sp>
      <p:sp>
        <p:nvSpPr>
          <p:cNvPr id="29" name="Text 27"/>
          <p:cNvSpPr/>
          <p:nvPr/>
        </p:nvSpPr>
        <p:spPr>
          <a:xfrm>
            <a:off x="8110728" y="396849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Escanea imagen Docker antes de promoverla.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566928" y="4535424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566928" y="4636008"/>
            <a:ext cx="502920" cy="411480"/>
          </a:xfrm>
          <a:prstGeom prst="rect">
            <a:avLst/>
          </a:prstGeom>
          <a:solidFill>
            <a:srgbClr val="0E9F9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225296" y="465429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213A"/>
                </a:solidFill>
              </a:rPr>
              <a:t>IaC / K8s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19856" y="4654296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0E9F98"/>
                </a:solidFill>
              </a:rPr>
              <a:t>Checkov</a:t>
            </a:r>
            <a:endParaRPr lang="en-US" sz="980" dirty="0"/>
          </a:p>
        </p:txBody>
      </p:sp>
      <p:sp>
        <p:nvSpPr>
          <p:cNvPr id="34" name="Text 32"/>
          <p:cNvSpPr/>
          <p:nvPr/>
        </p:nvSpPr>
        <p:spPr>
          <a:xfrm>
            <a:off x="5458968" y="46360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Configuraciones inseguras.</a:t>
            </a:r>
            <a:endParaRPr lang="en-US" sz="840" dirty="0"/>
          </a:p>
        </p:txBody>
      </p:sp>
      <p:sp>
        <p:nvSpPr>
          <p:cNvPr id="35" name="Text 33"/>
          <p:cNvSpPr/>
          <p:nvPr/>
        </p:nvSpPr>
        <p:spPr>
          <a:xfrm>
            <a:off x="8110728" y="463600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Valida manifests y politicas de infraestructura.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566928" y="5202936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7" name="Text 35"/>
          <p:cNvSpPr/>
          <p:nvPr/>
        </p:nvSpPr>
        <p:spPr>
          <a:xfrm>
            <a:off x="566928" y="5303520"/>
            <a:ext cx="502920" cy="411480"/>
          </a:xfrm>
          <a:prstGeom prst="rect">
            <a:avLst/>
          </a:prstGeom>
          <a:solidFill>
            <a:srgbClr val="EF476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225296" y="532180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213A"/>
                </a:solidFill>
              </a:rPr>
              <a:t>DAST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3419856" y="53218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EF476F"/>
                </a:solidFill>
              </a:rPr>
              <a:t>OWASP ZAP</a:t>
            </a:r>
            <a:endParaRPr lang="en-US" sz="980" dirty="0"/>
          </a:p>
        </p:txBody>
      </p:sp>
      <p:sp>
        <p:nvSpPr>
          <p:cNvPr id="40" name="Text 38"/>
          <p:cNvSpPr/>
          <p:nvPr/>
        </p:nvSpPr>
        <p:spPr>
          <a:xfrm>
            <a:off x="5458968" y="53035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Fallas visibles con app viva.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8110728" y="530352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Prueba la aplicacion desplegada.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566928" y="5870448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3" name="Text 41"/>
          <p:cNvSpPr/>
          <p:nvPr/>
        </p:nvSpPr>
        <p:spPr>
          <a:xfrm>
            <a:off x="566928" y="5971032"/>
            <a:ext cx="502920" cy="411480"/>
          </a:xfrm>
          <a:prstGeom prst="rect">
            <a:avLst/>
          </a:prstGeom>
          <a:solidFill>
            <a:srgbClr val="14B86A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1225296" y="598932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2213A"/>
                </a:solidFill>
              </a:rPr>
              <a:t>Supply Chain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3419856" y="598932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4B86A"/>
                </a:solidFill>
              </a:rPr>
              <a:t>Syft + Attestations</a:t>
            </a:r>
            <a:endParaRPr lang="en-US" sz="980" dirty="0"/>
          </a:p>
        </p:txBody>
      </p:sp>
      <p:sp>
        <p:nvSpPr>
          <p:cNvPr id="46" name="Text 44"/>
          <p:cNvSpPr/>
          <p:nvPr/>
        </p:nvSpPr>
        <p:spPr>
          <a:xfrm>
            <a:off x="5458968" y="5971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Artefactos sin procedencia.</a:t>
            </a:r>
            <a:endParaRPr lang="en-US" sz="840" dirty="0"/>
          </a:p>
        </p:txBody>
      </p:sp>
      <p:sp>
        <p:nvSpPr>
          <p:cNvPr id="47" name="Text 45"/>
          <p:cNvSpPr/>
          <p:nvPr/>
        </p:nvSpPr>
        <p:spPr>
          <a:xfrm>
            <a:off x="8110728" y="597103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526176"/>
                </a:solidFill>
              </a:rPr>
              <a:t>Genera SBOM y firma origen del build.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566928" y="6537960"/>
            <a:ext cx="11064240" cy="0"/>
          </a:xfrm>
          <a:prstGeom prst="line">
            <a:avLst/>
          </a:prstGeom>
          <a:noFill/>
          <a:ln w="10160">
            <a:solidFill>
              <a:srgbClr val="D8E1EC"/>
            </a:solidFill>
            <a:prstDash val="solid"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CAPA 1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Secretos: evitar credenciales expuestas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Primer control: impedir que tokens, passwords o llaves queden dentro del repositorio.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6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29184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476F"/>
                </a:solidFill>
              </a:rPr>
              <a:t>Riesgo que controla
</a:t>
            </a:r>
            <a:r>
              <a:rPr lang="en-US" sz="1150" dirty="0">
                <a:solidFill>
                  <a:srgbClr val="526176"/>
                </a:solidFill>
              </a:rPr>
              <a:t>En banca, una credencial filtrada puede abrir acceso a APIs, bases de datos, servicios cloud o integraciones internas.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434840" y="2148840"/>
            <a:ext cx="347472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9F98"/>
                </a:solidFill>
              </a:rPr>
              <a:t>Tecnologías
</a:t>
            </a:r>
            <a:r>
              <a:rPr lang="en-US" sz="1150" dirty="0">
                <a:solidFill>
                  <a:srgbClr val="526176"/>
                </a:solidFill>
              </a:rPr>
              <a:t>Gitleaks como control portable. GitHub Secret Scanning y Push Protection como capacidad nativa empresarial si está habilitada.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321040" y="2148840"/>
            <a:ext cx="3154680" cy="1115568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454C6"/>
                </a:solidFill>
              </a:rPr>
              <a:t>Cómo funciona
</a:t>
            </a:r>
            <a:r>
              <a:rPr lang="en-US" sz="1150" dirty="0">
                <a:solidFill>
                  <a:srgbClr val="526176"/>
                </a:solidFill>
              </a:rPr>
              <a:t>Analiza commits y patrones de secretos. En modo preventivo, bloquea el push o marca el PR antes de que llegue a main.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188720" y="4800600"/>
            <a:ext cx="9692640" cy="658368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Mensaje para exponer: esta capa protege uno de los riesgos más sensibles: credenciales reales dentro del código.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CAPA 2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SAST: detectar fallas sin ejecutar la aplicación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SAST analiza el código fuente y encuentra patrones inseguros antes de compilar o desplegar.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7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34290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454C6"/>
                </a:solidFill>
              </a:rPr>
              <a:t>CodeQL
</a:t>
            </a:r>
            <a:r>
              <a:rPr lang="en-US" sz="1120" dirty="0">
                <a:solidFill>
                  <a:srgbClr val="526176"/>
                </a:solidFill>
              </a:rPr>
              <a:t>Motor nativo de GitHub para code scanning. Trata el código como datos consultables y reporta alertas de seguridad y calidad.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389120" y="2057400"/>
            <a:ext cx="34290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7B3FF2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7B3FF2"/>
                </a:solidFill>
              </a:rPr>
              <a:t>Semgrep
</a:t>
            </a:r>
            <a:r>
              <a:rPr lang="en-US" sz="1120" dirty="0">
                <a:solidFill>
                  <a:srgbClr val="526176"/>
                </a:solidFill>
              </a:rPr>
              <a:t>Motor portable basado en reglas. Sirve para reglas propias del banco o estándares internos sobre APIs, logs y excepciones.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092440" y="2057400"/>
            <a:ext cx="342900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E9F98"/>
                </a:solidFill>
              </a:rPr>
              <a:t>Valor bancario
</a:t>
            </a:r>
            <a:r>
              <a:rPr lang="en-US" sz="1120" dirty="0">
                <a:solidFill>
                  <a:srgbClr val="526176"/>
                </a:solidFill>
              </a:rPr>
              <a:t>Detecta errores antes del merge y permite exigir revisión si aparece una alerta crítica o alta.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005840" y="4572000"/>
            <a:ext cx="10058400" cy="59436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</a:rPr>
              <a:t>Ejemplos: inyección, manejo inseguro de datos, validaciones débiles, exposición accidental de información.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CAPA 3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SCA: controlar dependencias y vulnerabilidades conocidas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El código propio puede estar bien, pero una librería vulnerable también compromete la aplicación.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8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4612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FF9F1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FF9F1C"/>
                </a:solidFill>
              </a:rPr>
              <a:t>Dependabot alerts
</a:t>
            </a:r>
            <a:r>
              <a:rPr lang="en-US" sz="1120" dirty="0">
                <a:solidFill>
                  <a:srgbClr val="526176"/>
                </a:solidFill>
              </a:rPr>
              <a:t>Detecta vulnerabilidades conocidas en dependencias existentes y propone actualizaciones cuando aplica.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24612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454C6"/>
                </a:solidFill>
              </a:rPr>
              <a:t>Dependency Review
</a:t>
            </a:r>
            <a:r>
              <a:rPr lang="en-US" sz="1120" dirty="0">
                <a:solidFill>
                  <a:srgbClr val="526176"/>
                </a:solidFill>
              </a:rPr>
              <a:t>En Pull Request, muestra qué dependencias cambian y puede bloquear si se introduce una versión vulnerable o una licencia no permitida.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8183880" y="2148840"/>
            <a:ext cx="3246120" cy="1143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EF476F"/>
                </a:solidFill>
              </a:rPr>
              <a:t>Política recomendada
</a:t>
            </a:r>
            <a:r>
              <a:rPr lang="en-US" sz="1120" dirty="0">
                <a:solidFill>
                  <a:srgbClr val="526176"/>
                </a:solidFill>
              </a:rPr>
              <a:t>Bloquear crítico/alto en producción; permitir excepciones documentadas solo con responsable, fecha y mitigación.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1143000" y="4754880"/>
            <a:ext cx="9875520" cy="594360"/>
          </a:xfrm>
          <a:prstGeom prst="rect">
            <a:avLst/>
          </a:prstGeom>
          <a:solidFill>
            <a:srgbClr val="FFF5E3"/>
          </a:solidFill>
          <a:ln w="10160">
            <a:solidFill>
              <a:srgbClr val="FF9F1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213A"/>
                </a:solidFill>
              </a:rPr>
              <a:t>Mensaje clave: es mejor impedir que una dependencia vulnerable entre al repositorio que corregirla semanas después.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CAPA 4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Contenedores: escanear la imagen que realmente se despliega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El artefacto final no es solo el JAR: también incluye sistema operativo, imagen base y paquetes.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9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194560"/>
            <a:ext cx="31089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EF476F"/>
                </a:solidFill>
              </a:rPr>
              <a:t>Riesgo
</a:t>
            </a:r>
            <a:r>
              <a:rPr lang="en-US" sz="1150" dirty="0">
                <a:solidFill>
                  <a:srgbClr val="526176"/>
                </a:solidFill>
              </a:rPr>
              <a:t>La imagen puede contener paquetes vulnerables aunque el código Java esté correcto.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2194560"/>
            <a:ext cx="31089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454C6"/>
                </a:solidFill>
              </a:rPr>
              <a:t>Tecnología
</a:t>
            </a:r>
            <a:r>
              <a:rPr lang="en-US" sz="1150" dirty="0">
                <a:solidFill>
                  <a:srgbClr val="526176"/>
                </a:solidFill>
              </a:rPr>
              <a:t>Trivy escanea imágenes Docker, dependencias y configuraciones. Es portable y fácil de integrar en GitHub Actions.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75320" y="2194560"/>
            <a:ext cx="3108960" cy="1005840"/>
          </a:xfrm>
          <a:prstGeom prst="rect">
            <a:avLst/>
          </a:prstGeom>
          <a:solidFill>
            <a:srgbClr val="FFFFFF"/>
          </a:solidFill>
          <a:ln w="10160">
            <a:solidFill>
              <a:srgbClr val="14B86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B86A"/>
                </a:solidFill>
              </a:rPr>
              <a:t>Control esperado
</a:t>
            </a:r>
            <a:r>
              <a:rPr lang="en-US" sz="1150" dirty="0">
                <a:solidFill>
                  <a:srgbClr val="526176"/>
                </a:solidFill>
              </a:rPr>
              <a:t>No publicar ni promover imágenes con vulnerabilidades críticas sin excepción aprobada.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325880" y="4709160"/>
            <a:ext cx="9555480" cy="621792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40" b="1" dirty="0">
                <a:solidFill>
                  <a:srgbClr val="FFFFFF"/>
                </a:solidFill>
              </a:rPr>
              <a:t>Punto importante: el escaneo debe ocurrir antes de considerar la imagen como candidata a despliegue.</a:t>
            </a:r>
            <a:endParaRPr lang="en-US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CAPA 5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IaC / Kubernetes: validar infraestructura como código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Una mala configuración puede exponer más que un bug de aplicación.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10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E9F98"/>
                </a:solidFill>
              </a:rPr>
              <a:t>Qué revisa
</a:t>
            </a:r>
            <a:r>
              <a:rPr lang="en-US" sz="1150" dirty="0">
                <a:solidFill>
                  <a:srgbClr val="526176"/>
                </a:solidFill>
              </a:rPr>
              <a:t>Manifiestos Kubernetes, Dockerfile, Terraform u otros archivos de infraestructura definidos como código.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26280" y="214884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454C6"/>
                </a:solidFill>
              </a:rPr>
              <a:t>Tecnología
</a:t>
            </a:r>
            <a:r>
              <a:rPr lang="en-US" sz="1150" dirty="0">
                <a:solidFill>
                  <a:srgbClr val="526176"/>
                </a:solidFill>
              </a:rPr>
              <a:t>Checkov evalúa reglas de configuración: privilegios, exposición de servicios, límites, imágenes y buenas prácticas.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75320" y="2148840"/>
            <a:ext cx="315468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14B86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14B86A"/>
                </a:solidFill>
              </a:rPr>
              <a:t>Valor
</a:t>
            </a:r>
            <a:r>
              <a:rPr lang="en-US" sz="1150" dirty="0">
                <a:solidFill>
                  <a:srgbClr val="526176"/>
                </a:solidFill>
              </a:rPr>
              <a:t>Evita que el despliegue nazca con configuraciones débiles o contrarias a estándares internos.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097280" y="4681728"/>
            <a:ext cx="9966960" cy="621792"/>
          </a:xfrm>
          <a:prstGeom prst="rect">
            <a:avLst/>
          </a:prstGeom>
          <a:solidFill>
            <a:srgbClr val="E7FBF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2213A"/>
                </a:solidFill>
              </a:rPr>
              <a:t>Mensaje: en DevSecOps, también se protege la forma en que se despliega, no solo el código que se escribe.</a:t>
            </a:r>
            <a:endParaRPr lang="en-US" sz="14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CAPA 6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DAST: probar la aplicación en ejecución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Algunas fallas aparecen solo cuando la aplicación está levantada y responde tráfico HTTP.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11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32918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7B3FF2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7B3FF2"/>
                </a:solidFill>
              </a:rPr>
              <a:t>Qué diferencia aporta
</a:t>
            </a:r>
            <a:r>
              <a:rPr lang="en-US" sz="1140" dirty="0">
                <a:solidFill>
                  <a:srgbClr val="526176"/>
                </a:solidFill>
              </a:rPr>
              <a:t>SAST mira código. DAST mira comportamiento externo: headers, rutas, respuestas, exposición y configuración web.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480560" y="2148840"/>
            <a:ext cx="32918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EF476F"/>
                </a:solidFill>
              </a:rPr>
              <a:t>Tecnología
</a:t>
            </a:r>
            <a:r>
              <a:rPr lang="en-US" sz="1140" dirty="0">
                <a:solidFill>
                  <a:srgbClr val="526176"/>
                </a:solidFill>
              </a:rPr>
              <a:t>OWASP ZAP Baseline ejecuta una revisión automatizada sobre la URL de la aplicación desplegada.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183880" y="2148840"/>
            <a:ext cx="329184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9F1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FF9F1C"/>
                </a:solidFill>
              </a:rPr>
              <a:t>Uso recomendado
</a:t>
            </a:r>
            <a:r>
              <a:rPr lang="en-US" sz="1140" dirty="0">
                <a:solidFill>
                  <a:srgbClr val="526176"/>
                </a:solidFill>
              </a:rPr>
              <a:t>En demo puede ser informativo; en ambientes superiores se puede volver obligatorio por criticidad.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1234440" y="4709160"/>
            <a:ext cx="9692640" cy="621792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FFFFFF"/>
                </a:solidFill>
              </a:rPr>
              <a:t>Mensaje: DAST complementa, no reemplaza. Es una capa adicional para detectar exposición real.</a:t>
            </a:r>
            <a:endParaRPr lang="en-US" sz="14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CAPA 7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Supply Chain: SBOM y procedencia del artefacto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La pregunta de auditoría no es solo si el artefacto funciona, sino de dónde salió y con qué componentes fue construido.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12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103120"/>
            <a:ext cx="32461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14B86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14B86A"/>
                </a:solidFill>
              </a:rPr>
              <a:t>SBOM con Syft
</a:t>
            </a:r>
            <a:r>
              <a:rPr lang="en-US" sz="1140" dirty="0">
                <a:solidFill>
                  <a:srgbClr val="526176"/>
                </a:solidFill>
              </a:rPr>
              <a:t>Genera un inventario de componentes: librerías, versiones y paquetes incluidos en el artefacto.</a:t>
            </a:r>
            <a:endParaRPr lang="en-US" sz="1140" dirty="0"/>
          </a:p>
        </p:txBody>
      </p:sp>
      <p:sp>
        <p:nvSpPr>
          <p:cNvPr id="8" name="Text 6"/>
          <p:cNvSpPr/>
          <p:nvPr/>
        </p:nvSpPr>
        <p:spPr>
          <a:xfrm>
            <a:off x="4480560" y="2103120"/>
            <a:ext cx="32461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2454C6"/>
                </a:solidFill>
              </a:rPr>
              <a:t>Artifact Attestations
</a:t>
            </a:r>
            <a:r>
              <a:rPr lang="en-US" sz="1140" dirty="0">
                <a:solidFill>
                  <a:srgbClr val="526176"/>
                </a:solidFill>
              </a:rPr>
              <a:t>Firma declaraciones de procedencia: repositorio, workflow, commit, evento y entorno que construyeron el artefacto.</a:t>
            </a:r>
            <a:endParaRPr lang="en-US" sz="1140" dirty="0"/>
          </a:p>
        </p:txBody>
      </p:sp>
      <p:sp>
        <p:nvSpPr>
          <p:cNvPr id="9" name="Text 7"/>
          <p:cNvSpPr/>
          <p:nvPr/>
        </p:nvSpPr>
        <p:spPr>
          <a:xfrm>
            <a:off x="8183880" y="2103120"/>
            <a:ext cx="324612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FF9F1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40" b="1" dirty="0">
                <a:solidFill>
                  <a:srgbClr val="FF9F1C"/>
                </a:solidFill>
              </a:rPr>
              <a:t>Valor bancario
</a:t>
            </a:r>
            <a:r>
              <a:rPr lang="en-US" sz="1140" dirty="0">
                <a:solidFill>
                  <a:srgbClr val="526176"/>
                </a:solidFill>
              </a:rPr>
              <a:t>Permite trazabilidad para auditoría, control de terceros, investigación de incidentes y gobierno de releases.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960120" y="4617720"/>
            <a:ext cx="10287000" cy="658368"/>
          </a:xfrm>
          <a:prstGeom prst="rect">
            <a:avLst/>
          </a:prstGeom>
          <a:solidFill>
            <a:srgbClr val="EAF8F0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12213A"/>
                </a:solidFill>
              </a:rPr>
              <a:t>Cuidado técnico: una attestation no dice que el artefacto sea seguro; dice cómo, dónde y con qué fue construido.</a:t>
            </a:r>
            <a:endParaRPr lang="en-US" sz="13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1C5B4"/>
                </a:solidFill>
              </a:rPr>
              <a:t>PLATAFORMA DEL BANCO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</a:rPr>
              <a:t>Aprovechar lo que el banco ya tiene en GitHub Enterprise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C7D6EA"/>
                </a:solidFill>
              </a:rPr>
              <a:t>La propuesta gana fuerza porque no exige una plataforma nueva: se apoya en capacidades que ya forman parte del ecosistema GitHub.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8EA7C7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8EA7C7"/>
                </a:solidFill>
              </a:rPr>
              <a:t>13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685800" y="2057400"/>
            <a:ext cx="2834640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1C5B4"/>
                </a:solidFill>
              </a:rPr>
              <a:t>GitHub Actions
</a:t>
            </a:r>
            <a:r>
              <a:rPr lang="en-US" sz="1070" dirty="0">
                <a:solidFill>
                  <a:srgbClr val="D9E8FF"/>
                </a:solidFill>
              </a:rPr>
              <a:t>Automatiza CI/CD, pruebas, escaneos y publicación de evidencia en cada PR o push.</a:t>
            </a:r>
            <a:endParaRPr lang="en-US" sz="1070" dirty="0"/>
          </a:p>
        </p:txBody>
      </p:sp>
      <p:sp>
        <p:nvSpPr>
          <p:cNvPr id="8" name="Text 6"/>
          <p:cNvSpPr/>
          <p:nvPr/>
        </p:nvSpPr>
        <p:spPr>
          <a:xfrm>
            <a:off x="3657600" y="2057400"/>
            <a:ext cx="2834640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2454C6"/>
                </a:solidFill>
              </a:rPr>
              <a:t>CodeQL / Code scanning
</a:t>
            </a:r>
            <a:r>
              <a:rPr lang="en-US" sz="1070" dirty="0">
                <a:solidFill>
                  <a:srgbClr val="D9E8FF"/>
                </a:solidFill>
              </a:rPr>
              <a:t>Análisis de vulnerabilidades y errores de código con resultados visibles en la pestaña Security.</a:t>
            </a:r>
            <a:endParaRPr lang="en-US" sz="1070" dirty="0"/>
          </a:p>
        </p:txBody>
      </p:sp>
      <p:sp>
        <p:nvSpPr>
          <p:cNvPr id="9" name="Text 7"/>
          <p:cNvSpPr/>
          <p:nvPr/>
        </p:nvSpPr>
        <p:spPr>
          <a:xfrm>
            <a:off x="6629400" y="2057400"/>
            <a:ext cx="2834640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EF476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EF476F"/>
                </a:solidFill>
              </a:rPr>
              <a:t>Secret Scanning
</a:t>
            </a:r>
            <a:r>
              <a:rPr lang="en-US" sz="1070" dirty="0">
                <a:solidFill>
                  <a:srgbClr val="D9E8FF"/>
                </a:solidFill>
              </a:rPr>
              <a:t>Detección y prevención de secretos, incluyendo Push Protection si está habilitado.</a:t>
            </a:r>
            <a:endParaRPr lang="en-US" sz="1070" dirty="0"/>
          </a:p>
        </p:txBody>
      </p:sp>
      <p:sp>
        <p:nvSpPr>
          <p:cNvPr id="10" name="Text 8"/>
          <p:cNvSpPr/>
          <p:nvPr/>
        </p:nvSpPr>
        <p:spPr>
          <a:xfrm>
            <a:off x="9601200" y="2057400"/>
            <a:ext cx="2057400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FF9F1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930" b="1" dirty="0">
                <a:solidFill>
                  <a:srgbClr val="FF9F1C"/>
                </a:solidFill>
              </a:rPr>
              <a:t>Dependabot / Dependency Review
</a:t>
            </a:r>
            <a:r>
              <a:rPr lang="en-US" sz="930" dirty="0">
                <a:solidFill>
                  <a:srgbClr val="D9E8FF"/>
                </a:solidFill>
              </a:rPr>
              <a:t>Control de CVEs y dependencias nuevas antes del merge.</a:t>
            </a:r>
            <a:endParaRPr lang="en-US" sz="930" dirty="0"/>
          </a:p>
        </p:txBody>
      </p:sp>
      <p:sp>
        <p:nvSpPr>
          <p:cNvPr id="11" name="Text 9"/>
          <p:cNvSpPr/>
          <p:nvPr/>
        </p:nvSpPr>
        <p:spPr>
          <a:xfrm>
            <a:off x="1280160" y="3703320"/>
            <a:ext cx="3200400" cy="960120"/>
          </a:xfrm>
          <a:prstGeom prst="rect">
            <a:avLst/>
          </a:prstGeom>
          <a:solidFill>
            <a:srgbClr val="092552"/>
          </a:solidFill>
          <a:ln w="10160">
            <a:solidFill>
              <a:srgbClr val="11C5B4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1C5B4"/>
                </a:solidFill>
              </a:rPr>
              <a:t>Rulesets + CODEOWNERS
</a:t>
            </a:r>
            <a:r>
              <a:rPr lang="en-US" sz="1070" dirty="0">
                <a:solidFill>
                  <a:srgbClr val="D9E8FF"/>
                </a:solidFill>
              </a:rPr>
              <a:t>Convierten checks en requisitos obligatorios y obligan revisión de responsables.</a:t>
            </a:r>
            <a:endParaRPr lang="en-US" sz="1070" dirty="0"/>
          </a:p>
        </p:txBody>
      </p:sp>
      <p:sp>
        <p:nvSpPr>
          <p:cNvPr id="12" name="Text 10"/>
          <p:cNvSpPr/>
          <p:nvPr/>
        </p:nvSpPr>
        <p:spPr>
          <a:xfrm>
            <a:off x="4617720" y="3703320"/>
            <a:ext cx="3200400" cy="960120"/>
          </a:xfrm>
          <a:prstGeom prst="rect">
            <a:avLst/>
          </a:prstGeom>
          <a:solidFill>
            <a:srgbClr val="092552"/>
          </a:solidFill>
          <a:ln w="10160">
            <a:solidFill>
              <a:srgbClr val="14B86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14B86A"/>
                </a:solidFill>
              </a:rPr>
              <a:t>Artifact Attestations
</a:t>
            </a:r>
            <a:r>
              <a:rPr lang="en-US" sz="1070" dirty="0">
                <a:solidFill>
                  <a:srgbClr val="D9E8FF"/>
                </a:solidFill>
              </a:rPr>
              <a:t>Permiten probar procedencia e integridad del build.</a:t>
            </a:r>
            <a:endParaRPr lang="en-US" sz="1070" dirty="0"/>
          </a:p>
        </p:txBody>
      </p:sp>
      <p:sp>
        <p:nvSpPr>
          <p:cNvPr id="13" name="Text 11"/>
          <p:cNvSpPr/>
          <p:nvPr/>
        </p:nvSpPr>
        <p:spPr>
          <a:xfrm>
            <a:off x="7955280" y="3703320"/>
            <a:ext cx="3200400" cy="960120"/>
          </a:xfrm>
          <a:prstGeom prst="rect">
            <a:avLst/>
          </a:prstGeom>
          <a:solidFill>
            <a:srgbClr val="092552"/>
          </a:solidFill>
          <a:ln w="10160">
            <a:solidFill>
              <a:srgbClr val="7B3FF2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070" b="1" dirty="0">
                <a:solidFill>
                  <a:srgbClr val="7B3FF2"/>
                </a:solidFill>
              </a:rPr>
              <a:t>Copilot Enterprise
</a:t>
            </a:r>
            <a:r>
              <a:rPr lang="en-US" sz="1070" dirty="0">
                <a:solidFill>
                  <a:srgbClr val="D9E8FF"/>
                </a:solidFill>
              </a:rPr>
              <a:t>Aporta productividad, políticas centralizadas y controles de uso; no reemplaza los gates de seguridad.</a:t>
            </a:r>
            <a:endParaRPr lang="en-US" sz="1070" dirty="0"/>
          </a:p>
        </p:txBody>
      </p:sp>
      <p:sp>
        <p:nvSpPr>
          <p:cNvPr id="14" name="Text 12"/>
          <p:cNvSpPr/>
          <p:nvPr/>
        </p:nvSpPr>
        <p:spPr>
          <a:xfrm>
            <a:off x="914400" y="5486400"/>
            <a:ext cx="10378440" cy="566928"/>
          </a:xfrm>
          <a:prstGeom prst="rect">
            <a:avLst/>
          </a:prstGeom>
          <a:solidFill>
            <a:srgbClr val="112E5C"/>
          </a:solidFill>
          <a:ln w="10160">
            <a:solidFill>
              <a:srgbClr val="FF9F1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220" b="1" dirty="0">
                <a:solidFill>
                  <a:srgbClr val="FFFFFF"/>
                </a:solidFill>
              </a:rPr>
              <a:t>Nota prudente: GitHub Enterprise no implica automáticamente que Code Security / Secret Protection estén activos para repos privados; debe validarse licenciamiento y configuración.</a:t>
            </a:r>
            <a:endParaRPr lang="en-US" sz="12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ADOPCIÓN ENTERPRISE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Beneficios y riesgos de apoyarse en GitHub Enterprise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La recomendación es fuerte, pero responsable: aprovechar la plataforma sin ignorar condiciones de gobierno, costos y configuración.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14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2103120" cy="411480"/>
          </a:xfrm>
          <a:prstGeom prst="rect">
            <a:avLst/>
          </a:prstGeom>
          <a:solidFill>
            <a:srgbClr val="EAF8F0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B86A"/>
                </a:solidFill>
              </a:rPr>
              <a:t>Beneficios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4B86A"/>
                </a:solidFill>
              </a:rPr>
              <a:t>Centralización
</a:t>
            </a:r>
            <a:r>
              <a:rPr lang="en-US" sz="980" dirty="0">
                <a:solidFill>
                  <a:srgbClr val="526176"/>
                </a:solidFill>
              </a:rPr>
              <a:t>Controles, evidencia y alertas en la misma plataforma.</a:t>
            </a:r>
            <a:endParaRPr lang="en-US" sz="980" dirty="0"/>
          </a:p>
        </p:txBody>
      </p:sp>
      <p:sp>
        <p:nvSpPr>
          <p:cNvPr id="9" name="Text 7"/>
          <p:cNvSpPr/>
          <p:nvPr/>
        </p:nvSpPr>
        <p:spPr>
          <a:xfrm>
            <a:off x="77724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4B86A"/>
                </a:solidFill>
              </a:rPr>
              <a:t>Menor fricción
</a:t>
            </a:r>
            <a:r>
              <a:rPr lang="en-US" sz="980" dirty="0">
                <a:solidFill>
                  <a:srgbClr val="526176"/>
                </a:solidFill>
              </a:rPr>
              <a:t>El desarrollador ve el hallazgo en su Pull Request.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77724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BFE8CC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14B86A"/>
                </a:solidFill>
              </a:rPr>
              <a:t>Escalabilidad
</a:t>
            </a:r>
            <a:r>
              <a:rPr lang="en-US" sz="980" dirty="0">
                <a:solidFill>
                  <a:srgbClr val="526176"/>
                </a:solidFill>
              </a:rPr>
              <a:t>Rulesets y workflows reutilizables por squad o plantilla.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6537960" y="2011680"/>
            <a:ext cx="2468880" cy="411480"/>
          </a:xfrm>
          <a:prstGeom prst="rect">
            <a:avLst/>
          </a:prstGeom>
          <a:solidFill>
            <a:srgbClr val="FFF0F4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F476F"/>
                </a:solidFill>
              </a:rPr>
              <a:t>Riesgos a gestionar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537960" y="2606040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EF476F"/>
                </a:solidFill>
              </a:rPr>
              <a:t>Licenciamiento
</a:t>
            </a:r>
            <a:r>
              <a:rPr lang="en-US" sz="980" dirty="0">
                <a:solidFill>
                  <a:srgbClr val="526176"/>
                </a:solidFill>
              </a:rPr>
              <a:t>Enterprise puede requerir Code Security / Secret Protection adicional para privados.</a:t>
            </a:r>
            <a:endParaRPr lang="en-US" sz="980" dirty="0"/>
          </a:p>
        </p:txBody>
      </p:sp>
      <p:sp>
        <p:nvSpPr>
          <p:cNvPr id="13" name="Text 11"/>
          <p:cNvSpPr/>
          <p:nvPr/>
        </p:nvSpPr>
        <p:spPr>
          <a:xfrm>
            <a:off x="6537960" y="3392424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EF476F"/>
                </a:solidFill>
              </a:rPr>
              <a:t>Falsos positivos
</a:t>
            </a:r>
            <a:r>
              <a:rPr lang="en-US" sz="980" dirty="0">
                <a:solidFill>
                  <a:srgbClr val="526176"/>
                </a:solidFill>
              </a:rPr>
              <a:t>Sin umbrales claros puede generar fatiga y rechazo.</a:t>
            </a:r>
            <a:endParaRPr lang="en-US" sz="980" dirty="0"/>
          </a:p>
        </p:txBody>
      </p:sp>
      <p:sp>
        <p:nvSpPr>
          <p:cNvPr id="14" name="Text 12"/>
          <p:cNvSpPr/>
          <p:nvPr/>
        </p:nvSpPr>
        <p:spPr>
          <a:xfrm>
            <a:off x="6537960" y="4178808"/>
            <a:ext cx="48463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EEC7D0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EF476F"/>
                </a:solidFill>
              </a:rPr>
              <a:t>Mala configuración
</a:t>
            </a:r>
            <a:r>
              <a:rPr lang="en-US" sz="980" dirty="0">
                <a:solidFill>
                  <a:srgbClr val="526176"/>
                </a:solidFill>
              </a:rPr>
              <a:t>Si los checks no son required, el pipeline solo informa; no protege.</a:t>
            </a:r>
            <a:endParaRPr lang="en-US" sz="980" dirty="0"/>
          </a:p>
        </p:txBody>
      </p:sp>
      <p:sp>
        <p:nvSpPr>
          <p:cNvPr id="15" name="Text 13"/>
          <p:cNvSpPr/>
          <p:nvPr/>
        </p:nvSpPr>
        <p:spPr>
          <a:xfrm>
            <a:off x="1325880" y="5532120"/>
            <a:ext cx="9601200" cy="566928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Mitigación: piloto controlado, métricas, reglas mínimas obligatorias y proceso formal de excepción.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0E9F98"/>
                </a:solidFill>
              </a:rPr>
              <a:t>RECOMENDACIÓN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12213A"/>
                </a:solidFill>
              </a:rPr>
              <a:t>Por qué recomiendo esta solución para el banco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526176"/>
                </a:solidFill>
              </a:rPr>
              <a:t>Porque transforma seguridad en una práctica operativa repetible, medible y alineada al flujo real de desarrollo.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758299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758299"/>
                </a:solidFill>
              </a:rPr>
              <a:t>15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057400"/>
            <a:ext cx="502920" cy="502920"/>
          </a:xfrm>
          <a:prstGeom prst="rect">
            <a:avLst/>
          </a:prstGeom>
          <a:solidFill>
            <a:srgbClr val="EF476F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43434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F476F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EF476F"/>
                </a:solidFill>
              </a:rPr>
              <a:t>Reduce riesgo antes del merge
</a:t>
            </a:r>
            <a:r>
              <a:rPr lang="en-US" sz="1120" dirty="0">
                <a:solidFill>
                  <a:srgbClr val="526176"/>
                </a:solidFill>
              </a:rPr>
              <a:t>Credenciales, CVEs, código inseguro y configuraciones débiles se detectan temprano.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6263640" y="2057400"/>
            <a:ext cx="502920" cy="502920"/>
          </a:xfrm>
          <a:prstGeom prst="rect">
            <a:avLst/>
          </a:prstGeom>
          <a:solidFill>
            <a:srgbClr val="0E9F98"/>
          </a:solidFill>
          <a:ln w="10160">
            <a:solidFill>
              <a:srgbClr val="0E9F98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949440" y="2057400"/>
            <a:ext cx="43434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0E9F98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0E9F98"/>
                </a:solidFill>
              </a:rPr>
              <a:t>Acelera con control
</a:t>
            </a:r>
            <a:r>
              <a:rPr lang="en-US" sz="1120" dirty="0">
                <a:solidFill>
                  <a:srgbClr val="526176"/>
                </a:solidFill>
              </a:rPr>
              <a:t>No agrega una revisión manual más; automatiza controles repetibles en el PR.</a:t>
            </a:r>
            <a:endParaRPr lang="en-US" sz="112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502920" cy="502920"/>
          </a:xfrm>
          <a:prstGeom prst="rect">
            <a:avLst/>
          </a:prstGeom>
          <a:solidFill>
            <a:srgbClr val="2454C6"/>
          </a:solidFill>
          <a:ln w="10160">
            <a:solidFill>
              <a:srgbClr val="2454C6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474720"/>
            <a:ext cx="43434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2454C6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2454C6"/>
                </a:solidFill>
              </a:rPr>
              <a:t>Mejora auditoría
</a:t>
            </a:r>
            <a:r>
              <a:rPr lang="en-US" sz="1120" dirty="0">
                <a:solidFill>
                  <a:srgbClr val="526176"/>
                </a:solidFill>
              </a:rPr>
              <a:t>Deja evidencia trazable: checks, workflow, alertas, SBOM, aprobación y procedencia.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6263640" y="3474720"/>
            <a:ext cx="502920" cy="502920"/>
          </a:xfrm>
          <a:prstGeom prst="rect">
            <a:avLst/>
          </a:prstGeom>
          <a:solidFill>
            <a:srgbClr val="14B86A"/>
          </a:solidFill>
          <a:ln w="10160">
            <a:solidFill>
              <a:srgbClr val="14B86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949440" y="3474720"/>
            <a:ext cx="4343400" cy="914400"/>
          </a:xfrm>
          <a:prstGeom prst="rect">
            <a:avLst/>
          </a:prstGeom>
          <a:solidFill>
            <a:srgbClr val="FFFFFF"/>
          </a:solidFill>
          <a:ln w="10160">
            <a:solidFill>
              <a:srgbClr val="14B86A"/>
            </a:solidFill>
          </a:ln>
        </p:spPr>
        <p:txBody>
          <a:bodyPr wrap="square" lIns="1778" tIns="1778" rIns="1778" bIns="1778" rtlCol="0" anchor="t">
            <a:normAutofit/>
          </a:bodyPr>
          <a:lstStyle/>
          <a:p>
            <a:pPr marL="0" indent="0" algn="l">
              <a:buNone/>
            </a:pPr>
            <a:r>
              <a:rPr lang="en-US" sz="1120" b="1" dirty="0">
                <a:solidFill>
                  <a:srgbClr val="14B86A"/>
                </a:solidFill>
              </a:rPr>
              <a:t>Escala por plantilla
</a:t>
            </a:r>
            <a:r>
              <a:rPr lang="en-US" sz="1120" dirty="0">
                <a:solidFill>
                  <a:srgbClr val="526176"/>
                </a:solidFill>
              </a:rPr>
              <a:t>Puede convertirse en estándar base para nuevos microservicios y equipos.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1051560" y="5349240"/>
            <a:ext cx="10058400" cy="640080"/>
          </a:xfrm>
          <a:prstGeom prst="rect">
            <a:avLst/>
          </a:prstGeom>
          <a:solidFill>
            <a:srgbClr val="061A34"/>
          </a:solidFill>
          <a:ln w="10160">
            <a:solidFill>
              <a:srgbClr val="061A3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FFFFF"/>
                </a:solidFill>
              </a:rPr>
              <a:t>Recomendación: validar como piloto formal, medir resultados y convertir los controles mínimos en estándar institucional.</a:t>
            </a:r>
            <a:endParaRPr lang="en-US" sz="143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1C5B4"/>
                </a:solidFill>
              </a:rPr>
              <a:t>DEMO EJECUTIVA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</a:rPr>
              <a:t>Demo sugerida: mostrar bloqueo y evidencia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C7D6EA"/>
                </a:solidFill>
              </a:rPr>
              <a:t>La demo debe probar capacidad de gobierno, no solo ejecución de herramientas.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8EA7C7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8EA7C7"/>
                </a:solidFill>
              </a:rPr>
              <a:t>16</a:t>
            </a:r>
            <a:endParaRPr lang="en-US" sz="620" dirty="0"/>
          </a:p>
        </p:txBody>
      </p:sp>
      <p:sp>
        <p:nvSpPr>
          <p:cNvPr id="7" name="Shape 5"/>
          <p:cNvSpPr/>
          <p:nvPr/>
        </p:nvSpPr>
        <p:spPr>
          <a:xfrm>
            <a:off x="2240280" y="3429000"/>
            <a:ext cx="484632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1298448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C5B4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880360"/>
            <a:ext cx="1627632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Main limpio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checks en verde</a:t>
            </a:r>
            <a:endParaRPr lang="en-US" sz="980" dirty="0"/>
          </a:p>
        </p:txBody>
      </p:sp>
      <p:sp>
        <p:nvSpPr>
          <p:cNvPr id="10" name="Shape 8"/>
          <p:cNvSpPr/>
          <p:nvPr/>
        </p:nvSpPr>
        <p:spPr>
          <a:xfrm>
            <a:off x="4526280" y="3429000"/>
            <a:ext cx="484632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84448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C5B4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26080" y="2880360"/>
            <a:ext cx="1627632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Cambio inseguro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se introduce riesgo</a:t>
            </a:r>
            <a:endParaRPr lang="en-US" sz="980" dirty="0"/>
          </a:p>
        </p:txBody>
      </p:sp>
      <p:sp>
        <p:nvSpPr>
          <p:cNvPr id="13" name="Shape 11"/>
          <p:cNvSpPr/>
          <p:nvPr/>
        </p:nvSpPr>
        <p:spPr>
          <a:xfrm>
            <a:off x="6812280" y="3429000"/>
            <a:ext cx="484632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870448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C5B4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212080" y="2880360"/>
            <a:ext cx="1627632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EF476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PR bloqueado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required checks</a:t>
            </a:r>
            <a:endParaRPr lang="en-US" sz="980" dirty="0"/>
          </a:p>
        </p:txBody>
      </p:sp>
      <p:sp>
        <p:nvSpPr>
          <p:cNvPr id="16" name="Shape 14"/>
          <p:cNvSpPr/>
          <p:nvPr/>
        </p:nvSpPr>
        <p:spPr>
          <a:xfrm>
            <a:off x="9098280" y="3429000"/>
            <a:ext cx="484632" cy="0"/>
          </a:xfrm>
          <a:prstGeom prst="line">
            <a:avLst/>
          </a:prstGeom>
          <a:noFill/>
          <a:ln w="15240">
            <a:solidFill>
              <a:srgbClr val="5C7291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156448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C5B4"/>
                </a:solidFill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498080" y="2880360"/>
            <a:ext cx="1627632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Evidencia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Security + artifacts</a:t>
            </a:r>
            <a:endParaRPr lang="en-US" sz="980" dirty="0"/>
          </a:p>
        </p:txBody>
      </p:sp>
      <p:sp>
        <p:nvSpPr>
          <p:cNvPr id="19" name="Text 17"/>
          <p:cNvSpPr/>
          <p:nvPr/>
        </p:nvSpPr>
        <p:spPr>
          <a:xfrm>
            <a:off x="10442448" y="23774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1C5B4"/>
                </a:solidFill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784080" y="2880360"/>
            <a:ext cx="1627632" cy="96012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Corrección</a:t>
            </a:r>
            <a:endParaRPr lang="en-US" sz="980" dirty="0"/>
          </a:p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</a:rPr>
              <a:t>merge controlado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914400" y="5029200"/>
            <a:ext cx="10332720" cy="685800"/>
          </a:xfrm>
          <a:prstGeom prst="rect">
            <a:avLst/>
          </a:prstGeom>
          <a:solidFill>
            <a:srgbClr val="092552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</a:rPr>
              <a:t>Guion: “el valor no es que el scanner encuentre algo; el valor es que el gobierno impide avanzar sin corrección o excepción aprobada”.</a:t>
            </a:r>
            <a:endParaRPr lang="en-US" sz="132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1A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11C5B4"/>
                </a:solidFill>
              </a:rPr>
              <a:t>CIERRE EJECUTIVO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66928" y="685800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850" b="1" dirty="0">
                <a:solidFill>
                  <a:srgbClr val="FFFFFF"/>
                </a:solidFill>
              </a:rPr>
              <a:t>De una demo a una capacidad institucional</a:t>
            </a:r>
            <a:endParaRPr lang="en-US" sz="2850" dirty="0"/>
          </a:p>
        </p:txBody>
      </p:sp>
      <p:sp>
        <p:nvSpPr>
          <p:cNvPr id="4" name="Text 2"/>
          <p:cNvSpPr/>
          <p:nvPr/>
        </p:nvSpPr>
        <p:spPr>
          <a:xfrm>
            <a:off x="585216" y="1417320"/>
            <a:ext cx="10424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80" dirty="0">
                <a:solidFill>
                  <a:srgbClr val="C7D6EA"/>
                </a:solidFill>
              </a:rPr>
              <a:t>La propuesta está pensada para iniciar como vitrina controlada y escalar solo con evidencia, gobierno y métricas.</a:t>
            </a:r>
            <a:endParaRPr lang="en-US" sz="1180" dirty="0"/>
          </a:p>
        </p:txBody>
      </p:sp>
      <p:sp>
        <p:nvSpPr>
          <p:cNvPr id="5" name="Text 3"/>
          <p:cNvSpPr/>
          <p:nvPr/>
        </p:nvSpPr>
        <p:spPr>
          <a:xfrm>
            <a:off x="475488" y="6473952"/>
            <a:ext cx="64922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570" dirty="0">
                <a:solidFill>
                  <a:srgbClr val="8EA7C7"/>
                </a:solidFill>
              </a:rPr>
              <a:t>Arquitectura DevSecOps Bancaria - Carlos Enrique Leon Vela</a:t>
            </a:r>
            <a:endParaRPr lang="en-US" sz="570" dirty="0"/>
          </a:p>
        </p:txBody>
      </p:sp>
      <p:sp>
        <p:nvSpPr>
          <p:cNvPr id="6" name="Text 4"/>
          <p:cNvSpPr/>
          <p:nvPr/>
        </p:nvSpPr>
        <p:spPr>
          <a:xfrm>
            <a:off x="11466576" y="645566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620" dirty="0">
                <a:solidFill>
                  <a:srgbClr val="8EA7C7"/>
                </a:solidFill>
              </a:rPr>
              <a:t>17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1C5B4"/>
                </a:solidFill>
              </a:rPr>
              <a:t>Mi aporte no es únicamente técnico.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77240" y="2606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</a:rPr>
              <a:t>Es diseñar una forma repetible de integrar seguridad, arquitectura y trazabilidad dentro del ciclo de vida del software.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595360" y="1965960"/>
            <a:ext cx="2377440" cy="6400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Seguridad distribuida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0" y="2971800"/>
            <a:ext cx="2377440" cy="6400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Gobierno automatizado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95360" y="3977640"/>
            <a:ext cx="2377440" cy="640080"/>
          </a:xfrm>
          <a:prstGeom prst="rect">
            <a:avLst/>
          </a:prstGeom>
          <a:solidFill>
            <a:srgbClr val="0A2B58"/>
          </a:solidFill>
          <a:ln w="10160">
            <a:solidFill>
              <a:srgbClr val="11C5B4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Evidencia verificable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349240"/>
            <a:ext cx="10607040" cy="685800"/>
          </a:xfrm>
          <a:prstGeom prst="rect">
            <a:avLst/>
          </a:prstGeom>
          <a:solidFill>
            <a:srgbClr val="092552"/>
          </a:solidFill>
          <a:ln w="10160">
            <a:solidFill>
              <a:srgbClr val="FF9F1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Solicitud ejecutiva: validar la vitrina como piloto formal y definir el estándar mínimo de seguridad para nuevos microservicios.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2440</Words>
  <Application>Microsoft Macintosh PowerPoint</Application>
  <PresentationFormat>Panorámica</PresentationFormat>
  <Paragraphs>281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Banco 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DevSecOps Bancaria</dc:title>
  <dc:subject>Arquitectura DevSecOps bancaria</dc:subject>
  <dc:creator>Carlos Enrique León Vela</dc:creator>
  <cp:lastModifiedBy>carlos leon vela</cp:lastModifiedBy>
  <cp:revision>2</cp:revision>
  <dcterms:created xsi:type="dcterms:W3CDTF">2026-07-09T12:40:25Z</dcterms:created>
  <dcterms:modified xsi:type="dcterms:W3CDTF">2026-07-09T13:03:41Z</dcterms:modified>
</cp:coreProperties>
</file>