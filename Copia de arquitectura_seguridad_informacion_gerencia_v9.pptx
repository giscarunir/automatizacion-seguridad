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2645e2326c442a" /><Relationship Type="http://schemas.openxmlformats.org/officeDocument/2006/relationships/extended-properties" Target="/docProps/app.xml" Id="Rec57c399ce2340dd" /><Relationship Type="http://schemas.openxmlformats.org/officeDocument/2006/relationships/officeDocument" Target="/ppt/presentation.xml" Id="Rb48f7643374142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174f7aef84475d"/>
  </p:sldMasterIdLst>
  <p:notesMasterIdLst>
    <p:notesMasterId xmlns:r="http://schemas.openxmlformats.org/officeDocument/2006/relationships" r:id="Rd946af7d338b4358"/>
  </p:notesMasterIdLst>
  <p:sldIdLst>
    <p:sldId xmlns:r="http://schemas.openxmlformats.org/officeDocument/2006/relationships" id="256" r:id="R5756835b6a8d4914"/>
    <p:sldId xmlns:r="http://schemas.openxmlformats.org/officeDocument/2006/relationships" id="257" r:id="R39d99a5aa2f243ae"/>
    <p:sldId xmlns:r="http://schemas.openxmlformats.org/officeDocument/2006/relationships" id="258" r:id="Rcdf667a444b942f6"/>
    <p:sldId xmlns:r="http://schemas.openxmlformats.org/officeDocument/2006/relationships" id="259" r:id="R06658d106eb846cb"/>
    <p:sldId xmlns:r="http://schemas.openxmlformats.org/officeDocument/2006/relationships" id="260" r:id="Rf9b16f99f87b4564"/>
    <p:sldId xmlns:r="http://schemas.openxmlformats.org/officeDocument/2006/relationships" id="261" r:id="R7cc9d10d1cb24187"/>
    <p:sldId xmlns:r="http://schemas.openxmlformats.org/officeDocument/2006/relationships" id="262" r:id="Rf1f596be2638488d"/>
    <p:sldId xmlns:r="http://schemas.openxmlformats.org/officeDocument/2006/relationships" id="263" r:id="Rf5bc74d59e6a44b2"/>
    <p:sldId xmlns:r="http://schemas.openxmlformats.org/officeDocument/2006/relationships" id="264" r:id="R278401e58cea413e"/>
    <p:sldId xmlns:r="http://schemas.openxmlformats.org/officeDocument/2006/relationships" id="265" r:id="Re2294caf04a7483a"/>
    <p:sldId xmlns:r="http://schemas.openxmlformats.org/officeDocument/2006/relationships" id="266" r:id="R3858d5af449d421e"/>
    <p:sldId xmlns:r="http://schemas.openxmlformats.org/officeDocument/2006/relationships" id="267" r:id="R16bc6290c07c4cf1"/>
    <p:sldId xmlns:r="http://schemas.openxmlformats.org/officeDocument/2006/relationships" id="268" r:id="Ra81e42db8a0142c3"/>
    <p:sldId xmlns:r="http://schemas.openxmlformats.org/officeDocument/2006/relationships" id="269" r:id="R02f03b51d065402d"/>
    <p:sldId xmlns:r="http://schemas.openxmlformats.org/officeDocument/2006/relationships" id="270" r:id="Re009eda03ccc493a"/>
    <p:sldId xmlns:r="http://schemas.openxmlformats.org/officeDocument/2006/relationships" id="271" r:id="R25a2b52440d243a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5b8904a4d247b8" /><Relationship Type="http://schemas.openxmlformats.org/officeDocument/2006/relationships/slideMaster" Target="/ppt/slideMasters/slideMaster1.xml" Id="R97174f7aef84475d" /><Relationship Type="http://schemas.openxmlformats.org/officeDocument/2006/relationships/notesMaster" Target="/ppt/notesMasters/notesMaster1.xml" Id="Rd946af7d338b4358" /><Relationship Type="http://schemas.openxmlformats.org/officeDocument/2006/relationships/presProps" Target="/ppt/presProps.xml" Id="Reca73359d0504ec5" /><Relationship Type="http://schemas.openxmlformats.org/officeDocument/2006/relationships/viewProps" Target="/ppt/viewProps.xml" Id="R8d9c65ef2cd04ae1" /><Relationship Type="http://schemas.openxmlformats.org/officeDocument/2006/relationships/tableStyles" Target="/ppt/tableStyles.xml" Id="R28b62dce41a84263" /><Relationship Type="http://schemas.openxmlformats.org/officeDocument/2006/relationships/slide" Target="/ppt/slides/slide1.xml" Id="R5756835b6a8d4914" /><Relationship Type="http://schemas.openxmlformats.org/officeDocument/2006/relationships/slide" Target="/ppt/slides/slide2.xml" Id="R39d99a5aa2f243ae" /><Relationship Type="http://schemas.openxmlformats.org/officeDocument/2006/relationships/slide" Target="/ppt/slides/slide3.xml" Id="Rcdf667a444b942f6" /><Relationship Type="http://schemas.openxmlformats.org/officeDocument/2006/relationships/slide" Target="/ppt/slides/slide4.xml" Id="R06658d106eb846cb" /><Relationship Type="http://schemas.openxmlformats.org/officeDocument/2006/relationships/slide" Target="/ppt/slides/slide5.xml" Id="Rf9b16f99f87b4564" /><Relationship Type="http://schemas.openxmlformats.org/officeDocument/2006/relationships/slide" Target="/ppt/slides/slide6.xml" Id="R7cc9d10d1cb24187" /><Relationship Type="http://schemas.openxmlformats.org/officeDocument/2006/relationships/slide" Target="/ppt/slides/slide7.xml" Id="Rf1f596be2638488d" /><Relationship Type="http://schemas.openxmlformats.org/officeDocument/2006/relationships/slide" Target="/ppt/slides/slide8.xml" Id="Rf5bc74d59e6a44b2" /><Relationship Type="http://schemas.openxmlformats.org/officeDocument/2006/relationships/slide" Target="/ppt/slides/slide9.xml" Id="R278401e58cea413e" /><Relationship Type="http://schemas.openxmlformats.org/officeDocument/2006/relationships/slide" Target="/ppt/slides/slide10.xml" Id="Re2294caf04a7483a" /><Relationship Type="http://schemas.openxmlformats.org/officeDocument/2006/relationships/slide" Target="/ppt/slides/slide11.xml" Id="R3858d5af449d421e" /><Relationship Type="http://schemas.openxmlformats.org/officeDocument/2006/relationships/slide" Target="/ppt/slides/slide12.xml" Id="R16bc6290c07c4cf1" /><Relationship Type="http://schemas.openxmlformats.org/officeDocument/2006/relationships/slide" Target="/ppt/slides/slide13.xml" Id="Ra81e42db8a0142c3" /><Relationship Type="http://schemas.openxmlformats.org/officeDocument/2006/relationships/slide" Target="/ppt/slides/slide14.xml" Id="R02f03b51d065402d" /><Relationship Type="http://schemas.openxmlformats.org/officeDocument/2006/relationships/slide" Target="/ppt/slides/slide15.xml" Id="Re009eda03ccc493a" /><Relationship Type="http://schemas.openxmlformats.org/officeDocument/2006/relationships/slide" Target="/ppt/slides/slide16.xml" Id="R25a2b52440d243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68057375f743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1a3ba379044973" /><Relationship Type="http://schemas.openxmlformats.org/officeDocument/2006/relationships/notesMaster" Target="/ppt/notesMasters/notesMaster1.xml" Id="R39371a1856a043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0665f2e43f4473" /><Relationship Type="http://schemas.openxmlformats.org/officeDocument/2006/relationships/notesMaster" Target="/ppt/notesMasters/notesMaster1.xml" Id="Rd36b11e2dd0847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3630cf548344b6" /><Relationship Type="http://schemas.openxmlformats.org/officeDocument/2006/relationships/notesMaster" Target="/ppt/notesMasters/notesMaster1.xml" Id="Re0f795c7779d41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4096a105c84d7a" /><Relationship Type="http://schemas.openxmlformats.org/officeDocument/2006/relationships/notesMaster" Target="/ppt/notesMasters/notesMaster1.xml" Id="R8703a83192f747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03cbc680d34334" /><Relationship Type="http://schemas.openxmlformats.org/officeDocument/2006/relationships/notesMaster" Target="/ppt/notesMasters/notesMaster1.xml" Id="R68916e98900a46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f3ae46c6144a97" /><Relationship Type="http://schemas.openxmlformats.org/officeDocument/2006/relationships/notesMaster" Target="/ppt/notesMasters/notesMaster1.xml" Id="R58be6c71643642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d2c4d1270b4471" /><Relationship Type="http://schemas.openxmlformats.org/officeDocument/2006/relationships/notesMaster" Target="/ppt/notesMasters/notesMaster1.xml" Id="Ra64329fd28514c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e17a90a65c43a2" /><Relationship Type="http://schemas.openxmlformats.org/officeDocument/2006/relationships/notesMaster" Target="/ppt/notesMasters/notesMaster1.xml" Id="Rf86b3ba456a64d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0071a26679453f" /><Relationship Type="http://schemas.openxmlformats.org/officeDocument/2006/relationships/notesMaster" Target="/ppt/notesMasters/notesMaster1.xml" Id="R32ab9d8a5a974f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eeeb00aa5c4c91" /><Relationship Type="http://schemas.openxmlformats.org/officeDocument/2006/relationships/notesMaster" Target="/ppt/notesMasters/notesMaster1.xml" Id="R381c31f6918d48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03a71266074f29" /><Relationship Type="http://schemas.openxmlformats.org/officeDocument/2006/relationships/notesMaster" Target="/ppt/notesMasters/notesMaster1.xml" Id="R74116ce5f49e45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ba19e44f6ba4bf4" /><Relationship Type="http://schemas.openxmlformats.org/officeDocument/2006/relationships/notesMaster" Target="/ppt/notesMasters/notesMaster1.xml" Id="Rf5620bb3ea17477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e6c8151704f4322" /><Relationship Type="http://schemas.openxmlformats.org/officeDocument/2006/relationships/notesMaster" Target="/ppt/notesMasters/notesMaster1.xml" Id="R76fd2ee41c2046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e5e1c791a2345c9" /><Relationship Type="http://schemas.openxmlformats.org/officeDocument/2006/relationships/notesMaster" Target="/ppt/notesMasters/notesMaster1.xml" Id="R01881beb2d284ac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c8a415d871d4b66" /><Relationship Type="http://schemas.openxmlformats.org/officeDocument/2006/relationships/notesMaster" Target="/ppt/notesMasters/notesMaster1.xml" Id="Rb33934b52a0a4f4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ea75fcabed4595" /><Relationship Type="http://schemas.openxmlformats.org/officeDocument/2006/relationships/notesMaster" Target="/ppt/notesMasters/notesMaster1.xml" Id="R30ba05fb8cc64d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el resultado: el piloto no es una colección de escáneres; es un flujo que bloquea, deja evidencia y puede gobernarse.</a:t>
            </a:r>
          </a:p>
          <a:p xmlns:a="http://schemas.openxmlformats.org/drawingml/2006/main">
            <a:r>
              <a:t>No presentar certificaciones. El foco es la prueba, los tiempos y los requisitos para el banco.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Respuesta directa a la duda: sí se hizo trabajo sustantivo en código, workflows, contenedor, Kubernetes y gobierno.</a:t>
            </a:r>
          </a:p>
          <a:p xmlns:a="http://schemas.openxmlformats.org/drawingml/2006/main">
            <a:r>
              <a:t>La presentación anterior no hacía visible la secuencia real de fallos y correcciones, y por eso se percibía menos contundente.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demora fue productiva: se cerraron errores de configuración y riesgos del artefacto. La última ejecución limpia ya no hereda ese costo de estabilización.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 #12 modificó 25 archivos y añadió controles específicos para banca y cadena de suministro.</a:t>
            </a:r>
          </a:p>
          <a:p xmlns:a="http://schemas.openxmlformats.org/drawingml/2006/main">
            <a:r>
              <a:t>PR: https://github.com/giscarUnir/automatizacion-seguridad/pull/12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Respuesta directa a la duda: sí se hizo trabajo sustantivo en código, workflows, contenedor, Kubernetes y gobierno.</a:t>
            </a:r>
          </a:p>
          <a:p xmlns:a="http://schemas.openxmlformats.org/drawingml/2006/main">
            <a:r>
              <a:t>La presentación anterior no hacía visible la secuencia real de fallos y correcciones, y por eso se percibía menos contundente.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Respuesta directa a la duda: sí se hizo trabajo sustantivo en código, workflows, contenedor, Kubernetes y gobierno.</a:t>
            </a:r>
          </a:p>
          <a:p xmlns:a="http://schemas.openxmlformats.org/drawingml/2006/main">
            <a:r>
              <a:t>La presentación anterior no hacía visible la secuencia real de fallos y correcciones, y por eso se percibía menos contundente.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Respuesta directa a la duda: sí se hizo trabajo sustantivo en código, workflows, contenedor, Kubernetes y gobierno.</a:t>
            </a:r>
          </a:p>
          <a:p xmlns:a="http://schemas.openxmlformats.org/drawingml/2006/main">
            <a:r>
              <a:t>La presentación anterior no hacía visible la secuencia real de fallos y correcciones, y por eso se percibía menos contundente.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Respuesta directa a la duda: sí se hizo trabajo sustantivo en código, workflows, contenedor, Kubernetes y gobierno.</a:t>
            </a:r>
          </a:p>
          <a:p xmlns:a="http://schemas.openxmlformats.org/drawingml/2006/main">
            <a:r>
              <a:t>La presentación anterior no hacía visible la secuencia real de fallos y correcciones, y por eso se percibía menos contundente.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Respuesta directa a la duda: sí se hizo trabajo sustantivo en código, workflows, contenedor, Kubernetes y gobierno.</a:t>
            </a:r>
          </a:p>
          <a:p xmlns:a="http://schemas.openxmlformats.org/drawingml/2006/main">
            <a:r>
              <a:t>La presentación anterior no hacía visible la secuencia real de fallos y correcciones, y por eso se percibía menos contundente.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Respuesta directa a la duda: sí se hizo trabajo sustantivo en código, workflows, contenedor, Kubernetes y gobierno.</a:t>
            </a:r>
          </a:p>
          <a:p xmlns:a="http://schemas.openxmlformats.org/drawingml/2006/main">
            <a:r>
              <a:t>La presentación anterior no hacía visible la secuencia real de fallos y correcciones, y por eso se percibía menos contundente.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Respuesta directa a la duda: sí se hizo trabajo sustantivo en código, workflows, contenedor, Kubernetes y gobierno.</a:t>
            </a:r>
          </a:p>
          <a:p xmlns:a="http://schemas.openxmlformats.org/drawingml/2006/main">
            <a:r>
              <a:t>La presentación anterior no hacía visible la secuencia real de fallos y correcciones, y por eso se percibía menos contundente.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demora fue productiva: se cerraron errores de configuración y riesgos del artefacto. La última ejecución limpia ya no hereda ese costo de estabilización.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Aclarar que la cobertura DevSecOps no reemplaza IAM, cifrado, WAF, SOC ni resiliencia de la aplicación bancaria.</a:t>
            </a:r>
          </a:p>
          <a:p xmlns:a="http://schemas.openxmlformats.org/drawingml/2006/main">
            <a:r>
              <a:t>Fuente oficial: https://docs.github.com/en/code-security/getting-started/github-security-features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demora fue productiva: se cerraron errores de configuración y riesgos del artefacto. La última ejecución limpia ya no hereda ese costo de estabilización.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demora fue productiva: se cerraron errores de configuración y riesgos del artefacto. La última ejecución limpia ya no hereda ese costo de estabilización.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pidiendo una decisión concreta: autorizar piloto, confirmar SKUs y nombrar dueños. El rollout masivo se decide después de medir dos servicios reales.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4032018a184fa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8e631983c8472e" /><Relationship Type="http://schemas.openxmlformats.org/officeDocument/2006/relationships/slideLayout" Target="/ppt/slideLayouts/slideLayout1.xml" Id="R9b6a9553b220434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6a9553b2204345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191c353ae64c2c" /><Relationship Type="http://schemas.openxmlformats.org/officeDocument/2006/relationships/notesSlide" Target="/ppt/notesSlides/notesSlide1.xml" Id="Re2ee099c29f244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89ef5f86b416f" /><Relationship Type="http://schemas.openxmlformats.org/officeDocument/2006/relationships/notesSlide" Target="/ppt/notesSlides/notesSlide2.xml" Id="Rf294753bf2ee4a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493e45bb3427e" /><Relationship Type="http://schemas.openxmlformats.org/officeDocument/2006/relationships/notesSlide" Target="/ppt/notesSlides/notesSlide3.xml" Id="R1a177a14cd1542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817e664fb42df" /><Relationship Type="http://schemas.openxmlformats.org/officeDocument/2006/relationships/notesSlide" Target="/ppt/notesSlides/notesSlide4.xml" Id="R51a8d2b7c9d34b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2b413af5e6437b" /><Relationship Type="http://schemas.openxmlformats.org/officeDocument/2006/relationships/notesSlide" Target="/ppt/notesSlides/notesSlide5.xml" Id="R1e63706be2754b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5f6b3062945f0" /><Relationship Type="http://schemas.openxmlformats.org/officeDocument/2006/relationships/notesSlide" Target="/ppt/notesSlides/notesSlide6.xml" Id="R4701f39239e046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d53d088094faa" /><Relationship Type="http://schemas.openxmlformats.org/officeDocument/2006/relationships/notesSlide" Target="/ppt/notesSlides/notesSlide7.xml" Id="R5543a358c1304c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0bc4eb334411b" /><Relationship Type="http://schemas.openxmlformats.org/officeDocument/2006/relationships/notesSlide" Target="/ppt/notesSlides/notesSlide8.xml" Id="R7be51ca06e2a47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3e5034ab274170" /><Relationship Type="http://schemas.openxmlformats.org/officeDocument/2006/relationships/notesSlide" Target="/ppt/notesSlides/notesSlide9.xml" Id="R2c3dd19cc6254b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71b646540486c" /><Relationship Type="http://schemas.openxmlformats.org/officeDocument/2006/relationships/notesSlide" Target="/ppt/notesSlides/notesSlide10.xml" Id="R1cadea7af77248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1d619768f401e" /><Relationship Type="http://schemas.openxmlformats.org/officeDocument/2006/relationships/notesSlide" Target="/ppt/notesSlides/notesSlide11.xml" Id="R693ee50add3c4e1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539309e494a70" /><Relationship Type="http://schemas.openxmlformats.org/officeDocument/2006/relationships/notesSlide" Target="/ppt/notesSlides/notesSlide12.xml" Id="Re3d42ebd3f1541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15fe79def4ca5" /><Relationship Type="http://schemas.openxmlformats.org/officeDocument/2006/relationships/notesSlide" Target="/ppt/notesSlides/notesSlide13.xml" Id="Ra0331cc994194fd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1eca93ab14beb" /><Relationship Type="http://schemas.openxmlformats.org/officeDocument/2006/relationships/notesSlide" Target="/ppt/notesSlides/notesSlide14.xml" Id="Rafea7008e574402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98e7546fe4f29" /><Relationship Type="http://schemas.openxmlformats.org/officeDocument/2006/relationships/notesSlide" Target="/ppt/notesSlides/notesSlide15.xml" Id="R42c150314576449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9d7dfd98c42a5" /><Relationship Type="http://schemas.openxmlformats.org/officeDocument/2006/relationships/notesSlide" Target="/ppt/notesSlides/notesSlide16.xml" Id="R5c8a60b5047641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A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E5D72D9-6452-4653-A6F9-D8352481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DCE8F5"/>
                </a:solidFill>
              </a:defRPr>
            </a:pPr>
            <a:r>
              <a:rPr sz="570">
                <a:solidFill>
                  <a:srgbClr val="DCE8F5"/>
                </a:solidFill>
              </a:rPr>
              <a:t>Seguridad de software · Propuesta para gerencia · 10/07/2026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652D199-C243-4947-88AC-B74BE9A0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DCE8F5"/>
                </a:solidFill>
              </a:defRPr>
            </a:pPr>
            <a:r>
              <a:rPr sz="620">
                <a:solidFill>
                  <a:srgbClr val="DCE8F5"/>
                </a:solidFill>
              </a:rPr>
              <a:t>1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B81CB7-3035-44CF-95DC-0CCEDDA3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8640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800" b="1">
                <a:solidFill>
                  <a:srgbClr val="19C7C3"/>
                </a:solidFill>
              </a:rPr>
              <a:t>INICIATIVA BANCARIA · DECISIÓN GERENCIAL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2BD457E-952F-4AA8-89BB-FC4514D0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960120"/>
            <a:ext cx="60350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FFFFFF"/>
                </a:solidFill>
              </a:defRPr>
            </a:pPr>
            <a:r>
              <a:rPr sz="3700" b="1">
                <a:solidFill>
                  <a:srgbClr val="FFFFFF"/>
                </a:solidFill>
              </a:rPr>
              <a:t>Seguridad de software</a:t>
            </a:r>
          </a:p>
          <a:p xmlns:a="http://schemas.openxmlformats.org/drawingml/2006/main">
            <a:pPr marL="0" indent="0" algn="l">
              <a:buNone/>
              <a:defRPr>
                <a:solidFill>
                  <a:srgbClr val="FFFFFF"/>
                </a:solidFill>
              </a:defRPr>
            </a:pPr>
            <a:r>
              <a:rPr sz="3700" b="1">
                <a:solidFill>
                  <a:srgbClr val="FFFFFF"/>
                </a:solidFill>
              </a:rPr>
              <a:t>de última generación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06BC1B5-3309-4156-93D2-C16418DF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670048"/>
            <a:ext cx="662940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DCE8F5"/>
                </a:solidFill>
              </a:defRPr>
            </a:pPr>
            <a:r>
              <a:rPr sz="1550">
                <a:solidFill>
                  <a:srgbClr val="DCE8F5"/>
                </a:solidFill>
              </a:rPr>
              <a:t>Siete capas de protección integradas al GitHub Enterprise que el banco ya utiliza.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C4194E3-D648-461D-A614-33FE314C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60120"/>
            <a:ext cx="3657600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DECISIÓN CLAVE</a:t>
            </a:r>
          </a:p>
          <a:p xmlns:a="http://schemas.openxmlformats.org/drawingml/2006/main">
            <a:pPr algn="l">
              <a:buNone/>
              <a:defRPr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  <a:latin typeface="Aptos"/>
                <a:ea typeface="Aptos"/>
                <a:cs typeface="Aptos"/>
              </a:rPr>
              <a:t>Adoptar sin reemplazar</a:t>
            </a:r>
          </a:p>
          <a:p xmlns:a="http://schemas.openxmlformats.org/drawingml/2006/main">
            <a:pPr algn="l">
              <a:buNone/>
              <a:defRPr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  <a:latin typeface="Aptos"/>
                <a:ea typeface="Aptos"/>
                <a:cs typeface="Aptos"/>
              </a:rPr>
              <a:t>la plataforma actual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60E23DD-B7DF-4E5D-8491-F56F04663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074920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7 capas</a:t>
            </a:r>
          </a:p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integradas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30B3651-2DA9-40CF-B2A6-119086C2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5074920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 plataforma</a:t>
            </a:r>
          </a:p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GitHub Enterprise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2599092-01DF-4CC9-80B6-25563F49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5074920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 caminos</a:t>
            </a:r>
          </a:p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según licencia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B00F443-ECA5-41D7-8775-6DAEE4A6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5074920"/>
            <a:ext cx="23317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2–5 min</a:t>
            </a:r>
          </a:p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objetivo inicial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7CC96EC-25A1-4A4F-95C8-CA1A6EEB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952" y="2002536"/>
            <a:ext cx="310896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>
                <a:solidFill>
                  <a:srgbClr val="DCE8F5"/>
                </a:solidFill>
              </a:defRPr>
            </a:pPr>
            <a:r>
              <a:rPr sz="1050" b="1">
                <a:solidFill>
                  <a:srgbClr val="DCE8F5"/>
                </a:solidFill>
                <a:latin typeface="Aptos"/>
                <a:ea typeface="Aptos"/>
                <a:cs typeface="Aptos"/>
              </a:rPr>
              <a:t>Protección equivalente, con o sin complementos avanzados</a:t>
            </a:r>
          </a:p>
        </p:txBody>
      </p:sp>
    </p:spTree>
    <p:extLst>
      <p:ext uri="{BB962C8B-B14F-4D97-AF65-F5344CB8AC3E}">
        <p14:creationId xmlns:p14="http://schemas.microsoft.com/office/powerpoint/2010/main" val="8548359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03CB770-7FE9-44E7-A2C2-62F49480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DECISIÓN ESTRATÉGICA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67959E8-DAD9-4344-9884-97034EA3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Sí: el banco puede adoptarlo sin reemplazar GitHub Enterprise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B4E15C8-0006-48B5-86BF-45DB3314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1180">
                <a:solidFill>
                  <a:srgbClr val="46566F"/>
                </a:solidFill>
              </a:rPr>
              <a:t>La plataforma actual sigue siendo el centro; la elección es el grado de consolidación nativa.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8665BD4-7BB5-4C7A-AB6E-912E2745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570">
                <a:solidFill>
                  <a:srgbClr val="46566F"/>
                </a:solidFill>
              </a:rPr>
              <a:t>Seguridad de software · Propuesta gerencial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D802E72-8F75-4C0F-BED6-BBC4F2E7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46566F"/>
                </a:solidFill>
              </a:defRPr>
            </a:pPr>
            <a:r>
              <a:rPr sz="620">
                <a:solidFill>
                  <a:srgbClr val="46566F"/>
                </a:solidFill>
              </a:rPr>
              <a:t>2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289DFC7-7DBB-43FD-9913-FC195EDB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20116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4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Base común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23F817F-BCB7-46F9-B021-8440A19C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29260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GitHub Enterprise</a:t>
            </a:r>
          </a:p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Repositorio, automatización, gobierno y evidencia.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9AD7D7E-AF10-48AF-95AC-FD8E2F40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55264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8C78BCE-EA76-4369-8193-BF18FB43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48840"/>
            <a:ext cx="1828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BF8"/>
          </a:solidFill>
          <a:ln xmlns:a="http://schemas.openxmlformats.org/drawingml/2006/main" w="10160">
            <a:solidFill>
              <a:srgbClr val="0E9F98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Camino nativo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873C061-9D82-4A7C-AEC0-4C8A25B7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43200"/>
            <a:ext cx="31546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E9F98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Si ya están contratados</a:t>
            </a:r>
          </a:p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Code Security + Secret Protection.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BB2634A-FDD9-4C33-8C54-29388B55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255264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DD3F573-CE0A-4780-8C92-8A40F85B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48840"/>
            <a:ext cx="1828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Camino abierto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ED8122D-81B4-4EDF-BB16-9ADEB6AD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743200"/>
            <a:ext cx="27432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Si no están contratados</a:t>
            </a:r>
          </a:p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Herramientas abiertas ya implementadas.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4DB648F-A9BD-430C-85F9-0C4BF95A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074920"/>
            <a:ext cx="923544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4"/>
          </a:solidFill>
          <a:ln xmlns:a="http://schemas.openxmlformats.org/drawingml/2006/main" w="10160">
            <a:solidFill>
              <a:srgbClr val="061A3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20" b="1">
                <a:solidFill>
                  <a:srgbClr val="FFFFFF"/>
                </a:solidFill>
              </a:rPr>
              <a:t>La cobertura se mantiene; solo cambia la tecnología de las capas 1, 2, 3 y 7.</a:t>
            </a:r>
          </a:p>
        </p:txBody>
      </p:sp>
    </p:spTree>
    <p:extLst>
      <p:ext uri="{BB962C8B-B14F-4D97-AF65-F5344CB8AC3E}">
        <p14:creationId xmlns:p14="http://schemas.microsoft.com/office/powerpoint/2010/main" val="11310122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BD4243A-6202-462C-AB15-0AB68FFA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VALOR PARA EL BANCO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06F101F-EBEA-4F90-B009-169BD148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La iniciativa protege operación, cumplimiento y reputación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67A4202-F06B-40D2-9C7E-43649A58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1180">
                <a:solidFill>
                  <a:srgbClr val="46566F"/>
                </a:solidFill>
              </a:rPr>
              <a:t>Convierte seguridad en una condición verificable de cada entrega, no en una revisión tardía.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E9F636B-FFC0-47A5-A4F3-9A829649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570">
                <a:solidFill>
                  <a:srgbClr val="46566F"/>
                </a:solidFill>
              </a:rPr>
              <a:t>Seguridad de software · Propuesta gerencial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F041331-0EA1-4F87-A7C5-0607FBEB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46566F"/>
                </a:solidFill>
              </a:defRPr>
            </a:pPr>
            <a:r>
              <a:rPr sz="620">
                <a:solidFill>
                  <a:srgbClr val="46566F"/>
                </a:solidFill>
              </a:rPr>
              <a:t>3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BA7BC9E-DF08-488A-B831-4B8F3AC4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680"/>
            <a:ext cx="21031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10160">
            <a:solidFill>
              <a:srgbClr val="14B86A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Menos exposición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8AD2847-AEAC-46AA-B063-D5C11894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06040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Incidentes evitables</a:t>
            </a:r>
          </a:p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Bloquea secretos y fallas antes de producción.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B379D1-62DD-4430-8142-F1C47F9C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92424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Superficie controlada</a:t>
            </a:r>
          </a:p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Revisa código, componentes, imagen e infraestructura.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25C7F7D-BF56-460E-9140-8BF07670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78808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Continuidad</a:t>
            </a:r>
          </a:p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Impide publicar un artefacto que no supera controles.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6C1320B-E228-4571-A467-E5E64F57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24688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4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Más control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BDD85D5-1C49-4A40-A843-CA9F8C82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606040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Decisión auditable</a:t>
            </a:r>
          </a:p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Cada aprobación deja evidencia.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FE185FA-72B5-4567-8509-2F3ED3D2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92424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Respuesta más rápida</a:t>
            </a:r>
          </a:p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Hallazgo con dueño, severidad y remediación.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3B9D65A-96C0-4A59-AD87-368CE1E8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178808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Gobierno escalable</a:t>
            </a:r>
          </a:p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La misma política se replica por repositorio.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3B4200E-7DBB-48B7-AD00-A37BBB1F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532120"/>
            <a:ext cx="96012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4"/>
          </a:solidFill>
          <a:ln xmlns:a="http://schemas.openxmlformats.org/drawingml/2006/main" w="10160">
            <a:solidFill>
              <a:srgbClr val="061A3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Regla de negocio: ningún cambio crítico avanza sin evidencia de seguridad.</a:t>
            </a:r>
          </a:p>
        </p:txBody>
      </p:sp>
    </p:spTree>
    <p:extLst>
      <p:ext uri="{BB962C8B-B14F-4D97-AF65-F5344CB8AC3E}">
        <p14:creationId xmlns:p14="http://schemas.microsoft.com/office/powerpoint/2010/main" val="12169262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A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845E5EF-13A0-4B36-936D-4A1EDD48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MODELO OPERATIVO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97B0274-1571-4447-9C16-F81CEED2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Siete capas, un solo control de entrega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389911-8559-4682-B388-F9917C35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DCE8F5"/>
                </a:solidFill>
              </a:defRPr>
            </a:pPr>
            <a:r>
              <a:rPr sz="1180">
                <a:solidFill>
                  <a:srgbClr val="DCE8F5"/>
                </a:solidFill>
              </a:rPr>
              <a:t>Cada cambio se valida desde el código hasta el artefacto final, dentro del proceso actual.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9AE6C50-3AE7-481A-A06F-115CBD90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DCE8F5"/>
                </a:solidFill>
              </a:defRPr>
            </a:pPr>
            <a:r>
              <a:rPr sz="570">
                <a:solidFill>
                  <a:srgbClr val="DCE8F5"/>
                </a:solidFill>
              </a:rPr>
              <a:t>Seguridad de software · Propuesta gerencial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33A7FCF-1FA0-408D-9E55-B2D98DB7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DCE8F5"/>
                </a:solidFill>
              </a:defRPr>
            </a:pPr>
            <a:r>
              <a:rPr sz="620">
                <a:solidFill>
                  <a:srgbClr val="DCE8F5"/>
                </a:solidFill>
              </a:rPr>
              <a:t>4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DF4B75F-7563-424B-AF18-4B65C654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3291840"/>
            <a:ext cx="5120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28CCE63-5395-4CC0-835F-6085EA52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34640"/>
            <a:ext cx="14813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Cambio solicitado</a:t>
            </a:r>
          </a:p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Código + secretos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788385C-2E45-4FC9-B7A3-4C486A607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128" y="3291840"/>
            <a:ext cx="5120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55E63A7-5C99-41D6-B616-0EBC816E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34640"/>
            <a:ext cx="14813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Componentes</a:t>
            </a:r>
          </a:p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Dependencias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6EFB4A3-FC34-4FBB-B030-14D7D303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3291840"/>
            <a:ext cx="5120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EE2EC86-C92E-4D6B-9C6A-F831563C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34640"/>
            <a:ext cx="14813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Entorno</a:t>
            </a:r>
          </a:p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Imagen + IaC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6DA4FC0-72FB-4E1C-BBE6-2EC6D615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3688" y="3291840"/>
            <a:ext cx="5120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F78F11F-3768-4961-A8D4-A7A226B8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2834640"/>
            <a:ext cx="14813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Aplicación activa</a:t>
            </a:r>
          </a:p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Validación dinámica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B9BF9DF-75DB-4FEA-935B-91CC9D09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2834640"/>
            <a:ext cx="1481328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FF9F1C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Evidencia final</a:t>
            </a:r>
          </a:p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SBOM + origen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01C0B21-E695-4CD5-AC5A-73ACA86E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72000"/>
            <a:ext cx="1024128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52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GitHub Enterprise coordina repositorio · automatización · aprobación · trazabilidad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70C3A38-25C4-40A5-8203-35143B4C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577840"/>
            <a:ext cx="9601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DCE8F5"/>
                </a:solidFill>
              </a:defRPr>
            </a:pPr>
            <a:r>
              <a:rPr sz="1350">
                <a:solidFill>
                  <a:srgbClr val="DCE8F5"/>
                </a:solidFill>
              </a:rPr>
              <a:t>La seguridad se integra al proceso existente; no exige reemplazar la plataforma.</a:t>
            </a:r>
          </a:p>
        </p:txBody>
      </p:sp>
    </p:spTree>
    <p:extLst>
      <p:ext uri="{BB962C8B-B14F-4D97-AF65-F5344CB8AC3E}">
        <p14:creationId xmlns:p14="http://schemas.microsoft.com/office/powerpoint/2010/main" val="7977837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03CB770-7FE9-44E7-A2C2-62F49480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CAPA 1 · SECRETOS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67959E8-DAD9-4344-9884-97034EA3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Bloquear credenciales antes de que salgan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B4E15C8-0006-48B5-86BF-45DB3314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1180">
                <a:solidFill>
                  <a:srgbClr val="46566F"/>
                </a:solidFill>
              </a:rPr>
              <a:t>Evita que una clave expuesta se convierta en acceso no autorizado.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8665BD4-7BB5-4C7A-AB6E-912E2745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570">
                <a:solidFill>
                  <a:srgbClr val="46566F"/>
                </a:solidFill>
              </a:rPr>
              <a:t>Seguridad de software · Propuesta gerencial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D802E72-8F75-4C0F-BED6-BBC4F2E7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46566F"/>
                </a:solidFill>
              </a:defRPr>
            </a:pPr>
            <a:r>
              <a:rPr sz="620">
                <a:solidFill>
                  <a:srgbClr val="46566F"/>
                </a:solidFill>
              </a:rPr>
              <a:t>5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289DFC7-7DBB-43FD-9913-FC195EDB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20116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4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protege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23F817F-BCB7-46F9-B021-8440A19C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29260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Contraseñas, tokens, llaves API y credenciales de servicios.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9AD7D7E-AF10-48AF-95AC-FD8E2F40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55264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8C78BCE-EA76-4369-8193-BF18FB43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48840"/>
            <a:ext cx="1828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BF8"/>
          </a:solidFill>
          <a:ln xmlns:a="http://schemas.openxmlformats.org/drawingml/2006/main" w="10160">
            <a:solidFill>
              <a:srgbClr val="0E9F98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Riesgo que reduce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873C061-9D82-4A7C-AEC0-4C8A25B7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43200"/>
            <a:ext cx="31546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E9F98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Fraude, fuga de datos y acceso a sistemas internos o terceros.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BB2634A-FDD9-4C33-8C54-29388B55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255264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DD3F573-CE0A-4780-8C92-8A40F85B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48840"/>
            <a:ext cx="1828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obtiene el banco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ED8122D-81B4-4EDF-BB16-9ADEB6AD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743200"/>
            <a:ext cx="27432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Bloqueo preventivo y alerta centralizada antes de integrar el cambio.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4DB648F-A9BD-430C-85F9-0C4BF95A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074920"/>
            <a:ext cx="923544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4"/>
          </a:solidFill>
          <a:ln xmlns:a="http://schemas.openxmlformats.org/drawingml/2006/main" w="10160">
            <a:solidFill>
              <a:srgbClr val="061A3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20" b="1">
                <a:solidFill>
                  <a:srgbClr val="FFFFFF"/>
                </a:solidFill>
              </a:rPr>
              <a:t>Tipo: preventiva + detectiva  |  Nativo: Secret Protection  |  Alternativa: GitLeaks</a:t>
            </a:r>
          </a:p>
        </p:txBody>
      </p:sp>
    </p:spTree>
    <p:extLst>
      <p:ext uri="{BB962C8B-B14F-4D97-AF65-F5344CB8AC3E}">
        <p14:creationId xmlns:p14="http://schemas.microsoft.com/office/powerpoint/2010/main" val="11310122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03CB770-7FE9-44E7-A2C2-62F49480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CAPA 2 · CÓDIGO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67959E8-DAD9-4344-9884-97034EA3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Descubrir fallas antes de producir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B4E15C8-0006-48B5-86BF-45DB3314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1180">
                <a:solidFill>
                  <a:srgbClr val="46566F"/>
                </a:solidFill>
              </a:rPr>
              <a:t>Revisa la lógica del software mientras todavía es económico corregirla.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8665BD4-7BB5-4C7A-AB6E-912E2745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570">
                <a:solidFill>
                  <a:srgbClr val="46566F"/>
                </a:solidFill>
              </a:rPr>
              <a:t>Seguridad de software · Propuesta gerencial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D802E72-8F75-4C0F-BED6-BBC4F2E7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46566F"/>
                </a:solidFill>
              </a:defRPr>
            </a:pPr>
            <a:r>
              <a:rPr sz="620">
                <a:solidFill>
                  <a:srgbClr val="46566F"/>
                </a:solidFill>
              </a:rPr>
              <a:t>6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289DFC7-7DBB-43FD-9913-FC195EDB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20116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4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protege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23F817F-BCB7-46F9-B021-8440A19C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29260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Código fuente, validaciones y lógica de negocio de aplicaciones y APIs.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9AD7D7E-AF10-48AF-95AC-FD8E2F40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55264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8C78BCE-EA76-4369-8193-BF18FB43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48840"/>
            <a:ext cx="1828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BF8"/>
          </a:solidFill>
          <a:ln xmlns:a="http://schemas.openxmlformats.org/drawingml/2006/main" w="10160">
            <a:solidFill>
              <a:srgbClr val="0E9F98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Riesgo que reduce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873C061-9D82-4A7C-AEC0-4C8A25B7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43200"/>
            <a:ext cx="31546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E9F98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Inyección, validaciones inseguras y rutas explotables por un atacante.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BB2634A-FDD9-4C33-8C54-29388B55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255264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DD3F573-CE0A-4780-8C92-8A40F85B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48840"/>
            <a:ext cx="1828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obtiene el banco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ED8122D-81B4-4EDF-BB16-9ADEB6AD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743200"/>
            <a:ext cx="27432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Hallazgo temprano, prioridad por severidad y corrección antes del despliegue.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4DB648F-A9BD-430C-85F9-0C4BF95A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074920"/>
            <a:ext cx="923544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4"/>
          </a:solidFill>
          <a:ln xmlns:a="http://schemas.openxmlformats.org/drawingml/2006/main" w="10160">
            <a:solidFill>
              <a:srgbClr val="061A3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20" b="1">
                <a:solidFill>
                  <a:srgbClr val="FFFFFF"/>
                </a:solidFill>
              </a:rPr>
              <a:t>Tipo: seguridad de aplicaciones  |  Nativo: CodeQL  |  Alternativa: Semgrep</a:t>
            </a:r>
          </a:p>
        </p:txBody>
      </p:sp>
    </p:spTree>
    <p:extLst>
      <p:ext uri="{BB962C8B-B14F-4D97-AF65-F5344CB8AC3E}">
        <p14:creationId xmlns:p14="http://schemas.microsoft.com/office/powerpoint/2010/main" val="11310122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03CB770-7FE9-44E7-A2C2-62F49480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CAPA 3 · DEPENDENCIAS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67959E8-DAD9-4344-9884-97034EA3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Controlar el software de terceros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B4E15C8-0006-48B5-86BF-45DB3314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1180">
                <a:solidFill>
                  <a:srgbClr val="46566F"/>
                </a:solidFill>
              </a:rPr>
              <a:t>El banco conoce qué componentes incorpora y si arrastran vulnerabilidades conocidas.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8665BD4-7BB5-4C7A-AB6E-912E2745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570">
                <a:solidFill>
                  <a:srgbClr val="46566F"/>
                </a:solidFill>
              </a:rPr>
              <a:t>Seguridad de software · Propuesta gerencial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D802E72-8F75-4C0F-BED6-BBC4F2E7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46566F"/>
                </a:solidFill>
              </a:defRPr>
            </a:pPr>
            <a:r>
              <a:rPr sz="620">
                <a:solidFill>
                  <a:srgbClr val="46566F"/>
                </a:solidFill>
              </a:rPr>
              <a:t>7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289DFC7-7DBB-43FD-9913-FC195EDB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20116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4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protege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23F817F-BCB7-46F9-B021-8440A19C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29260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Librerías, paquetes y componentes externos usados por la aplicación.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9AD7D7E-AF10-48AF-95AC-FD8E2F40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55264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8C78BCE-EA76-4369-8193-BF18FB43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48840"/>
            <a:ext cx="1828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BF8"/>
          </a:solidFill>
          <a:ln xmlns:a="http://schemas.openxmlformats.org/drawingml/2006/main" w="10160">
            <a:solidFill>
              <a:srgbClr val="0E9F98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Riesgo que reduce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873C061-9D82-4A7C-AEC0-4C8A25B7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43200"/>
            <a:ext cx="31546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E9F98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Vulnerabilidades conocidas, componentes obsoletos o cambios maliciosos.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BB2634A-FDD9-4C33-8C54-29388B55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255264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DD3F573-CE0A-4780-8C92-8A40F85B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48840"/>
            <a:ext cx="1828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obtiene el banco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ED8122D-81B4-4EDF-BB16-9ADEB6AD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743200"/>
            <a:ext cx="27432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Inventario, bloqueo de cambios riesgosos y ruta de actualización.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4DB648F-A9BD-430C-85F9-0C4BF95A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074920"/>
            <a:ext cx="923544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4"/>
          </a:solidFill>
          <a:ln xmlns:a="http://schemas.openxmlformats.org/drawingml/2006/main" w="10160">
            <a:solidFill>
              <a:srgbClr val="061A3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20" b="1">
                <a:solidFill>
                  <a:srgbClr val="FFFFFF"/>
                </a:solidFill>
              </a:rPr>
              <a:t>Tipo: cadena de suministro  |  Nativo: Dependency Review  |  Alternativa: Trivy</a:t>
            </a:r>
          </a:p>
        </p:txBody>
      </p:sp>
    </p:spTree>
    <p:extLst>
      <p:ext uri="{BB962C8B-B14F-4D97-AF65-F5344CB8AC3E}">
        <p14:creationId xmlns:p14="http://schemas.microsoft.com/office/powerpoint/2010/main" val="11310122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03CB770-7FE9-44E7-A2C2-62F49480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CAPA 4 · CONTENEDOR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67959E8-DAD9-4344-9884-97034EA3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Asegurar lo que realmente llega a producción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B4E15C8-0006-48B5-86BF-45DB3314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1180">
                <a:solidFill>
                  <a:srgbClr val="46566F"/>
                </a:solidFill>
              </a:rPr>
              <a:t>Valida la imagen ejecutable, no solo el código que la originó.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8665BD4-7BB5-4C7A-AB6E-912E2745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570">
                <a:solidFill>
                  <a:srgbClr val="46566F"/>
                </a:solidFill>
              </a:rPr>
              <a:t>Seguridad de software · Propuesta gerencial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D802E72-8F75-4C0F-BED6-BBC4F2E7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46566F"/>
                </a:solidFill>
              </a:defRPr>
            </a:pPr>
            <a:r>
              <a:rPr sz="620">
                <a:solidFill>
                  <a:srgbClr val="46566F"/>
                </a:solidFill>
              </a:rPr>
              <a:t>8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289DFC7-7DBB-43FD-9913-FC195EDB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20116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4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protege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23F817F-BCB7-46F9-B021-8440A19C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29260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Imagen desplegable, paquetes del sistema operativo y configuración de ejecución.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9AD7D7E-AF10-48AF-95AC-FD8E2F40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55264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8C78BCE-EA76-4369-8193-BF18FB43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48840"/>
            <a:ext cx="1828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BF8"/>
          </a:solidFill>
          <a:ln xmlns:a="http://schemas.openxmlformats.org/drawingml/2006/main" w="10160">
            <a:solidFill>
              <a:srgbClr val="0E9F98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Riesgo que reduce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873C061-9D82-4A7C-AEC0-4C8A25B7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43200"/>
            <a:ext cx="31546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E9F98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Componentes vulnerables, ejecución como root y exposición innecesaria.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BB2634A-FDD9-4C33-8C54-29388B55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255264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DD3F573-CE0A-4780-8C92-8A40F85B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48840"/>
            <a:ext cx="1828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obtiene el banco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ED8122D-81B4-4EDF-BB16-9ADEB6AD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743200"/>
            <a:ext cx="27432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Solo se publica una imagen identificada y aprobada por política.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4DB648F-A9BD-430C-85F9-0C4BF95A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074920"/>
            <a:ext cx="923544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4"/>
          </a:solidFill>
          <a:ln xmlns:a="http://schemas.openxmlformats.org/drawingml/2006/main" w="10160">
            <a:solidFill>
              <a:srgbClr val="061A3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20" b="1">
                <a:solidFill>
                  <a:srgbClr val="FFFFFF"/>
                </a:solidFill>
              </a:rPr>
              <a:t>Tipo: seguridad de cargas de trabajo  |  Tecnología: Trivy  |  No cambia entre caminos</a:t>
            </a:r>
          </a:p>
        </p:txBody>
      </p:sp>
    </p:spTree>
    <p:extLst>
      <p:ext uri="{BB962C8B-B14F-4D97-AF65-F5344CB8AC3E}">
        <p14:creationId xmlns:p14="http://schemas.microsoft.com/office/powerpoint/2010/main" val="11310122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03CB770-7FE9-44E7-A2C2-62F49480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CAPA 5 · INFRAESTRUCTURA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67959E8-DAD9-4344-9884-97034EA3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Prevenir configuraciones riesgosas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B4E15C8-0006-48B5-86BF-45DB3314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1180">
                <a:solidFill>
                  <a:srgbClr val="46566F"/>
                </a:solidFill>
              </a:rPr>
              <a:t>Detecta exposición y privilegios excesivos antes de crear infraestructura o Kubernetes.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8665BD4-7BB5-4C7A-AB6E-912E2745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570">
                <a:solidFill>
                  <a:srgbClr val="46566F"/>
                </a:solidFill>
              </a:rPr>
              <a:t>Seguridad de software · Propuesta gerencial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D802E72-8F75-4C0F-BED6-BBC4F2E7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46566F"/>
                </a:solidFill>
              </a:defRPr>
            </a:pPr>
            <a:r>
              <a:rPr sz="620">
                <a:solidFill>
                  <a:srgbClr val="46566F"/>
                </a:solidFill>
              </a:rPr>
              <a:t>9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289DFC7-7DBB-43FD-9913-FC195EDB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20116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4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protege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23F817F-BCB7-46F9-B021-8440A19C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29260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Definiciones de infraestructura, permisos, redes y manifiestos Kubernetes.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9AD7D7E-AF10-48AF-95AC-FD8E2F40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55264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8C78BCE-EA76-4369-8193-BF18FB43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48840"/>
            <a:ext cx="1828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BF8"/>
          </a:solidFill>
          <a:ln xmlns:a="http://schemas.openxmlformats.org/drawingml/2006/main" w="10160">
            <a:solidFill>
              <a:srgbClr val="0E9F98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Riesgo que reduce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873C061-9D82-4A7C-AEC0-4C8A25B7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43200"/>
            <a:ext cx="31546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E9F98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Servicios expuestos, permisos excesivos y ausencia de controles mínimos.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BB2634A-FDD9-4C33-8C54-29388B55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255264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DD3F573-CE0A-4780-8C92-8A40F85B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48840"/>
            <a:ext cx="1828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obtiene el banco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ED8122D-81B4-4EDF-BB16-9ADEB6AD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743200"/>
            <a:ext cx="27432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Configuración corregida antes del despliegue y evidencia de política.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4DB648F-A9BD-430C-85F9-0C4BF95A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074920"/>
            <a:ext cx="923544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4"/>
          </a:solidFill>
          <a:ln xmlns:a="http://schemas.openxmlformats.org/drawingml/2006/main" w="10160">
            <a:solidFill>
              <a:srgbClr val="061A3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20" b="1">
                <a:solidFill>
                  <a:srgbClr val="FFFFFF"/>
                </a:solidFill>
              </a:rPr>
              <a:t>Tipo: seguridad de configuración y nube  |  Tecnología: Checkov  |  No cambia</a:t>
            </a:r>
          </a:p>
        </p:txBody>
      </p:sp>
    </p:spTree>
    <p:extLst>
      <p:ext uri="{BB962C8B-B14F-4D97-AF65-F5344CB8AC3E}">
        <p14:creationId xmlns:p14="http://schemas.microsoft.com/office/powerpoint/2010/main" val="11310122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03CB770-7FE9-44E7-A2C2-62F49480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CAPA 6 · APLICACIÓN ACTIVA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67959E8-DAD9-4344-9884-97034EA3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Validar como la ve un atacante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B4E15C8-0006-48B5-86BF-45DB3314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1180">
                <a:solidFill>
                  <a:srgbClr val="46566F"/>
                </a:solidFill>
              </a:rPr>
              <a:t>Comprueba el comportamiento de la aplicación y sus APIs mientras están ejecutándose.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8665BD4-7BB5-4C7A-AB6E-912E2745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570">
                <a:solidFill>
                  <a:srgbClr val="46566F"/>
                </a:solidFill>
              </a:rPr>
              <a:t>Seguridad de software · Propuesta gerencial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D802E72-8F75-4C0F-BED6-BBC4F2E7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46566F"/>
                </a:solidFill>
              </a:defRPr>
            </a:pPr>
            <a:r>
              <a:rPr sz="620">
                <a:solidFill>
                  <a:srgbClr val="46566F"/>
                </a:solidFill>
              </a:rPr>
              <a:t>10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289DFC7-7DBB-43FD-9913-FC195EDB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20116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4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protege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23F817F-BCB7-46F9-B021-8440A19C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29260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Aplicación web, API, cabeceras, sesiones y puntos de entrada visibles.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9AD7D7E-AF10-48AF-95AC-FD8E2F40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55264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8C78BCE-EA76-4369-8193-BF18FB43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48840"/>
            <a:ext cx="1828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BF8"/>
          </a:solidFill>
          <a:ln xmlns:a="http://schemas.openxmlformats.org/drawingml/2006/main" w="10160">
            <a:solidFill>
              <a:srgbClr val="0E9F98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Riesgo que reduce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873C061-9D82-4A7C-AEC0-4C8A25B7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43200"/>
            <a:ext cx="31546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E9F98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Debilidades HTTP y fallas que solo aparecen con la aplicación activa.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BB2634A-FDD9-4C33-8C54-29388B55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255264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DD3F573-CE0A-4780-8C92-8A40F85B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48840"/>
            <a:ext cx="1828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obtiene el banco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ED8122D-81B4-4EDF-BB16-9ADEB6AD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743200"/>
            <a:ext cx="27432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Validación independiente antes de liberar y evidencia de la prueba.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4DB648F-A9BD-430C-85F9-0C4BF95A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074920"/>
            <a:ext cx="923544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4"/>
          </a:solidFill>
          <a:ln xmlns:a="http://schemas.openxmlformats.org/drawingml/2006/main" w="10160">
            <a:solidFill>
              <a:srgbClr val="061A3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20" b="1">
                <a:solidFill>
                  <a:srgbClr val="FFFFFF"/>
                </a:solidFill>
              </a:rPr>
              <a:t>Tipo: seguridad dinámica de aplicaciones  |  Tecnología: OWASP ZAP  |  No cambia</a:t>
            </a:r>
          </a:p>
        </p:txBody>
      </p:sp>
    </p:spTree>
    <p:extLst>
      <p:ext uri="{BB962C8B-B14F-4D97-AF65-F5344CB8AC3E}">
        <p14:creationId xmlns:p14="http://schemas.microsoft.com/office/powerpoint/2010/main" val="11310122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03CB770-7FE9-44E7-A2C2-62F49480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CAPA 7 · CADENA DE SUMINISTRO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67959E8-DAD9-4344-9884-97034EA3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Demostrar qué se construyó y de dónde viene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B4E15C8-0006-48B5-86BF-45DB3314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1180">
                <a:solidFill>
                  <a:srgbClr val="46566F"/>
                </a:solidFill>
              </a:rPr>
              <a:t>Aporta trazabilidad para responder quién produjo el artefacto y qué contiene.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8665BD4-7BB5-4C7A-AB6E-912E2745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570">
                <a:solidFill>
                  <a:srgbClr val="46566F"/>
                </a:solidFill>
              </a:rPr>
              <a:t>Seguridad de software · Propuesta gerencial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D802E72-8F75-4C0F-BED6-BBC4F2E7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46566F"/>
                </a:solidFill>
              </a:defRPr>
            </a:pPr>
            <a:r>
              <a:rPr sz="620">
                <a:solidFill>
                  <a:srgbClr val="46566F"/>
                </a:solidFill>
              </a:rPr>
              <a:t>11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289DFC7-7DBB-43FD-9913-FC195EDB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20116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4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protege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23F817F-BCB7-46F9-B021-8440A19C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29260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Artefacto final, inventario de componentes, origen y proceso de construcción.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9AD7D7E-AF10-48AF-95AC-FD8E2F40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55264"/>
            <a:ext cx="10058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8C78BCE-EA76-4369-8193-BF18FB43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48840"/>
            <a:ext cx="1828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BF8"/>
          </a:solidFill>
          <a:ln xmlns:a="http://schemas.openxmlformats.org/drawingml/2006/main" w="10160">
            <a:solidFill>
              <a:srgbClr val="0E9F98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Riesgo que reduce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873C061-9D82-4A7C-AEC0-4C8A25B7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43200"/>
            <a:ext cx="315468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0E9F98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Manipulación, componentes desconocidos y builds sin trazabilidad.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DBB2634A-FDD9-4C33-8C54-29388B55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255264"/>
            <a:ext cx="868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DD3F573-CE0A-4780-8C92-8A40F85B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48840"/>
            <a:ext cx="1828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Qué obtiene el banco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ED8122D-81B4-4EDF-BB16-9ADEB6AD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743200"/>
            <a:ext cx="2743200" cy="1097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500" b="1">
                <a:solidFill>
                  <a:srgbClr val="10233F"/>
                </a:solidFill>
              </a:rPr>
              <a:t>SBOM, procedencia verificable y evidencia útil para auditoría e incidentes.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4DB648F-A9BD-430C-85F9-0C4BF95A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074920"/>
            <a:ext cx="923544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4"/>
          </a:solidFill>
          <a:ln xmlns:a="http://schemas.openxmlformats.org/drawingml/2006/main" w="10160">
            <a:solidFill>
              <a:srgbClr val="061A3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20" b="1">
                <a:solidFill>
                  <a:srgbClr val="FFFFFF"/>
                </a:solidFill>
              </a:rPr>
              <a:t>Tipo: integridad + trazabilidad  |  Nativo: Attestations  |  Alternativa: Syft + Cosign</a:t>
            </a:r>
          </a:p>
        </p:txBody>
      </p:sp>
    </p:spTree>
    <p:extLst>
      <p:ext uri="{BB962C8B-B14F-4D97-AF65-F5344CB8AC3E}">
        <p14:creationId xmlns:p14="http://schemas.microsoft.com/office/powerpoint/2010/main" val="11310122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BD4243A-6202-462C-AB15-0AB68FFA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LICENCIAS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06F101F-EBEA-4F90-B009-169BD148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819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GitHub Enterprise es la base; los productos avanzados se confirman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67A4202-F06B-40D2-9C7E-43649A58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1180">
                <a:solidFill>
                  <a:srgbClr val="46566F"/>
                </a:solidFill>
              </a:rPr>
              <a:t>La iniciativa puede comenzar hoy con herramientas abiertas y consolidarse nativamente después.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E9F636B-FFC0-47A5-A4F3-9A829649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570">
                <a:solidFill>
                  <a:srgbClr val="46566F"/>
                </a:solidFill>
              </a:rPr>
              <a:t>Fuentes: GitHub Docs · Product billing y GitHub security features · consulta 10/07/2026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F041331-0EA1-4F87-A7C5-0607FBEB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46566F"/>
                </a:solidFill>
              </a:defRPr>
            </a:pPr>
            <a:r>
              <a:rPr sz="620">
                <a:solidFill>
                  <a:srgbClr val="46566F"/>
                </a:solidFill>
              </a:rPr>
              <a:t>12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BA7BC9E-DF08-488A-B831-4B8F3AC4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680"/>
            <a:ext cx="21031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10160">
            <a:solidFill>
              <a:srgbClr val="14B86A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Puede iniciar ahora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8AD2847-AEAC-46AA-B063-D5C11894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06040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GitHub Enterprise actual</a:t>
            </a:r>
          </a:p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Repositorio, Actions, reglas y gobierno.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B379D1-62DD-4430-8142-F1C47F9C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92424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Herramientas abiertas</a:t>
            </a:r>
          </a:p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GitLeaks, Semgrep, Trivy, Checkov y ZAP.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25C7F7D-BF56-460E-9140-8BF07670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78808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Capas estables</a:t>
            </a:r>
          </a:p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Contenedor, infraestructura y DAST no cambian.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6C1320B-E228-4571-A467-E5E64F57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24688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4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Para máxima consolidación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BDD85D5-1C49-4A40-A843-CA9F8C82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606040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GitHub Secret Protection</a:t>
            </a:r>
          </a:p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Secret scanning y push protection en privados.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FE185FA-72B5-4567-8509-2F3ED3D2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92424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GitHub Code Security</a:t>
            </a:r>
          </a:p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CodeQL y Dependency Review en privados.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3B9D65A-96C0-4A59-AD87-368CE1E8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178808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Confirmar contrato</a:t>
            </a:r>
          </a:p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Cloud o Server, versión, committers y attestations.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3B4200E-7DBB-48B7-AD00-A37BBB1F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532120"/>
            <a:ext cx="96012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4"/>
          </a:solidFill>
          <a:ln xmlns:a="http://schemas.openxmlformats.org/drawingml/2006/main" w="10160">
            <a:solidFill>
              <a:srgbClr val="061A3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Enterprise basta para iniciar con herramientas abiertas; el camino 100% nativo exige validar productos.</a:t>
            </a:r>
          </a:p>
        </p:txBody>
      </p:sp>
    </p:spTree>
    <p:extLst>
      <p:ext uri="{BB962C8B-B14F-4D97-AF65-F5344CB8AC3E}">
        <p14:creationId xmlns:p14="http://schemas.microsoft.com/office/powerpoint/2010/main" val="12169262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93E58FA-F33F-4372-AA9F-32382BF7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DOS CAMINOS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4E1CFEF-5734-48D7-BE88-3BE8CF76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Dos caminos, la misma cobertura objetivo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EC8510F-E883-4E9E-82DF-456C6B0A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1180">
                <a:solidFill>
                  <a:srgbClr val="46566F"/>
                </a:solidFill>
              </a:rPr>
              <a:t>Lectura: capa, camino nativo, camino abierto e impacto. Solo las capas 1, 2, 3 y 7 cambian.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B8292A1-1476-4D75-8F47-1F3A4E45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570">
                <a:solidFill>
                  <a:srgbClr val="46566F"/>
                </a:solidFill>
              </a:rPr>
              <a:t>GitHub Docs · *Attestations privadas: Enterprise Cloud; validar Server y versión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60F9D5D-8644-46E5-A3F7-505C7BA5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46566F"/>
                </a:solidFill>
              </a:defRPr>
            </a:pPr>
            <a:r>
              <a:rPr sz="620">
                <a:solidFill>
                  <a:srgbClr val="46566F"/>
                </a:solidFill>
              </a:rPr>
              <a:t>13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AF4ADCB-9602-4DC0-A480-143EDC2D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965960"/>
            <a:ext cx="502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81E0F71-9189-4597-A9A8-4B89D872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198424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1150" b="1">
                <a:solidFill>
                  <a:srgbClr val="10233F"/>
                </a:solidFill>
              </a:rPr>
              <a:t>Secretos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80E691B-0C05-4F53-B176-AB220E5A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1984248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Secret Protection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DC9EB3C-CB41-46E6-B37F-16FC6A16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1965960"/>
            <a:ext cx="24688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GitLeaks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D20D5BD-7E60-4CA4-B6CD-9C79A285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1965960"/>
            <a:ext cx="3520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Cambia: menos nativo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6FE9C98-D523-46B0-B8E3-D28C9C90A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32888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1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BB437CC-B5E1-4C26-8A7F-193A2787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33472"/>
            <a:ext cx="502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3FF2"/>
          </a:solidFill>
          <a:ln xmlns:a="http://schemas.openxmlformats.org/drawingml/2006/main" w="10160">
            <a:solidFill>
              <a:srgbClr val="7B3FF2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2BAFCD9-6690-4E8D-B267-343477CE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265176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1150" b="1">
                <a:solidFill>
                  <a:srgbClr val="10233F"/>
                </a:solidFill>
              </a:rPr>
              <a:t>Código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F98AADA-4A20-4B02-81CC-1D591A6D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2651760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CodeQL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A255B2FC-5DDC-4FF2-98F4-39DA05B7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2633472"/>
            <a:ext cx="24688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Semgrep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5AA8482-3E31-4B8B-99A2-80B4540F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2633472"/>
            <a:ext cx="3520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Cambia: menor unificación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90789811-792F-4E27-99A6-A3D0C878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00400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1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0B455F0-C06A-49D1-AD69-5596DC96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00984"/>
            <a:ext cx="502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10160">
            <a:solidFill>
              <a:srgbClr val="FF9F1C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2D438C3-346B-4074-ADE2-D8A91C14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3319272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1150" b="1">
                <a:solidFill>
                  <a:srgbClr val="10233F"/>
                </a:solidFill>
              </a:rPr>
              <a:t>Dependencias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A0D9610-9B0D-4D2A-AEA2-3D481ADC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3319272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Dependency Review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34D4D23-FE4F-47F8-9E5D-352E89930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3300984"/>
            <a:ext cx="24688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Trivy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43D5667-AC85-49D1-86C6-4E927074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3300984"/>
            <a:ext cx="3520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Cambia: menos contexto PR</a:t>
            </a:r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23BD73C7-F261-4952-92DE-F749B811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67912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1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FD57076-AF08-4411-989A-4CB88159A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68496"/>
            <a:ext cx="502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4C6"/>
          </a:solidFill>
          <a:ln xmlns:a="http://schemas.openxmlformats.org/drawingml/2006/main" w="10160">
            <a:solidFill>
              <a:srgbClr val="2454C6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5A144CA-82EB-44E4-8644-B27644B6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3986784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1150" b="1">
                <a:solidFill>
                  <a:srgbClr val="10233F"/>
                </a:solidFill>
              </a:rPr>
              <a:t>Contenedor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882C4DD-DF14-4094-ACA8-426F5F45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3986784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Trivy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D4326C7-2F35-47E6-8FDC-0155297A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3968496"/>
            <a:ext cx="24688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Igual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253A894-CDE3-4B73-944A-4B3EBAFD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3968496"/>
            <a:ext cx="3520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No cambia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3649944-CDC8-460A-9745-62A9CA88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1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BF14E21-4696-45E2-AE3C-54E0972E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636008"/>
            <a:ext cx="502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8"/>
          </a:solidFill>
          <a:ln xmlns:a="http://schemas.openxmlformats.org/drawingml/2006/main" w="10160">
            <a:solidFill>
              <a:srgbClr val="0E9F98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AE000A6-6632-44E8-B6F6-AAB7CDC7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4654296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1150" b="1">
                <a:solidFill>
                  <a:srgbClr val="10233F"/>
                </a:solidFill>
              </a:rPr>
              <a:t>IaC / K8s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3B16F45-0493-47AA-B883-A9F6C04D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4654296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Checkov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F514D1D2-9F6E-484E-A9CC-2377EC2C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4636008"/>
            <a:ext cx="24688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Igual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9B5965F1-20FE-458F-8D48-DC2DA9E5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4636008"/>
            <a:ext cx="3520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No cambia</a:t>
            </a:r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73301262-37A1-4527-9C04-2A84B4E1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02936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1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D86F019-CFDC-46CF-8943-2BCF1D68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03520"/>
            <a:ext cx="502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76F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8669D72C-DCC1-4AB7-8DD4-94FE94FE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53218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1150" b="1">
                <a:solidFill>
                  <a:srgbClr val="10233F"/>
                </a:solidFill>
              </a:rPr>
              <a:t>DAST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4DB68BCC-770E-40B0-B8D8-A0DFE6BA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5321808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OWASP ZAP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29E92E8A-D009-4B32-B5C1-4B2EBE27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5303520"/>
            <a:ext cx="24688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Igual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706C479B-4DE9-4EA0-90F9-B6566E81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5303520"/>
            <a:ext cx="3520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No cambia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63E23E5C-EFDB-44AB-91BE-8B08D7D5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870448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1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9C6BAF5A-7CF1-44A9-94CA-F1F1A349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502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6A"/>
          </a:solidFill>
          <a:ln xmlns:a="http://schemas.openxmlformats.org/drawingml/2006/main" w="10160">
            <a:solidFill>
              <a:srgbClr val="14B86A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714EC773-BC76-45D9-8185-B54AD910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598932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1150" b="1">
                <a:solidFill>
                  <a:srgbClr val="10233F"/>
                </a:solidFill>
              </a:rPr>
              <a:t>Cadena suministro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0B9F55B8-5A63-40C4-9E97-CB8362CE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5989320"/>
            <a:ext cx="19202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Artifact Attestations</a:t>
            </a:r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C9301743-021C-4F7B-9679-153C0C95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5971032"/>
            <a:ext cx="246888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Syft + Cosign</a:t>
            </a:r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6ED378CA-CF10-44CC-82C9-AC2E6069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5971032"/>
            <a:ext cx="35204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840">
                <a:solidFill>
                  <a:srgbClr val="10233F"/>
                </a:solidFill>
              </a:rPr>
              <a:t>Cambia: más integración</a:t>
            </a:r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B6422C27-9903-4AA8-A8F1-47F513689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37960"/>
            <a:ext cx="110642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D8E1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5149815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BD4243A-6202-462C-AB15-0AB68FFA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TIEMPOS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06F101F-EBEA-4F90-B009-169BD148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El flujo tarda minutos; la sesión se alargó por iterar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67A4202-F06B-40D2-9C7E-43649A58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1180">
                <a:solidFill>
                  <a:srgbClr val="46566F"/>
                </a:solidFill>
              </a:rPr>
              <a:t>Una ejecución automática no equivale al tiempo de construir, corregir y volver a demostrar el flujo.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E9F636B-FFC0-47A5-A4F3-9A829649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570">
                <a:solidFill>
                  <a:srgbClr val="46566F"/>
                </a:solidFill>
              </a:rPr>
              <a:t>Evidencia: ejecución final validada del piloto · 2m19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F041331-0EA1-4F87-A7C5-0607FBEB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46566F"/>
                </a:solidFill>
              </a:defRPr>
            </a:pPr>
            <a:r>
              <a:rPr sz="620">
                <a:solidFill>
                  <a:srgbClr val="46566F"/>
                </a:solidFill>
              </a:rPr>
              <a:t>14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BA7BC9E-DF08-488A-B831-4B8F3AC4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680"/>
            <a:ext cx="21031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10160">
            <a:solidFill>
              <a:srgbClr val="14B86A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Ejecución normal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8AD2847-AEAC-46AA-B063-D5C11894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06040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Referencia observada</a:t>
            </a:r>
          </a:p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2m19 en el flujo final validado.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B379D1-62DD-4430-8142-F1C47F9C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92424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Objetivo operativo inicial</a:t>
            </a:r>
          </a:p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≈2–5 min por Pull Request crítico.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25C7F7D-BF56-460E-9140-8BF07670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78808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Qué puede variar</a:t>
            </a:r>
          </a:p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Tamaño, caché, runner, descarga de imagen y DAST.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6C1320B-E228-4571-A467-E5E64F57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24688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4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Sesión de ayer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BDD85D5-1C49-4A40-A843-CA9F8C82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606040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Configuración</a:t>
            </a:r>
          </a:p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Se ajustaron build, grafo y workflows.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FE185FA-72B5-4567-8509-2F3ED3D2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92424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Correcciones reales</a:t>
            </a:r>
          </a:p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Cada hallazgo exigió cambio y nuevo commit.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3B9D65A-96C0-4A59-AD87-368CE1E8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178808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Reejecuciones</a:t>
            </a:r>
          </a:p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Se repitieron controles hasta obtener evidencia limpia.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3B4200E-7DBB-48B7-AD00-A37BBB1F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532120"/>
            <a:ext cx="96012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4"/>
          </a:solidFill>
          <a:ln xmlns:a="http://schemas.openxmlformats.org/drawingml/2006/main" w="10160">
            <a:solidFill>
              <a:srgbClr val="061A3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2m19 es una medición puntual; el piloto medirá p50/p95 para fijar el promedio real del banco.</a:t>
            </a:r>
          </a:p>
        </p:txBody>
      </p:sp>
    </p:spTree>
    <p:extLst>
      <p:ext uri="{BB962C8B-B14F-4D97-AF65-F5344CB8AC3E}">
        <p14:creationId xmlns:p14="http://schemas.microsoft.com/office/powerpoint/2010/main" val="12169262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BD4243A-6202-462C-AB15-0AB68FFA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REQUISITOS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06F101F-EBEA-4F90-B009-169BD148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2850" b="1">
                <a:solidFill>
                  <a:srgbClr val="10233F"/>
                </a:solidFill>
              </a:rPr>
              <a:t>Qué necesita el banco para iniciar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67A4202-F06B-40D2-9C7E-43649A58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1180">
                <a:solidFill>
                  <a:srgbClr val="46566F"/>
                </a:solidFill>
              </a:rPr>
              <a:t>Las decisiones son contractuales y operativas; no se requiere migrar la plataforma.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E9F636B-FFC0-47A5-A4F3-9A829649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46566F"/>
                </a:solidFill>
              </a:defRPr>
            </a:pPr>
            <a:r>
              <a:rPr sz="570">
                <a:solidFill>
                  <a:srgbClr val="46566F"/>
                </a:solidFill>
              </a:rPr>
              <a:t>Seguridad de software · Propuesta gerencial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F041331-0EA1-4F87-A7C5-0607FBEB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46566F"/>
                </a:solidFill>
              </a:defRPr>
            </a:pPr>
            <a:r>
              <a:rPr sz="620">
                <a:solidFill>
                  <a:srgbClr val="46566F"/>
                </a:solidFill>
              </a:rPr>
              <a:t>15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BA7BC9E-DF08-488A-B831-4B8F3AC4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680"/>
            <a:ext cx="21031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10160">
            <a:solidFill>
              <a:srgbClr val="14B86A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Decisiones previas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8AD2847-AEAC-46AA-B063-D5C11894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06040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Contrato</a:t>
            </a:r>
          </a:p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Confirmar Code Security y Secret Protection.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B379D1-62DD-4430-8142-F1C47F9C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92424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Plataforma</a:t>
            </a:r>
          </a:p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Cloud o Server, versión, runners y conectividad.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25C7F7D-BF56-460E-9140-8BF07670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78808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BFE8CC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Política</a:t>
            </a:r>
          </a:p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Severidades, excepciones y datos permitidos.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6C1320B-E228-4571-A467-E5E64F57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246888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F4"/>
          </a:solidFill>
          <a:ln xmlns:a="http://schemas.openxmlformats.org/drawingml/2006/main" w="10160">
            <a:solidFill>
              <a:srgbClr val="EF476F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10233F"/>
                </a:solidFill>
              </a:defRPr>
            </a:pPr>
            <a:r>
              <a:rPr sz="1400" b="1">
                <a:solidFill>
                  <a:srgbClr val="10233F"/>
                </a:solidFill>
              </a:rPr>
              <a:t>Operación del piloto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BDD85D5-1C49-4A40-A843-CA9F8C82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606040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Responsables</a:t>
            </a:r>
          </a:p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Seguridad, Plataforma, Desarrollo y Riesgo.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FE185FA-72B5-4567-8509-2F3ED3D2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392424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Alcance</a:t>
            </a:r>
          </a:p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Dos servicios privados representativos.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3B9D65A-96C0-4A59-AD87-368CE1E8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178808"/>
            <a:ext cx="484632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EEC7D0"/>
            </a:solidFill>
          </a:ln>
        </p:spPr>
        <p:txBody>
          <a:bodyPr xmlns:a="http://schemas.openxmlformats.org/drawingml/2006/main" wrap="square" lIns="1778" tIns="1778" rIns="1778" bIns="1778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Éxito</a:t>
            </a:r>
          </a:p>
          <a:p xmlns:a="http://schemas.openxmlformats.org/drawingml/2006/main">
            <a:pPr marL="0" indent="0" algn="l">
              <a:buNone/>
              <a:defRPr>
                <a:solidFill>
                  <a:srgbClr val="10233F"/>
                </a:solidFill>
              </a:defRPr>
            </a:pPr>
            <a:r>
              <a:rPr sz="980" b="1">
                <a:solidFill>
                  <a:srgbClr val="10233F"/>
                </a:solidFill>
              </a:rPr>
              <a:t>Tiempo p50/p95, cobertura y remediación.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3B4200E-7DBB-48B7-AD00-A37BBB1F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532120"/>
            <a:ext cx="960120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A34"/>
          </a:solidFill>
          <a:ln xmlns:a="http://schemas.openxmlformats.org/drawingml/2006/main" w="10160">
            <a:solidFill>
              <a:srgbClr val="061A3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Propuesta: piloto controlado de 4 semanas, sin migrar repositorios ni reemplazar GitHub Enterprise.</a:t>
            </a:r>
          </a:p>
        </p:txBody>
      </p:sp>
    </p:spTree>
    <p:extLst>
      <p:ext uri="{BB962C8B-B14F-4D97-AF65-F5344CB8AC3E}">
        <p14:creationId xmlns:p14="http://schemas.microsoft.com/office/powerpoint/2010/main" val="12169262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1A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695C7B2-28FA-4E32-88C8-436736E7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4048"/>
            <a:ext cx="96012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750" b="1">
                <a:solidFill>
                  <a:srgbClr val="19C7C3"/>
                </a:solidFill>
              </a:rPr>
              <a:t>DECISIÓN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27B1819-15DA-48D3-B669-2CABCFEB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85800"/>
            <a:ext cx="10881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Aprobar un piloto sobre GitHub Enterprise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72A9A52-04A6-42A9-9509-6E7B5C83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417320"/>
            <a:ext cx="104241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DCE8F5"/>
                </a:solidFill>
              </a:defRPr>
            </a:pPr>
            <a:r>
              <a:rPr sz="1180">
                <a:solidFill>
                  <a:srgbClr val="DCE8F5"/>
                </a:solidFill>
              </a:rPr>
              <a:t>La decisión no es cambiar de plataforma: es elegir el camino de consolidación y medirlo con evidencia.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ADF991F-1DFA-4AA7-A6F7-87CC442C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6473952"/>
            <a:ext cx="64922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DCE8F5"/>
                </a:solidFill>
              </a:defRPr>
            </a:pPr>
            <a:r>
              <a:rPr sz="570">
                <a:solidFill>
                  <a:srgbClr val="DCE8F5"/>
                </a:solidFill>
              </a:rPr>
              <a:t>Decisión solicitada · Seguridad + Plataforma + Desarrollo + Riesgo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531A71E-3EA7-49F3-AB18-638344D2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576" y="645566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>
                <a:solidFill>
                  <a:srgbClr val="DCE8F5"/>
                </a:solidFill>
              </a:defRPr>
            </a:pPr>
            <a:r>
              <a:rPr sz="620">
                <a:solidFill>
                  <a:srgbClr val="DCE8F5"/>
                </a:solidFill>
              </a:rPr>
              <a:t>16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E797CC4-1B62-4B5A-85D3-3E4EB745C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11680"/>
            <a:ext cx="56692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19C7C3"/>
                </a:solidFill>
              </a:defRPr>
            </a:pPr>
            <a:r>
              <a:rPr sz="2100" b="1">
                <a:solidFill>
                  <a:srgbClr val="19C7C3"/>
                </a:solidFill>
              </a:rPr>
              <a:t>El banco sí puede adoptar la iniciativa.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2A8177C-B608-4517-BA76-DA4ECA4C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06040"/>
            <a:ext cx="731520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717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Camino A: máxima consolidación con productos GitHub contratados.</a:t>
            </a:r>
          </a:p>
          <a:p xmlns:a="http://schemas.openxmlformats.org/drawingml/2006/main">
            <a:pPr marL="0" indent="0" algn="l">
              <a:buNone/>
              <a:defRPr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Camino B: protección equivalente con herramientas abiertas ya implementadas.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FF7F2F1-FCA9-492F-A333-2218BB14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965960"/>
            <a:ext cx="23774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Confirmar licencias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C6AF338-8FD7-4205-B094-2F41379A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971800"/>
            <a:ext cx="23774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Seleccionar 2 servicios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B25408C-29E4-42F8-BE5C-6E580749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977640"/>
            <a:ext cx="237744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B58"/>
          </a:solidFill>
          <a:ln xmlns:a="http://schemas.openxmlformats.org/drawingml/2006/main" w="10160">
            <a:solidFill>
              <a:srgbClr val="11C5B4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Medir tiempo y riesgo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2C6AB56-5AD6-4943-8111-FD33C24F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49240"/>
            <a:ext cx="1060704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52"/>
          </a:solidFill>
          <a:ln xmlns:a="http://schemas.openxmlformats.org/drawingml/2006/main" w="10160">
            <a:solidFill>
              <a:srgbClr val="FF9F1C"/>
            </a:solidFill>
          </a:ln>
        </p:spPr>
        <p:txBody>
          <a:bodyPr xmlns:a="http://schemas.openxmlformats.org/drawingml/2006/main" wrap="square" lIns="1016" tIns="1016" rIns="1016" bIns="1016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Autorizar 4 semanas y decidir la escala con evidencia de cobertura, costo y operación.</a:t>
            </a:r>
          </a:p>
        </p:txBody>
      </p:sp>
    </p:spTree>
    <p:extLst>
      <p:ext uri="{BB962C8B-B14F-4D97-AF65-F5344CB8AC3E}">
        <p14:creationId xmlns:p14="http://schemas.microsoft.com/office/powerpoint/2010/main" val="83826237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2026-07-10T16:35:16.0890000Z</dcterms:created>
  <dcterms:modified xsi:type="dcterms:W3CDTF">2026-07-10T16:35:16.0890000Z</dcterms:modified>
</coreProperties>
</file>