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71841ad34d4fcf" /><Relationship Type="http://schemas.openxmlformats.org/officeDocument/2006/relationships/extended-properties" Target="/docProps/app.xml" Id="Ref2ffc56146342db" /><Relationship Type="http://schemas.openxmlformats.org/officeDocument/2006/relationships/officeDocument" Target="/ppt/presentation.xml" Id="Rb7055e9f0fe942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68bd836eae4a8b"/>
  </p:sldMasterIdLst>
  <p:notesMasterIdLst>
    <p:notesMasterId xmlns:r="http://schemas.openxmlformats.org/officeDocument/2006/relationships" r:id="R2db971d577524abe"/>
  </p:notesMasterIdLst>
  <p:sldIdLst>
    <p:sldId xmlns:r="http://schemas.openxmlformats.org/officeDocument/2006/relationships" id="256" r:id="R19789eec17c7417c"/>
    <p:sldId xmlns:r="http://schemas.openxmlformats.org/officeDocument/2006/relationships" id="257" r:id="Re1312c4c60d144e8"/>
    <p:sldId xmlns:r="http://schemas.openxmlformats.org/officeDocument/2006/relationships" id="258" r:id="R73e2791ebc4d4d98"/>
    <p:sldId xmlns:r="http://schemas.openxmlformats.org/officeDocument/2006/relationships" id="259" r:id="R1c17ce367df64ca9"/>
    <p:sldId xmlns:r="http://schemas.openxmlformats.org/officeDocument/2006/relationships" id="260" r:id="R485518ff0fa64b25"/>
    <p:sldId xmlns:r="http://schemas.openxmlformats.org/officeDocument/2006/relationships" id="261" r:id="R8f864499ec0e4a03"/>
    <p:sldId xmlns:r="http://schemas.openxmlformats.org/officeDocument/2006/relationships" id="262" r:id="Ra0fc39f6091f44f6"/>
    <p:sldId xmlns:r="http://schemas.openxmlformats.org/officeDocument/2006/relationships" id="263" r:id="Rffb090e7527c4e19"/>
    <p:sldId xmlns:r="http://schemas.openxmlformats.org/officeDocument/2006/relationships" id="264" r:id="Rd79b5e223cb140b0"/>
    <p:sldId xmlns:r="http://schemas.openxmlformats.org/officeDocument/2006/relationships" id="265" r:id="R78c73045407e42d4"/>
    <p:sldId xmlns:r="http://schemas.openxmlformats.org/officeDocument/2006/relationships" id="266" r:id="Rbe17b9df7e5441f3"/>
    <p:sldId xmlns:r="http://schemas.openxmlformats.org/officeDocument/2006/relationships" id="267" r:id="R06ddcc0fa1a0467f"/>
    <p:sldId xmlns:r="http://schemas.openxmlformats.org/officeDocument/2006/relationships" id="268" r:id="R1acac8c044f544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b70fb9e1e4bb6" /><Relationship Type="http://schemas.openxmlformats.org/officeDocument/2006/relationships/slideMaster" Target="/ppt/slideMasters/slideMaster1.xml" Id="Rcf68bd836eae4a8b" /><Relationship Type="http://schemas.openxmlformats.org/officeDocument/2006/relationships/notesMaster" Target="/ppt/notesMasters/notesMaster1.xml" Id="R2db971d577524abe" /><Relationship Type="http://schemas.openxmlformats.org/officeDocument/2006/relationships/presProps" Target="/ppt/presProps.xml" Id="R288b695164164bf6" /><Relationship Type="http://schemas.openxmlformats.org/officeDocument/2006/relationships/viewProps" Target="/ppt/viewProps.xml" Id="R0797bc4a889f46fa" /><Relationship Type="http://schemas.openxmlformats.org/officeDocument/2006/relationships/tableStyles" Target="/ppt/tableStyles.xml" Id="Ra71a32e57a15406c" /><Relationship Type="http://schemas.openxmlformats.org/officeDocument/2006/relationships/slide" Target="/ppt/slides/slide1.xml" Id="R19789eec17c7417c" /><Relationship Type="http://schemas.openxmlformats.org/officeDocument/2006/relationships/slide" Target="/ppt/slides/slide2.xml" Id="Re1312c4c60d144e8" /><Relationship Type="http://schemas.openxmlformats.org/officeDocument/2006/relationships/slide" Target="/ppt/slides/slide3.xml" Id="R73e2791ebc4d4d98" /><Relationship Type="http://schemas.openxmlformats.org/officeDocument/2006/relationships/slide" Target="/ppt/slides/slide4.xml" Id="R1c17ce367df64ca9" /><Relationship Type="http://schemas.openxmlformats.org/officeDocument/2006/relationships/slide" Target="/ppt/slides/slide5.xml" Id="R485518ff0fa64b25" /><Relationship Type="http://schemas.openxmlformats.org/officeDocument/2006/relationships/slide" Target="/ppt/slides/slide6.xml" Id="R8f864499ec0e4a03" /><Relationship Type="http://schemas.openxmlformats.org/officeDocument/2006/relationships/slide" Target="/ppt/slides/slide7.xml" Id="Ra0fc39f6091f44f6" /><Relationship Type="http://schemas.openxmlformats.org/officeDocument/2006/relationships/slide" Target="/ppt/slides/slide8.xml" Id="Rffb090e7527c4e19" /><Relationship Type="http://schemas.openxmlformats.org/officeDocument/2006/relationships/slide" Target="/ppt/slides/slide9.xml" Id="Rd79b5e223cb140b0" /><Relationship Type="http://schemas.openxmlformats.org/officeDocument/2006/relationships/slide" Target="/ppt/slides/slide10.xml" Id="R78c73045407e42d4" /><Relationship Type="http://schemas.openxmlformats.org/officeDocument/2006/relationships/slide" Target="/ppt/slides/slide11.xml" Id="Rbe17b9df7e5441f3" /><Relationship Type="http://schemas.openxmlformats.org/officeDocument/2006/relationships/slide" Target="/ppt/slides/slide12.xml" Id="R06ddcc0fa1a0467f" /><Relationship Type="http://schemas.openxmlformats.org/officeDocument/2006/relationships/slide" Target="/ppt/slides/slide13.xml" Id="R1acac8c044f544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f3442335424c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dbf730513249d1" /><Relationship Type="http://schemas.openxmlformats.org/officeDocument/2006/relationships/notesMaster" Target="/ppt/notesMasters/notesMaster1.xml" Id="R0a7186dd77f441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3cc9b889ac423e" /><Relationship Type="http://schemas.openxmlformats.org/officeDocument/2006/relationships/notesMaster" Target="/ppt/notesMasters/notesMaster1.xml" Id="R950fb33aaf9343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17855163a34440" /><Relationship Type="http://schemas.openxmlformats.org/officeDocument/2006/relationships/notesMaster" Target="/ppt/notesMasters/notesMaster1.xml" Id="R0a11c8cd4e1b45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8b02fa87d94ebe" /><Relationship Type="http://schemas.openxmlformats.org/officeDocument/2006/relationships/notesMaster" Target="/ppt/notesMasters/notesMaster1.xml" Id="R3379d1606cdf4e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791158ffeb4cee" /><Relationship Type="http://schemas.openxmlformats.org/officeDocument/2006/relationships/notesMaster" Target="/ppt/notesMasters/notesMaster1.xml" Id="R000d2fd785364d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89f54cc39442e3" /><Relationship Type="http://schemas.openxmlformats.org/officeDocument/2006/relationships/notesMaster" Target="/ppt/notesMasters/notesMaster1.xml" Id="R9a2106c856514d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aeb7fc8d12474f" /><Relationship Type="http://schemas.openxmlformats.org/officeDocument/2006/relationships/notesMaster" Target="/ppt/notesMasters/notesMaster1.xml" Id="Rfbf097549da140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1367059e4b4b63" /><Relationship Type="http://schemas.openxmlformats.org/officeDocument/2006/relationships/notesMaster" Target="/ppt/notesMasters/notesMaster1.xml" Id="R5053645a8f8f42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b362658f854480" /><Relationship Type="http://schemas.openxmlformats.org/officeDocument/2006/relationships/notesMaster" Target="/ppt/notesMasters/notesMaster1.xml" Id="R76c2db9cc4e946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f8e212cb754684" /><Relationship Type="http://schemas.openxmlformats.org/officeDocument/2006/relationships/notesMaster" Target="/ppt/notesMasters/notesMaster1.xml" Id="R5b06cd7ab2c541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a83cab58db4480" /><Relationship Type="http://schemas.openxmlformats.org/officeDocument/2006/relationships/notesMaster" Target="/ppt/notesMasters/notesMaster1.xml" Id="R1287d62508e14a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9fc06bdca94ea6" /><Relationship Type="http://schemas.openxmlformats.org/officeDocument/2006/relationships/notesMaster" Target="/ppt/notesMasters/notesMaster1.xml" Id="Ra764f7893b9341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48e9da6aa9468a" /><Relationship Type="http://schemas.openxmlformats.org/officeDocument/2006/relationships/notesMaster" Target="/ppt/notesMasters/notesMaster1.xml" Id="R6e92561a53f949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el resultado: el piloto no es una colección de escáneres; es un flujo que bloquea, deja evidencia y puede gobernarse.</a:t>
            </a:r>
          </a:p>
          <a:p xmlns:a="http://schemas.openxmlformats.org/drawingml/2006/main">
            <a:r>
              <a:t>No presentar certificaciones. El foco es la prueba, los tiempos y los requisitos para el banco.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directa a la duda: sí se hizo trabajo sustantivo en código, workflows, contenedor, Kubernetes y gobierno.</a:t>
            </a:r>
          </a:p>
          <a:p xmlns:a="http://schemas.openxmlformats.org/drawingml/2006/main"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 #12 modificó 25 archivos y añadió controles específicos para banca y cadena de suministro.</a:t>
            </a:r>
          </a:p>
          <a:p xmlns:a="http://schemas.openxmlformats.org/drawingml/2006/main">
            <a:r>
              <a:t>PR: https://github.com/giscarUnir/automatizacion-seguridad/pull/12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la cobertura DevSecOps no reemplaza IAM, cifrado, WAF, SOC ni resiliencia de la aplicación bancaria.</a:t>
            </a:r>
          </a:p>
          <a:p xmlns:a="http://schemas.openxmlformats.org/drawingml/2006/main">
            <a:r>
              <a:t>Fuente oficial: https://docs.github.com/en/code-security/getting-started/github-security-features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confundir 17m23 de iteración con el tiempo de una ejecución.</a:t>
            </a:r>
          </a:p>
          <a:p xmlns:a="http://schemas.openxmlformats.org/drawingml/2006/main">
            <a:r>
              <a:t>Rondas: 4 fallos → 2 → 2 → 2 → 0. Los fallos mostraron que las compuertas sí estaban actuando.</a:t>
            </a:r>
          </a:p>
          <a:p xmlns:a="http://schemas.openxmlformats.org/drawingml/2006/main">
            <a:r>
              <a:t>PR #12: https://github.com/giscarUnir/automatizacion-seguridad/pull/12</a:t>
            </a:r>
          </a:p>
          <a:p xmlns:a="http://schemas.openxmlformats.org/drawingml/2006/main">
            <a:r>
              <a:t>PR #13: https://github.com/giscarUnir/automatizacion-seguridad/pull/13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demora fue productiva: se cerraron errores de configuración y riesgos del artefacto. La última ejecución limpia ya no hereda ese costo de estabilización.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wall-clock de runner-time: 2m19 percibidos frente a 8m37 acumulados en once jobs.</a:t>
            </a:r>
          </a:p>
          <a:p xmlns:a="http://schemas.openxmlformats.org/drawingml/2006/main">
            <a:r>
              <a:t>Ejemplo CodeQL: https://github.com/giscarUnir/automatizacion-seguridad/actions/runs/29080822015</a:t>
            </a:r>
          </a:p>
          <a:p xmlns:a="http://schemas.openxmlformats.org/drawingml/2006/main">
            <a:r>
              <a:t>Ejemplo supply chain: https://github.com/giscarUnir/automatizacion-seguridad/actions/runs/29080822053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Recomendación: mantener gates críticos en el PR y mover análisis pesados no diferenciales a main, release o nightly cuando el repositorio crezca.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Corrección clave: el plan Enterprise da la opción de comprar Code Security y Secret Protection; no asumir que ambos vienen incluidos.</a:t>
            </a:r>
          </a:p>
          <a:p xmlns:a="http://schemas.openxmlformats.org/drawingml/2006/main">
            <a:r>
              <a:t>Fuentes oficiales:</a:t>
            </a:r>
          </a:p>
          <a:p xmlns:a="http://schemas.openxmlformats.org/drawingml/2006/main">
            <a:r>
              <a:t>https://docs.github.com/en/code-security/getting-started/github-security-features</a:t>
            </a:r>
          </a:p>
          <a:p xmlns:a="http://schemas.openxmlformats.org/drawingml/2006/main">
            <a:r>
              <a:t>https://docs.github.com/en/billing/concepts/product-billing/github-advanced-security</a:t>
            </a:r>
          </a:p>
          <a:p xmlns:a="http://schemas.openxmlformats.org/drawingml/2006/main">
            <a:r>
              <a:t>https://docs.github.com/en/enterprise-cloud@latest/actions/how-tos/secure-your-work/use-artifact-attestations/use-artifact-attestations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Self-hosted runners requieren Linux y Docker para container actions, conectividad HTTP(S) y recursos suficientes.</a:t>
            </a:r>
          </a:p>
          <a:p xmlns:a="http://schemas.openxmlformats.org/drawingml/2006/main">
            <a:r>
              <a:t>Fuentes oficiales:</a:t>
            </a:r>
          </a:p>
          <a:p xmlns:a="http://schemas.openxmlformats.org/drawingml/2006/main">
            <a:r>
              <a:t>https://docs.github.com/en/actions/concepts/runners/self-hosted-runners</a:t>
            </a:r>
          </a:p>
          <a:p xmlns:a="http://schemas.openxmlformats.org/drawingml/2006/main">
            <a:r>
              <a:t>https://docs.github.com/en/enterprise-cloud@latest/admin/configuring-settings/hardening-security-for-your-enterprise/restricting-network-traffic-to-your-enterprise-with-an-ip-allow-list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modelo reduce mantenimiento, acelera correcciones de seguridad y evita que cada equipo interprete de forma distinta los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lámina evita sobreprometer. La prueba negativa controlada debe ejecutarse en el piloto privado y conservar capturas, logs, SARIF y decisión de excepción/corrección.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pidiendo una decisión concreta: autorizar piloto, confirmar SKUs y nombrar dueños. El rollout masivo se decide después de medir dos servicios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d321d9cf942a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fb4e14542f4a35" /><Relationship Type="http://schemas.openxmlformats.org/officeDocument/2006/relationships/slideLayout" Target="/ppt/slideLayouts/slideLayout1.xml" Id="Rc88aeae3ca4f48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8aeae3ca4f4891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54b939fca4001" /><Relationship Type="http://schemas.openxmlformats.org/officeDocument/2006/relationships/notesSlide" Target="/ppt/notesSlides/notesSlide1.xml" Id="R51dafdf8488b45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3d036abf04942" /><Relationship Type="http://schemas.openxmlformats.org/officeDocument/2006/relationships/notesSlide" Target="/ppt/notesSlides/notesSlide2.xml" Id="Rd4685a91ac5449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dbfac9df8465e" /><Relationship Type="http://schemas.openxmlformats.org/officeDocument/2006/relationships/notesSlide" Target="/ppt/notesSlides/notesSlide3.xml" Id="Rae078839c5fc49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56ff119a347d4" /><Relationship Type="http://schemas.openxmlformats.org/officeDocument/2006/relationships/notesSlide" Target="/ppt/notesSlides/notesSlide4.xml" Id="R5c73a05d75cb47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6bd9fe3d34c2c" /><Relationship Type="http://schemas.openxmlformats.org/officeDocument/2006/relationships/notesSlide" Target="/ppt/notesSlides/notesSlide5.xml" Id="R3b197dd7dbf64a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b648f7f544290" /><Relationship Type="http://schemas.openxmlformats.org/officeDocument/2006/relationships/notesSlide" Target="/ppt/notesSlides/notesSlide6.xml" Id="R780c6933000c4b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3668d51224088" /><Relationship Type="http://schemas.openxmlformats.org/officeDocument/2006/relationships/notesSlide" Target="/ppt/notesSlides/notesSlide7.xml" Id="R7bff6a41144145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cfb2e30ca4cb7" /><Relationship Type="http://schemas.openxmlformats.org/officeDocument/2006/relationships/notesSlide" Target="/ppt/notesSlides/notesSlide8.xml" Id="R5738f0117d4f44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ea39261114f52" /><Relationship Type="http://schemas.openxmlformats.org/officeDocument/2006/relationships/notesSlide" Target="/ppt/notesSlides/notesSlide9.xml" Id="R4802e67b11cd42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e69f7de004582" /><Relationship Type="http://schemas.openxmlformats.org/officeDocument/2006/relationships/notesSlide" Target="/ppt/notesSlides/notesSlide10.xml" Id="Rf4d1fc1e4e5c4a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c78bc01594478" /><Relationship Type="http://schemas.openxmlformats.org/officeDocument/2006/relationships/notesSlide" Target="/ppt/notesSlides/notesSlide11.xml" Id="R3890060d129743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5561dd3244f20" /><Relationship Type="http://schemas.openxmlformats.org/officeDocument/2006/relationships/notesSlide" Target="/ppt/notesSlides/notesSlide12.xml" Id="R7b91fa73ee1a45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3f569d49347fc" /><Relationship Type="http://schemas.openxmlformats.org/officeDocument/2006/relationships/notesSlide" Target="/ppt/notesSlides/notesSlide13.xml" Id="Rae2b0940782548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5D72D9-6452-4653-A6F9-D8352481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Resultados del piloto DevSecOps · Carlos Enrique León Vela · 10/07/2026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52D199-C243-4947-88AC-B74BE9A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1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81CB7-3035-44CF-95DC-0CCEDDA3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11C5B4"/>
                </a:solidFill>
              </a:rPr>
              <a:t>PILOTO BANCARIO · EVIDENCIA Y DECISIÓN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BD457E-952F-4AA8-89BB-FC4514D0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60120"/>
            <a:ext cx="6035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FFFFFF"/>
                </a:solidFill>
              </a:rPr>
              <a:t>DevSecOps bancario:</a:t>
            </a:r>
          </a:p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FFFFFF"/>
                </a:solidFill>
              </a:rPr>
              <a:t>evidencia y requisitos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06BC1B5-3309-4156-93D2-C16418DF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70048"/>
            <a:ext cx="66294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>
                <a:solidFill>
                  <a:srgbClr val="C7D6EA"/>
                </a:solidFill>
              </a:rPr>
              <a:t>Qué se implementó, por qué la prueba requirió iteraciones y qué necesita el banco para operar el flujo en repositorios privados.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C4194E3-D648-461D-A614-33FE314C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60120"/>
            <a:ext cx="365760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Carlos Enrique León Vela</a:t>
            </a:r>
          </a:p>
          <a:p xmlns:a="http://schemas.openxmlformats.org/drawingml/2006/main">
            <a:pPr algn="l">
              <a:buNone/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Presentación de resultados</a:t>
            </a:r>
          </a:p>
          <a:p xmlns:a="http://schemas.openxmlformats.org/drawingml/2006/main">
            <a:pPr algn="l">
              <a:buNone/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al 10 de julio de 2026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60E23DD-B7DF-4E5D-8491-F56F046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7 dominios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de seguridad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0B3651-2DA9-40CF-B2A6-119086C2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11 jobs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por Pull Request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2599092-01DF-4CC9-80B6-25563F49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2m19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flujo validado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00F443-ECA5-41D7-8775-6DAEE4A6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Enterprise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+ SKUs según alcance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7CC96EC-25A1-4A4F-95C8-CA1A6EEB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02536"/>
            <a:ext cx="310896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Resultado medido, no promesa comercial</a:t>
            </a:r>
          </a:p>
        </p:txBody>
      </p:sp>
    </p:spTree>
    <p:extLst>
      <p:ext uri="{BB962C8B-B14F-4D97-AF65-F5344CB8AC3E}">
        <p14:creationId xmlns:p14="http://schemas.microsoft.com/office/powerpoint/2010/main" val="854835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0E9F98"/>
                </a:solidFill>
              </a:rPr>
              <a:t>RESPUESTA EJECUTIVA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12213A"/>
                </a:solidFill>
              </a:rPr>
              <a:t>La base es sólida; la evidencia anterior no lo mostraba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526176"/>
                </a:solidFill>
              </a:rPr>
              <a:t>La revisión confirma trabajo real, pero también una brecha de presentación y una afirmación de licencias que debía matizarse.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758299"/>
                </a:solidFill>
              </a:rPr>
              <a:t>Evidencia: PR #12 y #13 · github.com/giscarUnir/automatizacion-seguridad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758299"/>
                </a:solidFill>
              </a:rPr>
              <a:t>2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0116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F476F"/>
                </a:solidFill>
              </a:rPr>
              <a:t>Implementado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926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2213A"/>
                </a:solidFill>
              </a:rPr>
              <a:t>7 dominios, 11 jobs, rulesets, SARIF, SBOM y procedencia.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526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BF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E9F98"/>
                </a:solidFill>
              </a:rPr>
              <a:t>Probado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3154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2213A"/>
                </a:solidFill>
              </a:rPr>
              <a:t>El PR pasó de 4 fallos a 0; el flujo final cerró en 2m19.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55264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454C6"/>
                </a:solidFill>
              </a:rPr>
              <a:t>Pendiente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43200"/>
            <a:ext cx="2743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2213A"/>
                </a:solidFill>
              </a:rPr>
              <a:t>Conservar un PR negativo controlado y validar los SKUs del banco.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74920"/>
            <a:ext cx="92354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20" b="1">
                <a:solidFill>
                  <a:srgbClr val="FFFFFF"/>
                </a:solidFill>
              </a:rPr>
              <a:t>Conclusión: técnicamente útil; la PPT anterior subrepresentaba la evidencia, los tiempos y los requisitos.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45E5EF-13A0-4B36-936D-4A1EDD48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11C5B4"/>
                </a:solidFill>
              </a:rPr>
              <a:t>LO QUE SE CONSTRUYÓ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7B0274-1571-4447-9C16-F81CEED2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FFFFFF"/>
                </a:solidFill>
              </a:rPr>
              <a:t>Sí hubo trabajo: se endureció todo el ciclo de entrega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89911-8559-4682-B388-F9917C3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C7D6EA"/>
                </a:solidFill>
              </a:rPr>
              <a:t>La mejora no fue una portada: cambió código, infraestructura, workflows, imagen, evidencias y gobierno del Pull Request.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AE6C50-3AE7-481A-A06F-115CBD90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Fuente: PR #12 · 25 archivos · +398 / -114 líneas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3A7FCF-1FA0-408D-9E55-B2D98DB7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3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DF4B75F-7563-424B-AF18-4B65C654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8CCE63-5395-4CC0-835F-6085EA52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Código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CRUD + pruebas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788385C-2E45-4FC9-B7A3-4C486A60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55E63A7-5C99-41D6-B616-0EBC816E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Pull Request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11 jobs + gates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6EFB4A3-FC34-4FBB-B030-14D7D303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EE2EC86-C92E-4D6B-9C6A-F831563C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Build seguro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imagen no-root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6DA4FC0-72FB-4E1C-BBE6-2EC6D615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8F11F-3768-4961-A8D4-A7A226B8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Evidencia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SARIF + SBOM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B9BF9DF-75DB-4FEA-935B-91CC9D09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Gobierno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SHA + CODEOWNERS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01C0B21-E695-4CD5-AC5A-73ACA86E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0"/>
            <a:ext cx="102412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Incluye: mínimos privilegios · Trivy antes de publicar · attestations · ZAP · actionlint · zizmor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70C3A38-25C4-40A5-8203-35143B4C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57784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C7D6EA"/>
                </a:solidFill>
              </a:rPr>
              <a:t>La publicación quedó condicionada a que el mismo artefacto candidato supere los controles.</a:t>
            </a:r>
          </a:p>
        </p:txBody>
      </p:sp>
    </p:spTree>
    <p:extLst>
      <p:ext uri="{BB962C8B-B14F-4D97-AF65-F5344CB8AC3E}">
        <p14:creationId xmlns:p14="http://schemas.microsoft.com/office/powerpoint/2010/main" val="797783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3E58FA-F33F-4372-AA9F-32382BF7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0E9F98"/>
                </a:solidFill>
              </a:rPr>
              <a:t>COBERTURA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E1CFEF-5734-48D7-BE88-3BE8CF7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12213A"/>
                </a:solidFill>
              </a:rPr>
              <a:t>Siete dominios cubren código, plataforma y artefacto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C8510F-E883-4E9E-82DF-456C6B0A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526176"/>
                </a:solidFill>
              </a:rPr>
              <a:t>Cada dominio combina detección, umbral y evidencia; la política del banco decide cuáles son obligatorios.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B8292A1-1476-4D75-8F47-1F3A4E45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758299"/>
                </a:solidFill>
              </a:rPr>
              <a:t>Fuentes: workflows del repositorio · GitHub Docs Security features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60F9D5D-8644-46E5-A3F7-505C7BA5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758299"/>
                </a:solidFill>
              </a:rPr>
              <a:t>4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AF4ADCB-9602-4DC0-A480-143EDC2D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1E0F71-9189-4597-A9A8-4B89D872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98424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Secretos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0E691B-0C05-4F53-B176-AB220E5A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1984248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Gitleaks + Secret Protection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DC9EB3C-CB41-46E6-B37F-16FC6A16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1965960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Tokens y credenciales expuestas.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20D5BD-7E60-4CA4-B6CD-9C79A285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965960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Detecta historial; push protection bloquea el ingreso.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6FE9C98-D523-46B0-B8E3-D28C9C90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32888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B437CC-B5E1-4C26-8A7F-193A2787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33472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F2"/>
          </a:solidFill>
          <a:ln xmlns:a="http://schemas.openxmlformats.org/drawingml/2006/main" w="10160">
            <a:solidFill>
              <a:srgbClr val="7B3FF2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2BAFCD9-6690-4E8D-B267-343477C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65176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SAST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F98AADA-4A20-4B02-81CC-1D591A6D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2651760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7B3FF2"/>
                </a:solidFill>
              </a:rPr>
              <a:t>CodeQL + Semgrep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55B2FC-5DDC-4FF2-98F4-39DA05B7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2633472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Flujo y patrones vulnerables.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5AA8482-3E31-4B8B-99A2-80B4540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2633472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CodeQL publica; gate por severidad y Semgrep.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0789811-792F-4E27-99A6-A3D0C87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0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0B455F0-C06A-49D1-AD69-5596DC96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00984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2D438C3-346B-4074-ADE2-D8A91C14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319272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SCA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0D9610-9B0D-4D2A-AEA2-3D481ADC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3319272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FF9F1C"/>
                </a:solidFill>
              </a:rPr>
              <a:t>Dependency Review + Trivy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34D4D23-FE4F-47F8-9E5D-352E8993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300984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CVE en dependencias.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3D5667-AC85-49D1-86C6-4E927074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300984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Review y Trivy bloquean; Dependabot propone.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3BD73C7-F261-4952-92DE-F749B811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6791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D57076-AF08-4411-989A-4CB88159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68496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C6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5A144CA-82EB-44E4-8644-B27644B6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986784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Contenedor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882C4DD-DF14-4094-ACA8-426F5F45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3986784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2454C6"/>
                </a:solidFill>
              </a:rPr>
              <a:t>Trivy imagen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D4326C7-2F35-47E6-8FDC-0155297A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968496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CVE del runtime desplegable.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253A894-CDE3-4B73-944A-4B3EBAFD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968496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Escanea el digest antes de publicarlo.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3649944-CDC8-460A-9745-62A9CA88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BF14E21-4696-45E2-AE3C-54E0972E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36008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AE000A6-6632-44E8-B6F6-AAB7CDC7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654296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IaC / K8s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3B16F45-0493-47AA-B883-A9F6C04D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4654296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0E9F98"/>
                </a:solidFill>
              </a:rPr>
              <a:t>Checkov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514D1D2-9F6E-484E-A9CC-2377EC2C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4636008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Privilegios y exposición.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B5965F1-20FE-458F-8D48-DC2DA9E5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4636008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Falla manifiestos fuera de política.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3301262-37A1-4527-9C04-2A84B4E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02936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D86F019-CFDC-46CF-8943-2BCF1D68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0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669D72C-DCC1-4AB7-8DD4-94FE94FE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3218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DAST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DB68BCC-770E-40B0-B8D8-A0DFE6BA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5321808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OWASP ZAP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29E92E8A-D009-4B32-B5C1-4B2EBE27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5303520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Riesgo HTTP con la app viva.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706C479B-4DE9-4EA0-90F9-B6566E81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5303520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Falla alertas no aceptadas por política.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63E23E5C-EFDB-44AB-91BE-8B08D7D5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0448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9C6BAF5A-7CF1-44A9-94CA-F1F1A349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6A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14EC773-BC76-45D9-8185-B54AD910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98932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2213A"/>
                </a:solidFill>
              </a:rPr>
              <a:t>Cadena suministro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0B9F55B8-5A63-40C4-9E97-CB8362CE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5989320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Syft + Attestations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C9301743-021C-4F7B-9679-153C0C95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5971032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SBOM, digest y procedencia.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6ED378CA-CF10-44CC-82C9-AC2E6069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5971032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>
                <a:solidFill>
                  <a:srgbClr val="526176"/>
                </a:solidFill>
              </a:rPr>
              <a:t>Firma evidencia de build; base SLSA L2.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B6422C27-9903-4AA8-A8F1-47F51368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37960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514981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45E5EF-13A0-4B36-936D-4A1EDD48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11C5B4"/>
                </a:solidFill>
              </a:rPr>
              <a:t>EVIDENCIA DE LA PRUEBA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7B0274-1571-4447-9C16-F81CEED2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FFFFFF"/>
                </a:solidFill>
              </a:rPr>
              <a:t>La demora vino de cinco ciclos de corrección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89911-8559-4682-B388-F9917C3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C7D6EA"/>
                </a:solidFill>
              </a:rPr>
              <a:t>PR #12: 17m23 desde apertura hasta merge. Cada commit volvió a ejecutar el conjunto de controles.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AE6C50-3AE7-481A-A06F-115CBD90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Evidencia: github.com/giscarUnir/automatizacion-seguridad/pull/12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3A7FCF-1FA0-408D-9E55-B2D98DB7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DF4B75F-7563-424B-AF18-4B65C654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8CCE63-5395-4CC0-835F-6085EA52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03:32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4 fallos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788385C-2E45-4FC9-B7A3-4C486A60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55E63A7-5C99-41D6-B616-0EBC816E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03:36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2 fallos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6EFB4A3-FC34-4FBB-B030-14D7D303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EE2EC86-C92E-4D6B-9C6A-F831563C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03:39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2 fallos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6DA4FC0-72FB-4E1C-BBE6-2EC6D615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8F11F-3768-4961-A8D4-A7A226B8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03:42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2 fallos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B9BF9DF-75DB-4FEA-935B-91CC9D09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03:45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0 fallos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01C0B21-E695-4CD5-AC5A-73ACA86E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0"/>
            <a:ext cx="102412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Cache Docker · dependency graph · actionlint · CVE de imagen · política ZAP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70C3A38-25C4-40A5-8203-35143B4C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57784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C7D6EA"/>
                </a:solidFill>
              </a:rPr>
              <a:t>Merge 03:49 · PR #13 eliminó una deprecación de attestations en 2m24 · hora de Lima</a:t>
            </a:r>
          </a:p>
        </p:txBody>
      </p:sp>
    </p:spTree>
    <p:extLst>
      <p:ext uri="{BB962C8B-B14F-4D97-AF65-F5344CB8AC3E}">
        <p14:creationId xmlns:p14="http://schemas.microsoft.com/office/powerpoint/2010/main" val="797783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0E9F98"/>
                </a:solidFill>
              </a:rPr>
              <a:t>POR QUÉ DEMORÓ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12213A"/>
                </a:solidFill>
              </a:rPr>
              <a:t>No fue espera del escáner: fueron correcciones y reejecuciones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526176"/>
                </a:solidFill>
              </a:rPr>
              <a:t>La sesión estabilizó problemas de configuración y hallazgos reales; cada cambio debía volver a demostrar que el flujo completo seguía sano.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758299"/>
                </a:solidFill>
              </a:rPr>
              <a:t>Fuente: logs de GitHub Actions del PR #12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758299"/>
                </a:solidFill>
              </a:rPr>
              <a:t>6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103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B86A"/>
                </a:solidFill>
              </a:rPr>
              <a:t>Qué bloqueó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Configuración de plataforma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Cache Buildx incompatible y dependency graph sin activar.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Seguridad del workflow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Actionlint detectó shell; attestation tenía wrapper deprecado.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Hallazgos reales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Trivy encontró CVE del runtime; ZAP exigió cabecera CORP.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24688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F476F"/>
                </a:solidFill>
              </a:rPr>
              <a:t>Qué se corrigió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Actions y repositorio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Build ajustado, grafo activado y workflow válido.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Imagen y aplicación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Distroless por digest; cabecera y política ZAP.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Cadena de suministro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Migración a actions/attest v4 y revalidación completa.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32120"/>
            <a:ext cx="9601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Cada corrección disparó todos los controles; la demora total acumuló análisis, ajuste, commit y nueva evidencia.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399477-7BBF-4519-8E5F-0E581120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11C5B4"/>
                </a:solidFill>
              </a:rPr>
              <a:t>TIEMPOS MEDIDOS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54510E-D766-4DE5-9859-95DE84C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FFFFFF"/>
                </a:solidFill>
              </a:rPr>
              <a:t>Una ejecución limpia terminó en 2m19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623E33-6B86-4C7A-9244-FD8A9A53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C7D6EA"/>
                </a:solidFill>
              </a:rPr>
              <a:t>Medición del PR #12 a las 03:45 (Lima): once jobs ejecutados en paralelo sobre GitHub-hosted runners.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FB888F8-EFA0-4D75-ABA0-354AC79E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Evidencia: Actions runs 29080821973–29080822065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A3656A0-A280-4F34-9547-DF241859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7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9624EB8-372D-4D25-AD37-72F90FD8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346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1C5B4"/>
                </a:solidFill>
              </a:rPr>
              <a:t>Checks rápidos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1C5B4"/>
                </a:solidFill>
              </a:rPr>
              <a:t>8–39 s: Review, secrets, OSS, CI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E89B7D-5E38-4A92-BD9C-19DC05B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28346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2454C6"/>
                </a:solidFill>
              </a:rPr>
              <a:t>DAST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2454C6"/>
                </a:solidFill>
              </a:rPr>
              <a:t>1m25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2454C6"/>
                </a:solidFill>
              </a:rPr>
              <a:t>app + OWASP ZAP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08FE83-941C-4066-A521-342EC636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8346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EF476F"/>
                </a:solidFill>
              </a:rPr>
              <a:t>Supply chain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EF476F"/>
                </a:solidFill>
              </a:rPr>
              <a:t>1m59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EF476F"/>
                </a:solidFill>
              </a:rPr>
              <a:t>imagen + SBOM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3887354-6F3A-4B9D-8070-F859892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57400"/>
            <a:ext cx="2057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30" b="1">
                <a:solidFill>
                  <a:srgbClr val="FF9F1C"/>
                </a:solidFill>
              </a:rPr>
              <a:t>CodeQL</a:t>
            </a:r>
          </a:p>
          <a:p xmlns:a="http://schemas.openxmlformats.org/drawingml/2006/main">
            <a:pPr marL="0" indent="0" algn="l">
              <a:buNone/>
            </a:pPr>
            <a:r>
              <a:rPr sz="930" b="1">
                <a:solidFill>
                  <a:srgbClr val="FF9F1C"/>
                </a:solidFill>
              </a:rPr>
              <a:t>2m15</a:t>
            </a:r>
          </a:p>
          <a:p xmlns:a="http://schemas.openxmlformats.org/drawingml/2006/main">
            <a:pPr marL="0" indent="0" algn="l">
              <a:buNone/>
            </a:pPr>
            <a:r>
              <a:rPr sz="930" b="1">
                <a:solidFill>
                  <a:srgbClr val="FF9F1C"/>
                </a:solidFill>
              </a:rPr>
              <a:t>camino crítico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2F9FBF3-49AB-4684-8BC7-E196A420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703320"/>
            <a:ext cx="3200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1C5B4"/>
                </a:solidFill>
              </a:rPr>
              <a:t>Feedback total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1C5B4"/>
                </a:solidFill>
              </a:rPr>
              <a:t>2m19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1C5B4"/>
                </a:solidFill>
              </a:rPr>
              <a:t>tiempo de pared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66F8DF3-D24D-4056-870C-FC540ACD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703320"/>
            <a:ext cx="3200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4B86A"/>
                </a:solidFill>
              </a:rPr>
              <a:t>Consumo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4B86A"/>
                </a:solidFill>
              </a:rPr>
              <a:t>8m37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4B86A"/>
                </a:solidFill>
              </a:rPr>
              <a:t>suma de jobs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5CE5824-4A39-4C9B-A474-B582DE05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703320"/>
            <a:ext cx="3200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7B3FF2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7B3FF2"/>
                </a:solidFill>
              </a:rPr>
              <a:t>Promedio reciente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7B3FF2"/>
                </a:solidFill>
              </a:rPr>
              <a:t>2m22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7B3FF2"/>
                </a:solidFill>
              </a:rPr>
              <a:t>5 lotes verdes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E8BB9C4-1D17-47DE-9C08-D184A71D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784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5C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FFFFFF"/>
                </a:solidFill>
              </a:rPr>
              <a:t>Paralelismo: el desarrollador espera ~2m22, aunque la plataforma consume más minutos de runner.</a:t>
            </a:r>
          </a:p>
        </p:txBody>
      </p:sp>
    </p:spTree>
    <p:extLst>
      <p:ext uri="{BB962C8B-B14F-4D97-AF65-F5344CB8AC3E}">
        <p14:creationId xmlns:p14="http://schemas.microsoft.com/office/powerpoint/2010/main" val="6962217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0E9F98"/>
                </a:solidFill>
              </a:rPr>
              <a:t>MODELO DE TIEMPOS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12213A"/>
                </a:solidFill>
              </a:rPr>
              <a:t>Para el banco: feedback rápido en PR y profundidad en release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526176"/>
                </a:solidFill>
              </a:rPr>
              <a:t>Objetivos de ingeniería para el piloto; no son una garantía universal de GitHub y deben calibrarse por lenguaje, tamaño y capacidad de runners.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758299"/>
                </a:solidFill>
              </a:rPr>
              <a:t>Objetivo propuesto · medir p50 y p95 por repositorio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758299"/>
                </a:solidFill>
              </a:rPr>
              <a:t>8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103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B86A"/>
                </a:solidFill>
              </a:rPr>
              <a:t>PR — objetivo ≤5 min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Bloqueo inmediato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Pruebas, secretos, SAST diferencial, SCA e IaC.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Required checks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Ruleset impide merge; excepción con dueño y caducidad.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Optimización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Cache, paths y workflows reutilizables por plataforma.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24688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F476F"/>
                </a:solidFill>
              </a:rPr>
              <a:t>Release — objetivo ≤15 min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Validación completa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CodeQL, DAST, imagen, SBOM y attestations.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Publicación segura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Solo el digest aprobado llega al registry.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Nightly 15–60 min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Scans amplios para repos grandes e histórico.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32120"/>
            <a:ext cx="9601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El piloto debe fijar SLO por carril: p50/p95, cola, falsos positivos y consumo de runner.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399477-7BBF-4519-8E5F-0E581120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11C5B4"/>
                </a:solidFill>
              </a:rPr>
              <a:t>LICENCIAS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54510E-D766-4DE5-9859-95DE84C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FFFFFF"/>
                </a:solidFill>
              </a:rPr>
              <a:t>GitHub Enterprise no basta por sí solo para todo lo privado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623E33-6B86-4C7A-9244-FD8A9A53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C7D6EA"/>
                </a:solidFill>
              </a:rPr>
              <a:t>La respuesta depende del despliegue (Enterprise Cloud o Server), del contrato y de los productos avanzados habilitados.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FB888F8-EFA0-4D75-ABA0-354AC79E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Fuentes: GitHub Docs · Security features · Advanced Security billing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A3656A0-A280-4F34-9547-DF241859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9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9624EB8-372D-4D25-AD37-72F90FD8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346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1C5B4"/>
                </a:solidFill>
              </a:rPr>
              <a:t>Enterprise base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1C5B4"/>
                </a:solidFill>
              </a:rPr>
              <a:t>Repos privados, Actions, rulesets y gobierno.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E89B7D-5E38-4A92-BD9C-19DC05B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28346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2454C6"/>
                </a:solidFill>
              </a:rPr>
              <a:t>Code Security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2454C6"/>
                </a:solidFill>
              </a:rPr>
              <a:t>CodeQL, code scanning y Dependency Review en privado.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08FE83-941C-4066-A521-342EC636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8346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EF476F"/>
                </a:solidFill>
              </a:rPr>
              <a:t>Secret Protection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EF476F"/>
                </a:solidFill>
              </a:rPr>
              <a:t>Secret scanning, push protection y patrones en privado.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3887354-6F3A-4B9D-8070-F859892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57400"/>
            <a:ext cx="2057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30" b="1">
                <a:solidFill>
                  <a:srgbClr val="FF9F1C"/>
                </a:solidFill>
              </a:rPr>
              <a:t>Legacy GHAS</a:t>
            </a:r>
          </a:p>
          <a:p xmlns:a="http://schemas.openxmlformats.org/drawingml/2006/main">
            <a:pPr marL="0" indent="0" algn="l">
              <a:buNone/>
            </a:pPr>
            <a:r>
              <a:rPr sz="930" b="1">
                <a:solidFill>
                  <a:srgbClr val="FF9F1C"/>
                </a:solidFill>
              </a:rPr>
              <a:t>Cubre ambos según el contrato legado.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2F9FBF3-49AB-4684-8BC7-E196A420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703320"/>
            <a:ext cx="3200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1C5B4"/>
                </a:solidFill>
              </a:rPr>
              <a:t>Attestations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1C5B4"/>
                </a:solidFill>
              </a:rPr>
              <a:t>Privado/interno requiere Enterprise Cloud.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66F8DF3-D24D-4056-870C-FC540ACD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703320"/>
            <a:ext cx="3200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4B86A"/>
                </a:solidFill>
              </a:rPr>
              <a:t>Medición de licencias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14B86A"/>
                </a:solidFill>
              </a:rPr>
              <a:t>Committers activos únicos en repos habilitados.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5CE5824-4A39-4C9B-A474-B582DE05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703320"/>
            <a:ext cx="3200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7B3FF2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7B3FF2"/>
                </a:solidFill>
              </a:rPr>
              <a:t>Herramientas OSS</a:t>
            </a:r>
          </a:p>
          <a:p xmlns:a="http://schemas.openxmlformats.org/drawingml/2006/main">
            <a:pPr marL="0" indent="0" algn="l">
              <a:buNone/>
            </a:pPr>
            <a:r>
              <a:rPr sz="1070" b="1">
                <a:solidFill>
                  <a:srgbClr val="7B3FF2"/>
                </a:solidFill>
              </a:rPr>
              <a:t>Sin SKU GitHub; mantener licencias, versiones y soporte.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E8BB9C4-1D17-47DE-9C08-D184A71D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784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5C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FFFFFF"/>
                </a:solidFill>
              </a:rPr>
              <a:t>Acción: confirmar GHEC vs GHES, SKUs, committers activos y presupuesto de Actions/runners.</a:t>
            </a:r>
          </a:p>
        </p:txBody>
      </p:sp>
    </p:spTree>
    <p:extLst>
      <p:ext uri="{BB962C8B-B14F-4D97-AF65-F5344CB8AC3E}">
        <p14:creationId xmlns:p14="http://schemas.microsoft.com/office/powerpoint/2010/main" val="696221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0E9F98"/>
                </a:solidFill>
              </a:rPr>
              <a:t>REQUISITOS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12213A"/>
                </a:solidFill>
              </a:rPr>
              <a:t>Además de licencias, el banco necesita plataforma y gobierno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526176"/>
                </a:solidFill>
              </a:rPr>
              <a:t>La adopción depende de runners, red, repositorio de artefactos, roles, políticas y métricas operativas.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758299"/>
                </a:solidFill>
              </a:rPr>
              <a:t>Fuentes: GitHub Docs · self-hosted runners · IP allow lists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758299"/>
                </a:solidFill>
              </a:rPr>
              <a:t>10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103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B86A"/>
                </a:solidFill>
              </a:rPr>
              <a:t>Plataforma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Runners aislados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Linux + Docker + Java 21; capacidad para 11 jobs en paralelo.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Red y registries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Egress a actions, registry y bases CVE; proxy y TLS.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Retención y evidencia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SARIF, logs, SBOM, attestations y artefactos.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24688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F476F"/>
                </a:solidFill>
              </a:rPr>
              <a:t>Operación y control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Reglas y roles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Rulesets, CODEOWNERS, Security Manager y dueños.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Secretos y despliegue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OIDC/Vault, mínimo privilegio y ambientes aprobados.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Excepciones y métricas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SLA, caducidad, p50/p95, cobertura y falsos positivos.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32120"/>
            <a:ext cx="9601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Con IP allow list: self-hosted o larger runners con IP estática; en GHES validar versión y catálogo de actions.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45E5EF-13A0-4B36-936D-4A1EDD48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11C5B4"/>
                </a:solidFill>
              </a:rPr>
              <a:t>ESCALA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7B0274-1571-4447-9C16-F81CEED2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FFFFFF"/>
                </a:solidFill>
              </a:rPr>
              <a:t>Un workflow reutilizable evita mantener once controles por equipo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89911-8559-4682-B388-F9917C3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C7D6EA"/>
                </a:solidFill>
              </a:rPr>
              <a:t>La plataforma entrega una plantilla versionada; Seguridad define políticas; cada producto consume el estándar sin copiar lógica.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AE6C50-3AE7-481A-A06F-115CBD90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Objetivo: plataforma central + políticas por riesgo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3A7FCF-1FA0-408D-9E55-B2D98DB7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11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DF4B75F-7563-424B-AF18-4B65C654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8CCE63-5395-4CC0-835F-6085EA52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Commit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pre-commit + push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788385C-2E45-4FC9-B7A3-4C486A60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55E63A7-5C99-41D6-B616-0EBC816E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PR rápido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plantilla central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6EFB4A3-FC34-4FBB-B030-14D7D303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EE2EC86-C92E-4D6B-9C6A-F831563C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Gate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ruleset + riesgo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6DA4FC0-72FB-4E1C-BBE6-2EC6D615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8F11F-3768-4961-A8D4-A7A226B8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Main profundo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DAST + supply chain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B9BF9DF-75DB-4FEA-935B-91CC9D09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Release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verify + deploy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01C0B21-E695-4CD5-AC5A-73ACA86E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0"/>
            <a:ext cx="102412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Plataforma gobierna la plantilla · Seguridad define umbrales · equipos adoptan una versión aprobada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70C3A38-25C4-40A5-8203-35143B4C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57784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C7D6EA"/>
                </a:solidFill>
              </a:rPr>
              <a:t>Siguiente nivel: reusable workflow aislado, actualización central y mayor madurez de procedencia.</a:t>
            </a:r>
          </a:p>
        </p:txBody>
      </p:sp>
    </p:spTree>
    <p:extLst>
      <p:ext uri="{BB962C8B-B14F-4D97-AF65-F5344CB8AC3E}">
        <p14:creationId xmlns:p14="http://schemas.microsoft.com/office/powerpoint/2010/main" val="797783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0E9F98"/>
                </a:solidFill>
              </a:rPr>
              <a:t>ALCANCE HONESTO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12213A"/>
                </a:solidFill>
              </a:rPr>
              <a:t>Lo verificado es útil; aún falta cerrar la prueba negativa bancaria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526176"/>
                </a:solidFill>
              </a:rPr>
              <a:t>La evidencia actual demuestra estabilización y camino verde. El PR con las cinco fallas intencionales está preparado, pero no quedó preservado como ejecución.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758299"/>
                </a:solidFill>
              </a:rPr>
              <a:t>Evidencia actual: PR #12/#13 · pendiente: PR demo/hallazgos-seguridad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758299"/>
                </a:solidFill>
              </a:rPr>
              <a:t>12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103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B86A"/>
                </a:solidFill>
              </a:rPr>
              <a:t>Verificado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PR #12 real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4 fallos iniciales → 0; merge después de corregir.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Flujo final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7 workflows / 11 jobs; promedio reciente 2m22.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Artefacto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14B86A"/>
                </a:solidFill>
              </a:rPr>
              <a:t>Imagen escaneada; SBOM y attestations en main.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24688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F476F"/>
                </a:solidFill>
              </a:rPr>
              <a:t>Antes de producción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Demo negativa controlada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Abrir PR con 5 fallas y conservar la evidencia.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Entorno del banco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Validar SKUs, runners, red, registry y políticas.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Seguridad de aplicación</a:t>
            </a:r>
          </a:p>
          <a:p xmlns:a="http://schemas.openxmlformats.org/drawingml/2006/main">
            <a:pPr marL="0" indent="0" algn="l">
              <a:buNone/>
            </a:pPr>
            <a:r>
              <a:rPr sz="980" b="1">
                <a:solidFill>
                  <a:srgbClr val="EF476F"/>
                </a:solidFill>
              </a:rPr>
              <a:t>IAM, cifrado, WAF, SOC, resiliencia y privacidad.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32120"/>
            <a:ext cx="9601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La demo prueba una baseline DevSecOps; no equivale a certificar una arquitectura bancaria completa.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95C7B2-28FA-4E32-88C8-436736E7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 b="1">
                <a:solidFill>
                  <a:srgbClr val="11C5B4"/>
                </a:solidFill>
              </a:rPr>
              <a:t>DECISIÓN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7B1819-15DA-48D3-B669-2CABCFEB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50" b="1">
                <a:solidFill>
                  <a:srgbClr val="FFFFFF"/>
                </a:solidFill>
              </a:rPr>
              <a:t>Propuesta: piloto privado de cuatro semanas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2A9A52-04A6-42A9-9509-6E7B5C83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80">
                <a:solidFill>
                  <a:srgbClr val="C7D6EA"/>
                </a:solidFill>
              </a:rPr>
              <a:t>El objetivo es validar encaje contractual y operativo con dos servicios del banco, métricas y una prueba negativa controlada.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ADF991F-1DFA-4AA7-A6F7-87CC442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8EA7C7"/>
                </a:solidFill>
              </a:rPr>
              <a:t>Decisión solicitada · Seguridad + Plataforma + Desarrollo + Riesgo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531A71E-3EA7-49F3-AB18-638344D2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8EA7C7"/>
                </a:solidFill>
              </a:rPr>
              <a:t>13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E797CC4-1B62-4B5A-85D3-3E4EB745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5669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C5B4"/>
                </a:solidFill>
              </a:rPr>
              <a:t>Aprobar con condiciones claras.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A8177C-B608-4517-BA76-DA4ECA4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</a:rPr>
              <a:t>Semanas 1–2: inventario, licencias, runners y plantilla.</a:t>
            </a:r>
          </a:p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</a:rPr>
              <a:t>Semanas 3–4: dos servicios, prueba negativa y métricas p50/p95.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FF7F2F1-FCA9-492F-A333-2218BB14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965960"/>
            <a:ext cx="23774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Éxito 1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PR crítico ≤5 min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6AF338-8FD7-4205-B094-2F41379A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971800"/>
            <a:ext cx="23774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Éxito 2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100% gates y evidencia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B25408C-29E4-42F8-BE5C-6E580749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977640"/>
            <a:ext cx="23774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9303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Éxito 3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Excepciones con dueño y fecha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2C6AB56-5AD6-4943-8111-FD33C24F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106070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Asignar responsables, validar Code Security / Secret Protection y decidir escala con evidencia de tiempo, costo y riesgo.</a:t>
            </a:r>
          </a:p>
        </p:txBody>
      </p:sp>
    </p:spTree>
    <p:extLst>
      <p:ext uri="{BB962C8B-B14F-4D97-AF65-F5344CB8AC3E}">
        <p14:creationId xmlns:p14="http://schemas.microsoft.com/office/powerpoint/2010/main" val="8382623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2026-07-10T15:33:34.2230000Z</dcterms:created>
  <dcterms:modified xsi:type="dcterms:W3CDTF">2026-07-10T15:33:34.2230000Z</dcterms:modified>
</coreProperties>
</file>