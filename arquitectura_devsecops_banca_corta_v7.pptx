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6c6219ed124886" /><Relationship Type="http://schemas.openxmlformats.org/officeDocument/2006/relationships/extended-properties" Target="/docProps/app.xml" Id="R1327a918efd542e0" /><Relationship Type="http://schemas.openxmlformats.org/officeDocument/2006/relationships/officeDocument" Target="/ppt/presentation.xml" Id="Rb3e605b8f5314a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a7fb56122241d6"/>
  </p:sldMasterIdLst>
  <p:notesMasterIdLst>
    <p:notesMasterId xmlns:r="http://schemas.openxmlformats.org/officeDocument/2006/relationships" r:id="Rc576c2fe7fa94f09"/>
  </p:notesMasterIdLst>
  <p:sldIdLst>
    <p:sldId xmlns:r="http://schemas.openxmlformats.org/officeDocument/2006/relationships" id="256" r:id="Raa2bd8edfc5b4103"/>
    <p:sldId xmlns:r="http://schemas.openxmlformats.org/officeDocument/2006/relationships" id="257" r:id="R3dd0cde68b3b4e14"/>
    <p:sldId xmlns:r="http://schemas.openxmlformats.org/officeDocument/2006/relationships" id="258" r:id="Rbc18f93bb3724d40"/>
    <p:sldId xmlns:r="http://schemas.openxmlformats.org/officeDocument/2006/relationships" id="259" r:id="R56e257de006b45e8"/>
    <p:sldId xmlns:r="http://schemas.openxmlformats.org/officeDocument/2006/relationships" id="260" r:id="Rfad0c7db58d444aa"/>
    <p:sldId xmlns:r="http://schemas.openxmlformats.org/officeDocument/2006/relationships" id="261" r:id="R02de9160686d47f3"/>
    <p:sldId xmlns:r="http://schemas.openxmlformats.org/officeDocument/2006/relationships" id="262" r:id="Rf5ee70f004564661"/>
    <p:sldId xmlns:r="http://schemas.openxmlformats.org/officeDocument/2006/relationships" id="263" r:id="R2250cd693b394fb9"/>
    <p:sldId xmlns:r="http://schemas.openxmlformats.org/officeDocument/2006/relationships" id="264" r:id="R091ee2c129af41c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18563a8dce42c7" /><Relationship Type="http://schemas.openxmlformats.org/officeDocument/2006/relationships/slideMaster" Target="/ppt/slideMasters/slideMaster1.xml" Id="R68a7fb56122241d6" /><Relationship Type="http://schemas.openxmlformats.org/officeDocument/2006/relationships/notesMaster" Target="/ppt/notesMasters/notesMaster1.xml" Id="Rc576c2fe7fa94f09" /><Relationship Type="http://schemas.openxmlformats.org/officeDocument/2006/relationships/presProps" Target="/ppt/presProps.xml" Id="Rf3cfe87d86954bb7" /><Relationship Type="http://schemas.openxmlformats.org/officeDocument/2006/relationships/viewProps" Target="/ppt/viewProps.xml" Id="Ra6ef1ac2c24e4987" /><Relationship Type="http://schemas.openxmlformats.org/officeDocument/2006/relationships/tableStyles" Target="/ppt/tableStyles.xml" Id="Rea0735a7f6dd4eb1" /><Relationship Type="http://schemas.openxmlformats.org/officeDocument/2006/relationships/slide" Target="/ppt/slides/slide1.xml" Id="Raa2bd8edfc5b4103" /><Relationship Type="http://schemas.openxmlformats.org/officeDocument/2006/relationships/slide" Target="/ppt/slides/slide2.xml" Id="R3dd0cde68b3b4e14" /><Relationship Type="http://schemas.openxmlformats.org/officeDocument/2006/relationships/slide" Target="/ppt/slides/slide3.xml" Id="Rbc18f93bb3724d40" /><Relationship Type="http://schemas.openxmlformats.org/officeDocument/2006/relationships/slide" Target="/ppt/slides/slide4.xml" Id="R56e257de006b45e8" /><Relationship Type="http://schemas.openxmlformats.org/officeDocument/2006/relationships/slide" Target="/ppt/slides/slide5.xml" Id="Rfad0c7db58d444aa" /><Relationship Type="http://schemas.openxmlformats.org/officeDocument/2006/relationships/slide" Target="/ppt/slides/slide6.xml" Id="R02de9160686d47f3" /><Relationship Type="http://schemas.openxmlformats.org/officeDocument/2006/relationships/slide" Target="/ppt/slides/slide7.xml" Id="Rf5ee70f004564661" /><Relationship Type="http://schemas.openxmlformats.org/officeDocument/2006/relationships/slide" Target="/ppt/slides/slide8.xml" Id="R2250cd693b394fb9" /><Relationship Type="http://schemas.openxmlformats.org/officeDocument/2006/relationships/slide" Target="/ppt/slides/slide9.xml" Id="R091ee2c129af41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771ecbb5cb4d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d7b7e263934efa" /><Relationship Type="http://schemas.openxmlformats.org/officeDocument/2006/relationships/notesMaster" Target="/ppt/notesMasters/notesMaster1.xml" Id="Ra669a94579fe44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d2f752656e4a4e" /><Relationship Type="http://schemas.openxmlformats.org/officeDocument/2006/relationships/notesMaster" Target="/ppt/notesMasters/notesMaster1.xml" Id="Rec6ce2eb01fa40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e24795e4ce4f56" /><Relationship Type="http://schemas.openxmlformats.org/officeDocument/2006/relationships/notesMaster" Target="/ppt/notesMasters/notesMaster1.xml" Id="Ra5d84a8a79db4b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f9f280da074ab6" /><Relationship Type="http://schemas.openxmlformats.org/officeDocument/2006/relationships/notesMaster" Target="/ppt/notesMasters/notesMaster1.xml" Id="R00e52c6f3a2d41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8e99cb0364465c" /><Relationship Type="http://schemas.openxmlformats.org/officeDocument/2006/relationships/notesMaster" Target="/ppt/notesMasters/notesMaster1.xml" Id="Ra48b32ae8b894c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f11cf53eb14c52" /><Relationship Type="http://schemas.openxmlformats.org/officeDocument/2006/relationships/notesMaster" Target="/ppt/notesMasters/notesMaster1.xml" Id="R8adbaeaee2e44c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fd4a5dfddf4eff" /><Relationship Type="http://schemas.openxmlformats.org/officeDocument/2006/relationships/notesMaster" Target="/ppt/notesMasters/notesMaster1.xml" Id="Rdb54fe3d1e144a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bc6e92289c4ffd" /><Relationship Type="http://schemas.openxmlformats.org/officeDocument/2006/relationships/notesMaster" Target="/ppt/notesMasters/notesMaster1.xml" Id="R09d8676b0a7748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07ff238f754e59" /><Relationship Type="http://schemas.openxmlformats.org/officeDocument/2006/relationships/notesMaster" Target="/ppt/notesMasters/notesMaster1.xml" Id="R4993e38d1a164b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Apertura: presentarme brevemente: Soy Carlos Enrique Leon Vela, Ingeniero de Sistemas y Magister en Inteligencia Artificial. El objetivo no es vender un CRUD, sino una capacidad DevSecOps reutilizable para banca. Mencionar certificaciones solo como respaldo, no leerlas una por una.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diapositiva establece el nivel ejecutivo: riesgo, solución y resultado. Evitar entrar todavía en herramientas.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en lenguaje simple: si alguien introduce una vulnerabilidad, el pipeline marca el check; si ese check es obligatorio, el PR no entra a main.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profundizar demasiado aquí: esta diapositiva demuestra dominio general. Luego las siguientes dan contexto capa por capa.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una diapositiva para vender. Decir: es robusta porque no tiene un solo punto de control; combina prevención, detección, bloqueo y evidencia.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diapositiva te protege: no prometes magia. Demuestras criterio de líder: beneficio, riesgo y mitigación.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Aquí debes decir: el banco ya invirtió en GitHub Enterprise. Esta propuesta busca sacarle mayor valor, pero hay que confirmar qué módulos avanzados están habilitados.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Preparar la demo con un PR inseguro. No improvisar. Mostrar 1) check rojo, 2) evidencia, 3) corrección.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sin fechas. Pedir validación del piloto y definición de estándar mínimo.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7d0da4eb8461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d93bc7a0994c63" /><Relationship Type="http://schemas.openxmlformats.org/officeDocument/2006/relationships/slideLayout" Target="/ppt/slideLayouts/slideLayout1.xml" Id="Rb296f8cd3df9408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96f8cd3df94083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c07a73cd94637" /><Relationship Type="http://schemas.openxmlformats.org/officeDocument/2006/relationships/notesSlide" Target="/ppt/notesSlides/notesSlide1.xml" Id="Ra2c493b3dc344c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17e3ba2fd4d62" /><Relationship Type="http://schemas.openxmlformats.org/officeDocument/2006/relationships/notesSlide" Target="/ppt/notesSlides/notesSlide2.xml" Id="R80f5c2bb6a4a46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7a87a0dda4fde" /><Relationship Type="http://schemas.openxmlformats.org/officeDocument/2006/relationships/notesSlide" Target="/ppt/notesSlides/notesSlide3.xml" Id="R2ebd01d21fca49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af9cac9f644dc" /><Relationship Type="http://schemas.openxmlformats.org/officeDocument/2006/relationships/notesSlide" Target="/ppt/notesSlides/notesSlide4.xml" Id="R5773987a1d9749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f7af08f814929" /><Relationship Type="http://schemas.openxmlformats.org/officeDocument/2006/relationships/notesSlide" Target="/ppt/notesSlides/notesSlide5.xml" Id="R4cdb8ac933c142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da4ed6f33461e" /><Relationship Type="http://schemas.openxmlformats.org/officeDocument/2006/relationships/notesSlide" Target="/ppt/notesSlides/notesSlide6.xml" Id="R7b5b0c6315b94f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646007cd64cc7" /><Relationship Type="http://schemas.openxmlformats.org/officeDocument/2006/relationships/notesSlide" Target="/ppt/notesSlides/notesSlide7.xml" Id="R373401086c094f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4456d06f94508" /><Relationship Type="http://schemas.openxmlformats.org/officeDocument/2006/relationships/notesSlide" Target="/ppt/notesSlides/notesSlide8.xml" Id="Rdda15301504d4e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e822613d2473a" /><Relationship Type="http://schemas.openxmlformats.org/officeDocument/2006/relationships/notesSlide" Target="/ppt/notesSlides/notesSlide9.xml" Id="R01d47b1bbab944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A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E5D72D9-6452-4653-A6F9-D8352481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8EA7C7"/>
                </a:solidFill>
              </a:rPr>
              <a:t>Seguridad DevSecOps para banca - Carlos Enrique León Vela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52D199-C243-4947-88AC-B74BE9A0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8EA7C7"/>
                </a:solidFill>
              </a:rPr>
              <a:t>1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B81CB7-3035-44CF-95DC-0CCEDDA3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40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11C5B4"/>
                </a:solidFill>
              </a:rPr>
              <a:t>PROPUESTA EJECUTIVA - SEGURIDAD DE SOFTWARE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2BD457E-952F-4AA8-89BB-FC4514D0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960120"/>
            <a:ext cx="603504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700" b="1">
                <a:solidFill>
                  <a:srgbClr val="FFFFFF"/>
                </a:solidFill>
              </a:rPr>
              <a:t>Seguridad DevSecOps</a:t>
            </a:r>
          </a:p>
          <a:p xmlns:a="http://schemas.openxmlformats.org/drawingml/2006/main">
            <a:pPr marL="0" indent="0" algn="l">
              <a:buNone/>
            </a:pPr>
            <a:r>
              <a:rPr sz="3700" b="1">
                <a:solidFill>
                  <a:srgbClr val="FFFFFF"/>
                </a:solidFill>
              </a:rPr>
              <a:t>para banca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06BC1B5-3309-4156-93D2-C16418DF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70048"/>
            <a:ext cx="6629400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>
                <a:solidFill>
                  <a:srgbClr val="C7D6EA"/>
                </a:solidFill>
              </a:rPr>
              <a:t>Siete controles automáticos, gobierno del Pull Request y evidencia verificable para decidir riesgo antes de producción.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4194E3-D648-461D-A614-33FE314C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60120"/>
            <a:ext cx="365760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Carlos Enrique León Vela</a:t>
            </a:r>
          </a:p>
          <a:p xmlns:a="http://schemas.openxmlformats.org/drawingml/2006/main">
            <a:pPr algn="l">
              <a:buNone/>
            </a:pPr>
            <a:r>
              <a:rPr sz="1200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Ingeniero</a:t>
            </a:r>
            <a:r>
              <a:rPr sz="1200">
                <a:solidFill>
                  <a:srgbClr val="FFFFFF"/>
                </a:solidFill>
                <a:latin typeface="Aptos"/>
                <a:ea typeface="Aptos"/>
                <a:cs typeface="Aptos"/>
              </a:rPr>
              <a:t> de </a:t>
            </a:r>
            <a:r>
              <a:rPr sz="1200">
                <a:solidFill>
                  <a:srgbClr val="FFFFFF"/>
                </a:solidFill>
                <a:latin typeface="Aptos"/>
                <a:ea typeface="Aptos"/>
                <a:cs typeface="Aptos"/>
              </a:rPr>
              <a:t>Sistemas</a:t>
            </a:r>
          </a:p>
          <a:p xmlns:a="http://schemas.openxmlformats.org/drawingml/2006/main">
            <a:pPr algn="l">
              <a:buNone/>
            </a:pPr>
            <a:r>
              <a:rPr sz="1200">
                <a:solidFill>
                  <a:srgbClr val="FFFFFF"/>
                </a:solidFill>
                <a:latin typeface="Aptos"/>
                <a:ea typeface="Aptos"/>
                <a:cs typeface="Aptos"/>
              </a:rPr>
              <a:t>Maestría en Inteligencia Artificial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777AE5-7800-43F6-81FE-91E18D14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1979"/>
            <a:ext cx="157276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54864" tIns="27432" rIns="54864" bIns="27432" anchor="ctr">
            <a:normAutofit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 Copilot</a:t>
            </a:r>
          </a:p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Professional (GH-900)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88984C5-4A26-49C1-987E-6A38626B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310128"/>
            <a:ext cx="157276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54864" tIns="27432" rIns="54864" bIns="27432" anchor="ctr">
            <a:normAutofit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ISO 27001</a:t>
            </a:r>
          </a:p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 Auditor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8EE57CF-151B-42C8-BB00-ED558B2C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807208"/>
            <a:ext cx="157276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54864" tIns="27432" rIns="54864" bIns="27432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 Cybersecurity</a:t>
            </a:r>
          </a:p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Professional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84904E9-4118-4736-AF26-CDE30718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1979"/>
            <a:ext cx="157276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54864" tIns="27432" rIns="54864" bIns="27432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 Actions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CA955E6-17C7-4D18-A85E-9D83ECE6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075" y="2839212"/>
            <a:ext cx="157276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54864" tIns="27432" rIns="54864" bIns="27432" anchor="ctr">
            <a:normAutofit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DevOps Advanced</a:t>
            </a:r>
          </a:p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Professional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813F9-5C99-4F3F-B970-ECC68CE3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310128"/>
            <a:ext cx="157276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54864" tIns="27432" rIns="54864" bIns="27432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Ethical Hacking</a:t>
            </a:r>
          </a:p>
          <a:p xmlns:a="http://schemas.openxmlformats.org/drawingml/2006/main">
            <a:pPr algn="ctr">
              <a:buNone/>
            </a:pPr>
            <a:r>
              <a:rPr sz="919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seguridad ofensiva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60E23DD-B7DF-4E5D-8491-F56F0466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074920"/>
            <a:ext cx="23317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7 capas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defensa en profundidad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0B3651-2DA9-40CF-B2A6-119086C2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5074920"/>
            <a:ext cx="23317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GitHub Enterprise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aprovechamiento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2599092-01DF-4CC9-80B6-25563F49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74920"/>
            <a:ext cx="23317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SBOM + procedencia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auditoría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00F443-ECA5-41D7-8775-6DAEE4A6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9992" y="5074920"/>
            <a:ext cx="23317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PR protegido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gobierno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7CC96EC-25A1-4A4F-95C8-CA1A6EEB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952" y="2002536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>
                <a:solidFill>
                  <a:srgbClr val="D0D5DD"/>
                </a:solidFill>
                <a:latin typeface="Aptos"/>
                <a:ea typeface="Aptos"/>
                <a:cs typeface="Aptos"/>
              </a:rPr>
              <a:t>Respaldo profesional relevante</a:t>
            </a:r>
          </a:p>
        </p:txBody>
      </p:sp>
    </p:spTree>
    <p:extLst>
      <p:ext uri="{BB962C8B-B14F-4D97-AF65-F5344CB8AC3E}">
        <p14:creationId xmlns:p14="http://schemas.microsoft.com/office/powerpoint/2010/main" val="854835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03CB770-7FE9-44E7-A2C2-62F49480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0E9F98"/>
                </a:solidFill>
              </a:rPr>
              <a:t>MENSAJE CENTRAL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67959E8-DAD9-4344-9884-97034EA3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12213A"/>
                </a:solidFill>
              </a:rPr>
              <a:t>La seguridad se convierte en una decisión automática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B4E15C8-0006-48B5-86BF-45DB3314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526176"/>
                </a:solidFill>
              </a:rPr>
              <a:t>Cada cambio se evalúa con reglas claras: si supera el umbral, no avanza sin corrección o excepción aprobada.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8665BD4-7BB5-4C7A-AB6E-912E2745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758299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D802E72-8F75-4C0F-BED6-BBC4F2E7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758299"/>
                </a:solidFill>
              </a:rPr>
              <a:t>2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89DFC7-7DBB-43FD-9913-FC195EDB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2011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4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EF476F"/>
                </a:solidFill>
              </a:rPr>
              <a:t>Sin gobierno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23F817F-BCB7-46F9-B021-8440A19C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43200"/>
            <a:ext cx="29260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2213A"/>
                </a:solidFill>
              </a:rPr>
              <a:t>El escáner alerta,</a:t>
            </a:r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2213A"/>
                </a:solidFill>
              </a:rPr>
              <a:t>pero el riesgo puede avanzar.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9AD7D7E-AF10-48AF-95AC-FD8E2F40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55264"/>
            <a:ext cx="1005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A5B2C3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C78BCE-EA76-4369-8193-BF18FB43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BF8"/>
          </a:solidFill>
          <a:ln xmlns:a="http://schemas.openxmlformats.org/drawingml/2006/main" w="10160">
            <a:solidFill>
              <a:srgbClr val="0E9F9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E9F98"/>
                </a:solidFill>
              </a:rPr>
              <a:t>Con política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873C061-9D82-4A7C-AEC0-4C8A25B7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43200"/>
            <a:ext cx="31546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E9F9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2213A"/>
                </a:solidFill>
              </a:rPr>
              <a:t>El umbral falla el check</a:t>
            </a:r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2213A"/>
                </a:solidFill>
              </a:rPr>
              <a:t>y el ruleset bloquea.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BB2634A-FDD9-4C33-8C54-29388B55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55264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A5B2C3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DD3F573-CE0A-4780-8C92-8A40F85B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4884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2454C6"/>
                </a:solidFill>
              </a:rPr>
              <a:t>Con evidencia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ED8122D-81B4-4EDF-BB16-9ADEB6AD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743200"/>
            <a:ext cx="2743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2213A"/>
                </a:solidFill>
              </a:rPr>
              <a:t>Corrección o excepción</a:t>
            </a:r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2213A"/>
                </a:solidFill>
              </a:rPr>
              <a:t>quedan trazables.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4DB648F-A9BD-430C-85F9-0C4BF95A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074920"/>
            <a:ext cx="923544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A34"/>
          </a:solidFill>
          <a:ln xmlns:a="http://schemas.openxmlformats.org/drawingml/2006/main" w="10160">
            <a:solidFill>
              <a:srgbClr val="061A3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FFFFFF"/>
                </a:solidFill>
              </a:rPr>
              <a:t>Resultado: avanzar más rápido sin perder control ni responsabilidad.</a:t>
            </a:r>
          </a:p>
        </p:txBody>
      </p:sp>
    </p:spTree>
    <p:extLst>
      <p:ext uri="{BB962C8B-B14F-4D97-AF65-F5344CB8AC3E}">
        <p14:creationId xmlns:p14="http://schemas.microsoft.com/office/powerpoint/2010/main" val="11310122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A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845E5EF-13A0-4B36-936D-4A1EDD48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11C5B4"/>
                </a:solidFill>
              </a:rPr>
              <a:t>FLUJO OPERATIVO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97B0274-1571-4447-9C16-F81CEED2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FFFFFF"/>
                </a:solidFill>
              </a:rPr>
              <a:t>Un cambio solo avanza cuando demuestra que cumple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389911-8559-4682-B388-F9917C35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C7D6EA"/>
                </a:solidFill>
              </a:rPr>
              <a:t>El pipeline evalúa código, dependencias, infraestructura, imagen y aplicación con umbrales definidos.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9AE6C50-3AE7-481A-A06F-115CBD90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8EA7C7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33A7FCF-1FA0-408D-9E55-B2D98DB7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8EA7C7"/>
                </a:solidFill>
              </a:rPr>
              <a:t>3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DF4B75F-7563-424B-AF18-4B65C654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3291840"/>
            <a:ext cx="5120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28CCE63-5395-4CC0-835F-6085EA52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1481328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Commit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secretos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788385C-2E45-4FC9-B7A3-4C486A60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291840"/>
            <a:ext cx="5120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55E63A7-5C99-41D6-B616-0EBC816E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34640"/>
            <a:ext cx="1481328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PR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código + dependencias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6EFB4A3-FC34-4FBB-B030-14D7D303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291840"/>
            <a:ext cx="5120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EE2EC86-C92E-4D6B-9C6A-F831563C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834640"/>
            <a:ext cx="1481328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Build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pruebas + imagen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6DA4FC0-72FB-4E1C-BBE6-2EC6D61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3291840"/>
            <a:ext cx="5120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78F11F-3768-4961-A8D4-A7A226B8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834640"/>
            <a:ext cx="1481328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Gate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Trivy + SBOM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B9BF9DF-75DB-4FEA-935B-91CC9D09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834640"/>
            <a:ext cx="1481328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FF9F1C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Release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attestation + DAST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01C0B21-E695-4CD5-AC5A-73ACA86E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0"/>
            <a:ext cx="10241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</a:rPr>
              <a:t>Gobierno: ruleset + code scanning + CODEOWNERS + acciones fijadas por SHA + excepciones con caducidad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70C3A38-25C4-40A5-8203-35143B4C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577840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C7D6EA"/>
                </a:solidFill>
              </a:rPr>
              <a:t>La decisión queda unida al Pull Request, al artefacto y a la evidencia; no depende de una revisión informal.</a:t>
            </a:r>
          </a:p>
        </p:txBody>
      </p:sp>
    </p:spTree>
    <p:extLst>
      <p:ext uri="{BB962C8B-B14F-4D97-AF65-F5344CB8AC3E}">
        <p14:creationId xmlns:p14="http://schemas.microsoft.com/office/powerpoint/2010/main" val="7977837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3E58FA-F33F-4372-AA9F-32382BF7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0E9F98"/>
                </a:solidFill>
              </a:rPr>
              <a:t>CONTROLES EN SIMPLE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E1CFEF-5734-48D7-BE88-3BE8CF76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12213A"/>
                </a:solidFill>
              </a:rPr>
              <a:t>Las 7 capas: qué controlan y cómo protegen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C8510F-E883-4E9E-82DF-456C6B0A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526176"/>
                </a:solidFill>
              </a:rPr>
              <a:t>Una sola vista para explicar el riesgo, la herramienta y la decisión automática.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B8292A1-1476-4D75-8F47-1F3A4E45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758299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60F9D5D-8644-46E5-A3F7-505C7BA5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758299"/>
                </a:solidFill>
              </a:rPr>
              <a:t>4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AF4ADCB-9602-4DC0-A480-143EDC2D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965960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76F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81E0F71-9189-4597-A9A8-4B89D872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198424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Secretos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80E691B-0C05-4F53-B176-AB220E5A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984248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EF476F"/>
                </a:solidFill>
              </a:rPr>
              <a:t>Gitleaks / Secret Scanning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DC9EB3C-CB41-46E6-B37F-16FC6A16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1965960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Credenciales y llaves expuestas.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D20D5BD-7E60-4CA4-B6CD-9C79A285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965960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Detecta en commits; Push Protection evita que entren.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6FE9C98-D523-46B0-B8E3-D28C9C90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32888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BB437CC-B5E1-4C26-8A7F-193A2787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33472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3FF2"/>
          </a:solidFill>
          <a:ln xmlns:a="http://schemas.openxmlformats.org/drawingml/2006/main" w="10160">
            <a:solidFill>
              <a:srgbClr val="7B3FF2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2BAFCD9-6690-4E8D-B267-343477CE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265176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SAST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F98AADA-4A20-4B02-81CC-1D591A6D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651760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7B3FF2"/>
                </a:solidFill>
              </a:rPr>
              <a:t>CodeQL / Semgrep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55B2FC-5DDC-4FF2-98F4-39DA05B7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2633472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Código vulnerable o inseguro.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5AA8482-3E31-4B8B-99A2-80B4540F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2633472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CodeQL analiza flujo; Semgrep aplica reglas y bloquea.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0789811-792F-4E27-99A6-A3D0C878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200400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0B455F0-C06A-49D1-AD69-5596DC96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00984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F1C"/>
          </a:solidFill>
          <a:ln xmlns:a="http://schemas.openxmlformats.org/drawingml/2006/main" w="10160">
            <a:solidFill>
              <a:srgbClr val="FF9F1C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2D438C3-346B-4074-ADE2-D8A91C14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319272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SCA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A0D9610-9B0D-4D2A-AEA2-3D481ADC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331927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FF9F1C"/>
                </a:solidFill>
              </a:rPr>
              <a:t>Dependabot / Review / Trivy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34D4D23-FE4F-47F8-9E5D-352E8993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300984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Dependencias con CVE altas o críticas.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3D5667-AC85-49D1-86C6-4E927074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300984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Review y Trivy fallan; Dependabot propone corrección.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3BD73C7-F261-4952-92DE-F749B811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67912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FD57076-AF08-4411-989A-4CB8815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968496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C6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5A144CA-82EB-44E4-8644-B27644B6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986784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Contenedor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882C4DD-DF14-4094-ACA8-426F5F45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3986784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2454C6"/>
                </a:solidFill>
              </a:rPr>
              <a:t>Trivy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D4326C7-2F35-47E6-8FDC-0155297A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968496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CVEs del sistema operativo y la imagen.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253A894-CDE3-4B73-944A-4B3EBAFD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Trivy aprueba antes de publicar la imagen.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3649944-CDC8-460A-9745-62A9CA88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BF14E21-4696-45E2-AE3C-54E0972E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636008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8"/>
          </a:solidFill>
          <a:ln xmlns:a="http://schemas.openxmlformats.org/drawingml/2006/main" w="10160">
            <a:solidFill>
              <a:srgbClr val="0E9F98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AE000A6-6632-44E8-B6F6-AAB7CDC7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4654296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IaC / K8s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3B16F45-0493-47AA-B883-A9F6C04D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4654296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0E9F98"/>
                </a:solidFill>
              </a:rPr>
              <a:t>Checkov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514D1D2-9F6E-484E-A9CC-2377EC2C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4636008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Privilegios y exposición en Kubernetes.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9B5965F1-20FE-458F-8D48-DC2DA9E5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4636008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Checkov falla configuraciones fuera de política.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73301262-37A1-4527-9C04-2A84B4E1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02936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D86F019-CFDC-46CF-8943-2BCF1D68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03520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76F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669D72C-DCC1-4AB7-8DD4-94FE94FE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3218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DAST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4DB68BCC-770E-40B0-B8D8-A0DFE6BA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5321808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EF476F"/>
                </a:solidFill>
              </a:rPr>
              <a:t>OWASP ZAP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29E92E8A-D009-4B32-B5C1-4B2EBE27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5303520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Fallas visibles con la aplicación viva.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706C479B-4DE9-4EA0-90F9-B6566E81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5303520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ZAP prueba HTTP y falla alertas no aceptadas.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63E23E5C-EFDB-44AB-91BE-8B08D7D5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870448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C6BAF5A-7CF1-44A9-94CA-F1F1A349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971032"/>
            <a:ext cx="5029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6A"/>
          </a:solidFill>
          <a:ln xmlns:a="http://schemas.openxmlformats.org/drawingml/2006/main" w="10160">
            <a:solidFill>
              <a:srgbClr val="14B86A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14EC773-BC76-45D9-8185-B54AD910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98932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12213A"/>
                </a:solidFill>
              </a:rPr>
              <a:t>Cadena suministro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0B9F55B8-5A63-40C4-9E97-CB8362CE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5989320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14B86A"/>
                </a:solidFill>
              </a:rPr>
              <a:t>Syft + Attestations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C9301743-021C-4F7B-9679-153C0C95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5971032"/>
            <a:ext cx="246888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Componentes y origen del artefacto.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6ED378CA-CF10-44CC-82C9-AC2E6069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5971032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>
                <a:solidFill>
                  <a:srgbClr val="526176"/>
                </a:solidFill>
              </a:rPr>
              <a:t>Syft genera SBOM; attestation declara procedencia L2.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B6422C27-9903-4AA8-A8F1-47F51368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37960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8E1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5149815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B11BB8-919C-4F28-B175-82E12FFE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0E9F98"/>
                </a:solidFill>
              </a:rPr>
              <a:t>EVALUACIÓN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EBFC14-4C44-4639-97C8-F35F5B82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12213A"/>
                </a:solidFill>
              </a:rPr>
              <a:t>Sí encaja en banca como base DevSecOps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E0773D8-4A21-4EE9-BB17-A52F0AEF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526176"/>
                </a:solidFill>
              </a:rPr>
              <a:t>Es robusta para gobernar cambios y evidencia; no reemplaza IAM, protección de datos ni controles de operación.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D22635-A465-49F6-BF68-AF7DE7D5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758299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CB990E0-2F87-4AD0-897D-3B48DDB0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758299"/>
                </a:solidFill>
              </a:rPr>
              <a:t>5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1C09DB0-B7DA-486E-B1B1-38D04591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48840"/>
            <a:ext cx="480060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E9F98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0E9F98"/>
                </a:solidFill>
              </a:rPr>
              <a:t>Cobertura complementaria</a:t>
            </a:r>
            <a:br>
              <a:rPr sz="1120" b="1">
                <a:solidFill>
                  <a:srgbClr val="0E9F98"/>
                </a:solidFill>
              </a:rPr>
            </a:br>
            <a:r>
              <a:rPr sz="1120">
                <a:solidFill>
                  <a:srgbClr val="526176"/>
                </a:solidFill>
              </a:rPr>
              <a:t>Secretos, código, dependencias, imagen, IaC, DAST y procedencia cubren riesgos distintos.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98FCBE9-03B5-4961-949B-F036B9A1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48840"/>
            <a:ext cx="480060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2454C6"/>
                </a:solidFill>
              </a:rPr>
              <a:t>Gates reales</a:t>
            </a:r>
            <a:br>
              <a:rPr sz="1120" b="1">
                <a:solidFill>
                  <a:srgbClr val="2454C6"/>
                </a:solidFill>
              </a:rPr>
            </a:br>
            <a:r>
              <a:rPr sz="1120">
                <a:solidFill>
                  <a:srgbClr val="526176"/>
                </a:solidFill>
              </a:rPr>
              <a:t>Gitleaks, Semgrep, Trivy, Checkov, Review y ZAP fallan; el ruleset impide el merge.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BC650A3-B39D-4B16-AE93-EEF7BDF7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66160"/>
            <a:ext cx="480060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14B86A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4B86A"/>
                </a:solidFill>
              </a:rPr>
              <a:t>Evidencia auditable</a:t>
            </a:r>
            <a:br>
              <a:rPr sz="1120" b="1">
                <a:solidFill>
                  <a:srgbClr val="14B86A"/>
                </a:solidFill>
              </a:rPr>
            </a:br>
            <a:r>
              <a:rPr sz="1120">
                <a:solidFill>
                  <a:srgbClr val="526176"/>
                </a:solidFill>
              </a:rPr>
              <a:t>Checks, SARIF, SBOM, digest y attestations dejan trazabilidad de cada decisión.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6663649-FD84-4979-AE59-3DAA0F60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566160"/>
            <a:ext cx="480060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FF9F1C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FF9F1C"/>
                </a:solidFill>
              </a:rPr>
              <a:t>Límite de alcance</a:t>
            </a:r>
            <a:br>
              <a:rPr sz="1120" b="1">
                <a:solidFill>
                  <a:srgbClr val="FF9F1C"/>
                </a:solidFill>
              </a:rPr>
            </a:br>
            <a:r>
              <a:rPr sz="1120">
                <a:solidFill>
                  <a:srgbClr val="526176"/>
                </a:solidFill>
              </a:rPr>
              <a:t>Faltan IAM, cifrado/llaves, privacidad, WAF/API gateway, SOC, resiliencia y excepciones formales.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B5CCF35-68EB-4992-93AB-25E1520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49240"/>
            <a:ext cx="98755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A34"/>
          </a:solidFill>
          <a:ln xmlns:a="http://schemas.openxmlformats.org/drawingml/2006/main" w="10160">
            <a:solidFill>
              <a:srgbClr val="061A3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30" b="1">
                <a:solidFill>
                  <a:srgbClr val="FFFFFF"/>
                </a:solidFill>
              </a:rPr>
              <a:t>Veredicto: robusta como baseline DevSecOps; insuficiente por sí sola como arquitectura bancaria integral.</a:t>
            </a:r>
          </a:p>
        </p:txBody>
      </p:sp>
    </p:spTree>
    <p:extLst>
      <p:ext uri="{BB962C8B-B14F-4D97-AF65-F5344CB8AC3E}">
        <p14:creationId xmlns:p14="http://schemas.microsoft.com/office/powerpoint/2010/main" val="9085480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BD4243A-6202-462C-AB15-0AB68FFA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0E9F98"/>
                </a:solidFill>
              </a:rPr>
              <a:t>AJUSTE A BANCA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6F101F-EBEA-4F90-B009-169BD148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12213A"/>
                </a:solidFill>
              </a:rPr>
              <a:t>Una base sólida con brechas explícitas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67A4202-F06B-40D2-9C7E-43649A58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526176"/>
                </a:solidFill>
              </a:rPr>
              <a:t>La decisión correcta es aprobarla como piloto condicionado, con gobierno y alcance bien definidos.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E9F636B-FFC0-47A5-A4F3-9A829649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758299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F041331-0EA1-4F87-A7C5-0607FBEB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758299"/>
                </a:solidFill>
              </a:rPr>
              <a:t>6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A7BC9E-DF08-488A-B831-4B8F3AC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11680"/>
            <a:ext cx="2103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10160">
            <a:solidFill>
              <a:srgbClr val="14B86A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B86A"/>
                </a:solidFill>
              </a:rPr>
              <a:t>Beneficios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8AD2847-AEAC-46AA-B063-D5C11894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06040"/>
            <a:ext cx="4846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BFE8CC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14B86A"/>
                </a:solidFill>
              </a:rPr>
              <a:t>Prevención temprana</a:t>
            </a:r>
            <a:br>
              <a:rPr sz="980" b="1">
                <a:solidFill>
                  <a:srgbClr val="14B86A"/>
                </a:solidFill>
              </a:rPr>
            </a:br>
            <a:r>
              <a:rPr sz="980">
                <a:solidFill>
                  <a:srgbClr val="526176"/>
                </a:solidFill>
              </a:rPr>
              <a:t>Los riesgos críticos se frenan antes del merge.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B379D1-62DD-4430-8142-F1C47F9C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92424"/>
            <a:ext cx="4846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BFE8CC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14B86A"/>
                </a:solidFill>
              </a:rPr>
              <a:t>Evidencia verificable</a:t>
            </a:r>
            <a:br>
              <a:rPr sz="980" b="1">
                <a:solidFill>
                  <a:srgbClr val="14B86A"/>
                </a:solidFill>
              </a:rPr>
            </a:br>
            <a:r>
              <a:rPr sz="980">
                <a:solidFill>
                  <a:srgbClr val="526176"/>
                </a:solidFill>
              </a:rPr>
              <a:t>Cada control deja resultado, responsable y artefacto.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25C7F7D-BF56-460E-9140-8BF07670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178808"/>
            <a:ext cx="4846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BFE8CC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14B86A"/>
                </a:solidFill>
              </a:rPr>
              <a:t>Escala por plantilla</a:t>
            </a:r>
            <a:br>
              <a:rPr sz="980" b="1">
                <a:solidFill>
                  <a:srgbClr val="14B86A"/>
                </a:solidFill>
              </a:rPr>
            </a:br>
            <a:r>
              <a:rPr sz="980">
                <a:solidFill>
                  <a:srgbClr val="526176"/>
                </a:solidFill>
              </a:rPr>
              <a:t>Workflows y rulesets se reutilizan por equipo.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6C1320B-E228-4571-A467-E5E64F57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24688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4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EF476F"/>
                </a:solidFill>
              </a:rPr>
              <a:t>Condiciones para banca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BDD85D5-1C49-4A40-A843-CA9F8C82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606040"/>
            <a:ext cx="4846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EC7D0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EF476F"/>
                </a:solidFill>
              </a:rPr>
              <a:t>Identidad y datos</a:t>
            </a:r>
            <a:br>
              <a:rPr sz="980" b="1">
                <a:solidFill>
                  <a:srgbClr val="EF476F"/>
                </a:solidFill>
              </a:rPr>
            </a:br>
            <a:r>
              <a:rPr sz="980">
                <a:solidFill>
                  <a:srgbClr val="526176"/>
                </a:solidFill>
              </a:rPr>
              <a:t>Añadir IAM, autorización, cifrado y gestión de llaves.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FE185FA-72B5-4567-8509-2F3ED3D2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92424"/>
            <a:ext cx="4846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EC7D0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EF476F"/>
                </a:solidFill>
              </a:rPr>
              <a:t>Operación segura</a:t>
            </a:r>
            <a:br>
              <a:rPr sz="980" b="1">
                <a:solidFill>
                  <a:srgbClr val="EF476F"/>
                </a:solidFill>
              </a:rPr>
            </a:br>
            <a:r>
              <a:rPr sz="980">
                <a:solidFill>
                  <a:srgbClr val="526176"/>
                </a:solidFill>
              </a:rPr>
              <a:t>Integrar WAF/API gateway, rate limiting, SOC y respuesta.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3B9D65A-96C0-4A59-AD87-368CE1E8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178808"/>
            <a:ext cx="4846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EC7D0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 b="1">
                <a:solidFill>
                  <a:srgbClr val="EF476F"/>
                </a:solidFill>
              </a:rPr>
              <a:t>Madurez supply chain</a:t>
            </a:r>
            <a:br>
              <a:rPr sz="980" b="1">
                <a:solidFill>
                  <a:srgbClr val="EF476F"/>
                </a:solidFill>
              </a:rPr>
            </a:br>
            <a:r>
              <a:rPr sz="980">
                <a:solidFill>
                  <a:srgbClr val="526176"/>
                </a:solidFill>
              </a:rPr>
              <a:t>Attestations aportan L2; L3 exige build reutilizable aislado.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3B4200E-7DBB-48B7-AD00-A37BBB1F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532120"/>
            <a:ext cx="96012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A34"/>
          </a:solidFill>
          <a:ln xmlns:a="http://schemas.openxmlformats.org/drawingml/2006/main" w="10160">
            <a:solidFill>
              <a:srgbClr val="061A3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</a:rPr>
              <a:t>Recomendación: piloto formal con métricas, dueños de control y excepciones con caducidad.</a:t>
            </a:r>
          </a:p>
        </p:txBody>
      </p:sp>
    </p:spTree>
    <p:extLst>
      <p:ext uri="{BB962C8B-B14F-4D97-AF65-F5344CB8AC3E}">
        <p14:creationId xmlns:p14="http://schemas.microsoft.com/office/powerpoint/2010/main" val="12169262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A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6399477-7BBF-4519-8E5F-0E581120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11C5B4"/>
                </a:solidFill>
              </a:rPr>
              <a:t>GOBIERNO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54510E-D766-4DE5-9859-95DE84CD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FFFFFF"/>
                </a:solidFill>
              </a:rPr>
              <a:t>La protección depende de reglas, no solo de escáneres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623E33-6B86-4C7A-9244-FD8A9A53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C7D6EA"/>
                </a:solidFill>
              </a:rPr>
              <a:t>GitHub reúne controles y evidencia; el banco define qué es obligatorio, quién aprueba y cuándo se exceptúa.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FB888F8-EFA0-4D75-ABA0-354AC79E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8EA7C7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A3656A0-A280-4F34-9547-DF241859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8EA7C7"/>
                </a:solidFill>
              </a:rPr>
              <a:t>7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624EB8-372D-4D25-AD37-72F90FD8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346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70" b="1">
                <a:solidFill>
                  <a:srgbClr val="11C5B4"/>
                </a:solidFill>
              </a:rPr>
              <a:t>Ruleset de main</a:t>
            </a:r>
            <a:br>
              <a:rPr sz="1070" b="1">
                <a:solidFill>
                  <a:srgbClr val="11C5B4"/>
                </a:solidFill>
              </a:rPr>
            </a:br>
            <a:r>
              <a:rPr sz="1070">
                <a:solidFill>
                  <a:srgbClr val="D9E8FF"/>
                </a:solidFill>
              </a:rPr>
              <a:t>Exige 11 gates de workflow y bloquea cambios que no cumplen.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CE89B7D-5E38-4A92-BD9C-19DC05BD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57400"/>
            <a:ext cx="28346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2454C6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70" b="1">
                <a:solidFill>
                  <a:srgbClr val="2454C6"/>
                </a:solidFill>
              </a:rPr>
              <a:t>Code scanning</a:t>
            </a:r>
            <a:br>
              <a:rPr sz="1070" b="1">
                <a:solidFill>
                  <a:srgbClr val="2454C6"/>
                </a:solidFill>
              </a:rPr>
            </a:br>
            <a:r>
              <a:rPr sz="1070">
                <a:solidFill>
                  <a:srgbClr val="D9E8FF"/>
                </a:solidFill>
              </a:rPr>
              <a:t>CodeQL bloquea alertas altas o críticas del cambio.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08FE83-941C-4066-A521-342EC636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8346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70" b="1">
                <a:solidFill>
                  <a:srgbClr val="EF476F"/>
                </a:solidFill>
              </a:rPr>
              <a:t>CODEOWNERS</a:t>
            </a:r>
            <a:br>
              <a:rPr sz="1070" b="1">
                <a:solidFill>
                  <a:srgbClr val="EF476F"/>
                </a:solidFill>
              </a:rPr>
            </a:br>
            <a:r>
              <a:rPr sz="1070">
                <a:solidFill>
                  <a:srgbClr val="D9E8FF"/>
                </a:solidFill>
              </a:rPr>
              <a:t>Seguridad revisa workflows, Docker, IaC y dependencias.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3887354-6F3A-4B9D-8070-F8598928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57400"/>
            <a:ext cx="2057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FF9F1C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 b="1">
                <a:solidFill>
                  <a:srgbClr val="FF9F1C"/>
                </a:solidFill>
              </a:rPr>
              <a:t>Acciones inmutables</a:t>
            </a:r>
            <a:br>
              <a:rPr sz="930" b="1">
                <a:solidFill>
                  <a:srgbClr val="FF9F1C"/>
                </a:solidFill>
              </a:rPr>
            </a:br>
            <a:r>
              <a:rPr sz="930">
                <a:solidFill>
                  <a:srgbClr val="D9E8FF"/>
                </a:solidFill>
              </a:rPr>
              <a:t>Terceros fijados por SHA; Dependabot propone cambios.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2F9FBF3-49AB-4684-8BC7-E196A420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703320"/>
            <a:ext cx="3200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70" b="1">
                <a:solidFill>
                  <a:srgbClr val="11C5B4"/>
                </a:solidFill>
              </a:rPr>
              <a:t>Publicación segura</a:t>
            </a:r>
            <a:br>
              <a:rPr sz="1070" b="1">
                <a:solidFill>
                  <a:srgbClr val="11C5B4"/>
                </a:solidFill>
              </a:rPr>
            </a:br>
            <a:r>
              <a:rPr sz="1070">
                <a:solidFill>
                  <a:srgbClr val="D9E8FF"/>
                </a:solidFill>
              </a:rPr>
              <a:t>Trivy aprueba antes de subir; SBOM y digest quedan ligados.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66F8DF3-D24D-4056-870C-FC540ACD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703320"/>
            <a:ext cx="3200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14B86A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70" b="1">
                <a:solidFill>
                  <a:srgbClr val="14B86A"/>
                </a:solidFill>
              </a:rPr>
              <a:t>Attestations verificables</a:t>
            </a:r>
            <a:br>
              <a:rPr sz="1070" b="1">
                <a:solidFill>
                  <a:srgbClr val="14B86A"/>
                </a:solidFill>
              </a:rPr>
            </a:br>
            <a:r>
              <a:rPr sz="1070">
                <a:solidFill>
                  <a:srgbClr val="D9E8FF"/>
                </a:solidFill>
              </a:rPr>
              <a:t>Procedencia Build L2; siguiente paso: reusable workflow L3.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5CE5824-4A39-4C9B-A474-B582DE05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703320"/>
            <a:ext cx="3200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7B3FF2"/>
            </a:solidFill>
          </a:ln>
        </p:spPr>
        <p:txBody>
          <a:bodyPr xmlns:a="http://schemas.openxmlformats.org/drawingml/2006/main" wrap="square" lIns="1778" tIns="1778" rIns="1778" bIns="177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70" b="1">
                <a:solidFill>
                  <a:srgbClr val="7B3FF2"/>
                </a:solidFill>
              </a:rPr>
              <a:t>Excepciones gobernadas</a:t>
            </a:r>
            <a:br>
              <a:rPr sz="1070" b="1">
                <a:solidFill>
                  <a:srgbClr val="7B3FF2"/>
                </a:solidFill>
              </a:rPr>
            </a:br>
            <a:r>
              <a:rPr sz="1070">
                <a:solidFill>
                  <a:srgbClr val="D9E8FF"/>
                </a:solidFill>
              </a:rPr>
              <a:t>Riesgo, responsable, mitigación y caducidad quedan registrados.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E8BB9C4-1D17-47DE-9C08-D184A71D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10378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E5C"/>
          </a:solidFill>
          <a:ln xmlns:a="http://schemas.openxmlformats.org/drawingml/2006/main" w="10160">
            <a:solidFill>
              <a:srgbClr val="FF9F1C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20" b="1">
                <a:solidFill>
                  <a:srgbClr val="FFFFFF"/>
                </a:solidFill>
              </a:rPr>
              <a:t>Condición enterprise: confirmar licencias de Code Security / Secret Protection para repositorios privados.</a:t>
            </a:r>
          </a:p>
        </p:txBody>
      </p:sp>
    </p:spTree>
    <p:extLst>
      <p:ext uri="{BB962C8B-B14F-4D97-AF65-F5344CB8AC3E}">
        <p14:creationId xmlns:p14="http://schemas.microsoft.com/office/powerpoint/2010/main" val="696221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A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40B35D-F957-4AE1-8104-3109D753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11C5B4"/>
                </a:solidFill>
              </a:rPr>
              <a:t>DEMO EJECUTIVA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8483E8-2B9A-4A7D-91CF-11DDF7C7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FFFFFF"/>
                </a:solidFill>
              </a:rPr>
              <a:t>La demo prueba bloqueo y evidencia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2133B02-0172-4834-936E-0F25DDEA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C7D6EA"/>
                </a:solidFill>
              </a:rPr>
              <a:t>El valor es demostrar una decisión gobernada, no abrir muchas herramientas.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0EA1D8-FB03-458A-AD86-B4A54B0D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8EA7C7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5E38A1A-6EEB-4FBB-BFB0-62075F33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8EA7C7"/>
                </a:solidFill>
              </a:rPr>
              <a:t>8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B75193-54D9-40ED-8619-746DB7D0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4290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2B05BD4-7AAE-4CF8-AFCA-E963B99D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3774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1C5B4"/>
                </a:solidFill>
              </a:rPr>
              <a:t>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1B74B7-5D13-4B58-B295-B38391A8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162763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Main limpio</a:t>
            </a:r>
          </a:p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11 gates de workflow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C61D23-E40B-4993-A9FE-A06DC656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4290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144C38A-A060-46B6-B82E-53691B23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3774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1C5B4"/>
                </a:solidFill>
              </a:rPr>
              <a:t>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F7FA2CD-30C0-4535-951C-892C63D7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880360"/>
            <a:ext cx="162763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Cambio inseguro</a:t>
            </a:r>
          </a:p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5 fallas intencionales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709DF90-CCCC-458D-9845-43363A52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290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72040BB-C88C-4D04-B652-A644B46C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23774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1C5B4"/>
                </a:solidFill>
              </a:rPr>
              <a:t>3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7072DD-3829-43E4-BF35-5B425D0A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880360"/>
            <a:ext cx="162763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EF476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PR bloqueado</a:t>
            </a:r>
          </a:p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gates + CodeQL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C96180F-542B-48C4-9282-73668D18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4290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7291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AD9880A-5AEC-4619-915B-73E0E1B5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3774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1C5B4"/>
                </a:solidFill>
              </a:rPr>
              <a:t>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C45B352-D967-4021-B827-5CDDA39A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80360"/>
            <a:ext cx="162763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Evidencia</a:t>
            </a:r>
          </a:p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SARIF + SBOM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4C3EEFA-862F-440B-BA0E-973481AE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3774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1C5B4"/>
                </a:solidFill>
              </a:rPr>
              <a:t>5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697E391-A8B8-4487-B826-F17BB84C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880360"/>
            <a:ext cx="162763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Corrección / excepción</a:t>
            </a:r>
          </a:p>
          <a:p xmlns:a="http://schemas.openxmlformats.org/drawingml/2006/main">
            <a:pPr marL="0" indent="0" algn="ctr">
              <a:buNone/>
            </a:pPr>
            <a:r>
              <a:rPr sz="980" b="1">
                <a:solidFill>
                  <a:srgbClr val="FFFFFF"/>
                </a:solidFill>
              </a:rPr>
              <a:t>trazable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0DE5B87-0381-4619-8ECF-9A8DD2C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03327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20" b="1">
                <a:solidFill>
                  <a:srgbClr val="FFFFFF"/>
                </a:solidFill>
              </a:rPr>
              <a:t>Frase: “el riesgo no avanza sin corrección o excepción aprobada, registrada y temporal”.</a:t>
            </a:r>
          </a:p>
        </p:txBody>
      </p:sp>
    </p:spTree>
    <p:extLst>
      <p:ext uri="{BB962C8B-B14F-4D97-AF65-F5344CB8AC3E}">
        <p14:creationId xmlns:p14="http://schemas.microsoft.com/office/powerpoint/2010/main" val="9398437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A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95C7B2-28FA-4E32-88C8-436736E7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9601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 b="1">
                <a:solidFill>
                  <a:srgbClr val="11C5B4"/>
                </a:solidFill>
              </a:rPr>
              <a:t>CIERRE EJECUTIVO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27B1819-15DA-48D3-B669-2CABCFEB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85800"/>
            <a:ext cx="10881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50" b="1">
                <a:solidFill>
                  <a:srgbClr val="FFFFFF"/>
                </a:solidFill>
              </a:rPr>
              <a:t>La seguridad se convierte en una capacidad institucional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72A9A52-04A6-42A9-9509-6E7B5C83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17320"/>
            <a:ext cx="104241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80">
                <a:solidFill>
                  <a:srgbClr val="C7D6EA"/>
                </a:solidFill>
              </a:rPr>
              <a:t>La iniciativa ya demuestra controles reales; el siguiente paso es gobernarlos y medirlos a escala.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ADF991F-1DFA-4AA7-A6F7-87CC442C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73952"/>
            <a:ext cx="64922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570">
                <a:solidFill>
                  <a:srgbClr val="8EA7C7"/>
                </a:solidFill>
              </a:rPr>
              <a:t>Seguridad DevSecOps para banca - Carlos Enrique León Vela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31A71E-3EA7-49F3-AB18-638344D2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645566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20">
                <a:solidFill>
                  <a:srgbClr val="8EA7C7"/>
                </a:solidFill>
              </a:rPr>
              <a:t>9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E797CC4-1B62-4B5A-85D3-3E4EB745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11680"/>
            <a:ext cx="5669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11C5B4"/>
                </a:solidFill>
              </a:rPr>
              <a:t>Mi recomendación: aprobar el piloto.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2A8177C-B608-4517-BA76-DA4ECA4C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06040"/>
            <a:ext cx="7315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8708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FFFFF"/>
                </a:solidFill>
              </a:rPr>
              <a:t>Usarlo para definir el estándar mínimo DevSecOps del banco, sin confundirlo con la seguridad completa de la aplicación.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FF7F2F1-FCA9-492F-A333-2218BB1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1965960"/>
            <a:ext cx="23774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</a:rPr>
              <a:t>Gates obligatorios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C6AF338-8FD7-4205-B094-2F41379A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971800"/>
            <a:ext cx="23774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</a:rPr>
              <a:t>Evidencia auditable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B25408C-29E4-42F8-BE5C-6E580749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977640"/>
            <a:ext cx="23774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B58"/>
          </a:solidFill>
          <a:ln xmlns:a="http://schemas.openxmlformats.org/drawingml/2006/main" w="10160">
            <a:solidFill>
              <a:srgbClr val="11C5B4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</a:rPr>
              <a:t>Brechas con dueño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2C6AB56-5AD6-4943-8111-FD33C24F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6070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552"/>
          </a:solidFill>
          <a:ln xmlns:a="http://schemas.openxmlformats.org/drawingml/2006/main" w="10160">
            <a:solidFill>
              <a:srgbClr val="FF9F1C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</a:rPr>
              <a:t>Decisión solicitada: aprobar el piloto y asignar responsables de Seguridad, Plataforma, Desarrollo y Riesgo.</a:t>
            </a:r>
          </a:p>
        </p:txBody>
      </p:sp>
    </p:spTree>
    <p:extLst>
      <p:ext uri="{BB962C8B-B14F-4D97-AF65-F5344CB8AC3E}">
        <p14:creationId xmlns:p14="http://schemas.microsoft.com/office/powerpoint/2010/main" val="83826237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2026-07-10T08:35:32.8370000Z</dcterms:created>
  <dcterms:modified xsi:type="dcterms:W3CDTF">2026-07-10T08:35:32.8370000Z</dcterms:modified>
</coreProperties>
</file>