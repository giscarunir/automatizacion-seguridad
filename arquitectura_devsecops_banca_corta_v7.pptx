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0ded1b1d744b58" /><Relationship Type="http://schemas.openxmlformats.org/officeDocument/2006/relationships/extended-properties" Target="/docProps/app.xml" Id="Rc05921e7c3864157" /><Relationship Type="http://schemas.openxmlformats.org/officeDocument/2006/relationships/officeDocument" Target="/ppt/presentation.xml" Id="R5f09d646d7f7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ae4d5e3f69402a"/>
  </p:sldMasterIdLst>
  <p:notesMasterIdLst>
    <p:notesMasterId xmlns:r="http://schemas.openxmlformats.org/officeDocument/2006/relationships" r:id="Rf1bb508e63cf44db"/>
  </p:notesMasterIdLst>
  <p:sldIdLst>
    <p:sldId xmlns:r="http://schemas.openxmlformats.org/officeDocument/2006/relationships" id="256" r:id="Rc425a0dd4a5342f7"/>
    <p:sldId xmlns:r="http://schemas.openxmlformats.org/officeDocument/2006/relationships" id="257" r:id="R7fd04890712e4efd"/>
    <p:sldId xmlns:r="http://schemas.openxmlformats.org/officeDocument/2006/relationships" id="258" r:id="Rf8ecd214fb404304"/>
    <p:sldId xmlns:r="http://schemas.openxmlformats.org/officeDocument/2006/relationships" id="259" r:id="R401279fd53ca4976"/>
    <p:sldId xmlns:r="http://schemas.openxmlformats.org/officeDocument/2006/relationships" id="260" r:id="R52e0b47b9a2f45a0"/>
    <p:sldId xmlns:r="http://schemas.openxmlformats.org/officeDocument/2006/relationships" id="261" r:id="R0d46fc3585b5469b"/>
    <p:sldId xmlns:r="http://schemas.openxmlformats.org/officeDocument/2006/relationships" id="262" r:id="Rd12a4b628476452c"/>
    <p:sldId xmlns:r="http://schemas.openxmlformats.org/officeDocument/2006/relationships" id="263" r:id="R2c05b46584224c71"/>
    <p:sldId xmlns:r="http://schemas.openxmlformats.org/officeDocument/2006/relationships" id="264" r:id="R1d932c00fa7941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e9575c74bd4b24" /><Relationship Type="http://schemas.openxmlformats.org/officeDocument/2006/relationships/slideMaster" Target="/ppt/slideMasters/slideMaster1.xml" Id="Rd6ae4d5e3f69402a" /><Relationship Type="http://schemas.openxmlformats.org/officeDocument/2006/relationships/notesMaster" Target="/ppt/notesMasters/notesMaster1.xml" Id="Rf1bb508e63cf44db" /><Relationship Type="http://schemas.openxmlformats.org/officeDocument/2006/relationships/presProps" Target="/ppt/presProps.xml" Id="R0770beafc0164b60" /><Relationship Type="http://schemas.openxmlformats.org/officeDocument/2006/relationships/viewProps" Target="/ppt/viewProps.xml" Id="Rfefd1cf2b20a4098" /><Relationship Type="http://schemas.openxmlformats.org/officeDocument/2006/relationships/tableStyles" Target="/ppt/tableStyles.xml" Id="R9da695ef160c49d9" /><Relationship Type="http://schemas.openxmlformats.org/officeDocument/2006/relationships/slide" Target="/ppt/slides/slide1.xml" Id="Rc425a0dd4a5342f7" /><Relationship Type="http://schemas.openxmlformats.org/officeDocument/2006/relationships/slide" Target="/ppt/slides/slide2.xml" Id="R7fd04890712e4efd" /><Relationship Type="http://schemas.openxmlformats.org/officeDocument/2006/relationships/slide" Target="/ppt/slides/slide3.xml" Id="Rf8ecd214fb404304" /><Relationship Type="http://schemas.openxmlformats.org/officeDocument/2006/relationships/slide" Target="/ppt/slides/slide4.xml" Id="R401279fd53ca4976" /><Relationship Type="http://schemas.openxmlformats.org/officeDocument/2006/relationships/slide" Target="/ppt/slides/slide5.xml" Id="R52e0b47b9a2f45a0" /><Relationship Type="http://schemas.openxmlformats.org/officeDocument/2006/relationships/slide" Target="/ppt/slides/slide6.xml" Id="R0d46fc3585b5469b" /><Relationship Type="http://schemas.openxmlformats.org/officeDocument/2006/relationships/slide" Target="/ppt/slides/slide7.xml" Id="Rd12a4b628476452c" /><Relationship Type="http://schemas.openxmlformats.org/officeDocument/2006/relationships/slide" Target="/ppt/slides/slide8.xml" Id="R2c05b46584224c71" /><Relationship Type="http://schemas.openxmlformats.org/officeDocument/2006/relationships/slide" Target="/ppt/slides/slide9.xml" Id="R1d932c00fa79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3d393001b1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f564d62ae94735" /><Relationship Type="http://schemas.openxmlformats.org/officeDocument/2006/relationships/notesMaster" Target="/ppt/notesMasters/notesMaster1.xml" Id="R11bba40f043546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ad169a0514655" /><Relationship Type="http://schemas.openxmlformats.org/officeDocument/2006/relationships/notesMaster" Target="/ppt/notesMasters/notesMaster1.xml" Id="R98129bb33f0046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e0378130b6494c" /><Relationship Type="http://schemas.openxmlformats.org/officeDocument/2006/relationships/notesMaster" Target="/ppt/notesMasters/notesMaster1.xml" Id="R7008022981084f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25ebec4d484f93" /><Relationship Type="http://schemas.openxmlformats.org/officeDocument/2006/relationships/notesMaster" Target="/ppt/notesMasters/notesMaster1.xml" Id="Re51b5b453ebe4d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8de71ff9324845" /><Relationship Type="http://schemas.openxmlformats.org/officeDocument/2006/relationships/notesMaster" Target="/ppt/notesMasters/notesMaster1.xml" Id="Rfdc565e0b5de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c8b5ae3bd44df5" /><Relationship Type="http://schemas.openxmlformats.org/officeDocument/2006/relationships/notesMaster" Target="/ppt/notesMasters/notesMaster1.xml" Id="Ref10afe57e6f4f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6cd3c2f1e4c79" /><Relationship Type="http://schemas.openxmlformats.org/officeDocument/2006/relationships/notesMaster" Target="/ppt/notesMasters/notesMaster1.xml" Id="Rbbc5e137a1b444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b4d80df3904210" /><Relationship Type="http://schemas.openxmlformats.org/officeDocument/2006/relationships/notesMaster" Target="/ppt/notesMasters/notesMaster1.xml" Id="R432e5882ac944b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7b6e2b70354e53" /><Relationship Type="http://schemas.openxmlformats.org/officeDocument/2006/relationships/notesMaster" Target="/ppt/notesMasters/notesMaster1.xml" Id="R8e0075c37ce5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Apertura: presentarme brevemente: Soy Carlos Enrique Leon Vela, Ingeniero de Sistemas y Magister en Inteligencia Artificial. El objetivo no es vender un CRUD, sino una capacidad DevSecOps reutilizable para banca. Mencionar certificaciones solo como respaldo, no leerlas una por 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establece el nivel ejecutivo: riesgo, solución y resultado. Evitar entrar todavía en herramientas.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en lenguaje simple: si alguien introduce una vulnerabilidad, el pipeline marca el check; si ese check es obligatorio, el PR no entra a 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profundizar demasiado aquí: esta diapositiva demuestra dominio general. Luego las siguientes dan contexto capa por capa.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una diapositiva para vender. Decir: es robusta porque no tiene un solo punto de control; combina prevención, detección, bloqueo y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te protege: no prometes magia. Demuestras criterio de líder: beneficio, riesgo y mitigación.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debes decir: el banco ya invirtió en GitHub Enterprise. Esta propuesta busca sacarle mayor valor, pero hay que confirmar qué módulos avanzados están habilitados.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Preparar la demo con un PR inseguro. No improvisar. Mostrar 1) check rojo, 2) evidencia, 3) corrección.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sin fechas. Pedir validación del piloto y definición de estándar mínimo.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233f8e32e4d5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4327e8be5c455e" /><Relationship Type="http://schemas.openxmlformats.org/officeDocument/2006/relationships/slideLayout" Target="/ppt/slideLayouts/slideLayout1.xml" Id="R99d2e8dad2cf42b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d2e8dad2cf42b5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ac69e66b04853" /><Relationship Type="http://schemas.openxmlformats.org/officeDocument/2006/relationships/notesSlide" Target="/ppt/notesSlides/notesSlide1.xml" Id="R2d64bccd74024c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d0b7771b0400a" /><Relationship Type="http://schemas.openxmlformats.org/officeDocument/2006/relationships/notesSlide" Target="/ppt/notesSlides/notesSlide2.xml" Id="Rc3836a1bff7b46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7f2b5477c45f8" /><Relationship Type="http://schemas.openxmlformats.org/officeDocument/2006/relationships/notesSlide" Target="/ppt/notesSlides/notesSlide3.xml" Id="Rc04ce79ee3d7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b1465c124fb9" /><Relationship Type="http://schemas.openxmlformats.org/officeDocument/2006/relationships/notesSlide" Target="/ppt/notesSlides/notesSlide4.xml" Id="R4535dd32f00843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a6f8129104e3f" /><Relationship Type="http://schemas.openxmlformats.org/officeDocument/2006/relationships/notesSlide" Target="/ppt/notesSlides/notesSlide5.xml" Id="Rc3541d5813cd49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6604b12b94bd8" /><Relationship Type="http://schemas.openxmlformats.org/officeDocument/2006/relationships/notesSlide" Target="/ppt/notesSlides/notesSlide6.xml" Id="R04b3fc160bf044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a709ac1e449ef" /><Relationship Type="http://schemas.openxmlformats.org/officeDocument/2006/relationships/notesSlide" Target="/ppt/notesSlides/notesSlide7.xml" Id="R1ec54cab8a054c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5db8266a742eb" /><Relationship Type="http://schemas.openxmlformats.org/officeDocument/2006/relationships/notesSlide" Target="/ppt/notesSlides/notesSlide8.xml" Id="R5977217e8d1849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1ec534aa54c01" /><Relationship Type="http://schemas.openxmlformats.org/officeDocument/2006/relationships/notesSlide" Target="/ppt/notesSlides/notesSlide9.xml" Id="Rb185083a9d4440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5D72D9-6452-4653-A6F9-D835248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Seguridad DevSecOps para banca - Carlos Enrique León Vela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52D199-C243-4947-88AC-B74BE9A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81CB7-3035-44CF-95DC-0CCEDDA3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11C5B4"/>
                </a:solidFill>
              </a:rPr>
              <a:t>PROPUESTA EJECUTIVA - SEGURIDAD DE SOFTWARE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BD457E-952F-4AA8-89BB-FC4514D0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60120"/>
            <a:ext cx="6035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</a:rPr>
              <a:t>Seguridad DevSecOps</a:t>
            </a:r>
          </a:p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</a:rPr>
              <a:t>para banca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06BC1B5-3309-4156-93D2-C16418D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70048"/>
            <a:ext cx="66294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>
                <a:solidFill>
                  <a:srgbClr val="C7D6EA"/>
                </a:solidFill>
              </a:rPr>
              <a:t>Siete controles automáticos, gobierno del Pull Request y evidencia verificable para decidir riesgo antes de producción.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4194E3-D648-461D-A614-33FE314C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60120"/>
            <a:ext cx="36576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Carlos Enrique León Vela</a:t>
            </a:r>
          </a:p>
          <a:p xmlns:a="http://schemas.openxmlformats.org/drawingml/2006/main">
            <a:pPr algn="l">
              <a:buNone/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Ingeniero</a:t>
            </a: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Sistemas</a:t>
            </a:r>
          </a:p>
          <a:p xmlns:a="http://schemas.openxmlformats.org/drawingml/2006/main">
            <a:pPr algn="l">
              <a:buNone/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Maestría en Inteligencia Artificial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777AE5-7800-43F6-81FE-91E18D14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1979"/>
            <a:ext cx="157276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54864" tIns="27432" rIns="54864" bIns="27432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 Copilot</a:t>
            </a:r>
          </a:p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Professional (GH-900)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88984C5-4A26-49C1-987E-6A38626B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310128"/>
            <a:ext cx="157276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54864" tIns="27432" rIns="54864" bIns="27432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ISO 27001</a:t>
            </a:r>
          </a:p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 Auditor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8EE57CF-151B-42C8-BB00-ED558B2C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807208"/>
            <a:ext cx="157276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54864" tIns="27432" rIns="54864" bIns="27432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 Cybersecurity</a:t>
            </a:r>
          </a:p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Professional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84904E9-4118-4736-AF26-CDE30718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41979"/>
            <a:ext cx="157276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54864" tIns="27432" rIns="54864" bIns="27432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A955E6-17C7-4D18-A85E-9D83ECE6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075" y="2839212"/>
            <a:ext cx="157276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54864" tIns="27432" rIns="54864" bIns="27432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DevOps Advanced</a:t>
            </a:r>
          </a:p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Professional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B1813F9-5C99-4F3F-B970-ECC68CE3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0128"/>
            <a:ext cx="157276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54864" tIns="27432" rIns="54864" bIns="27432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Ethical Hacking</a:t>
            </a:r>
          </a:p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seguridad ofensiva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0E23DD-B7DF-4E5D-8491-F56F046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7 capas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defensa en profundidad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0B3651-2DA9-40CF-B2A6-119086C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GitHub Enterprise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aprovechamiento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2599092-01DF-4CC9-80B6-25563F49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SBOM + procedencia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auditoría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00F443-ECA5-41D7-8775-6DAEE4A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PR protegido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gobierno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7CC96EC-25A1-4A4F-95C8-CA1A6EE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02536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Respaldo profesional relevante</a:t>
            </a:r>
          </a:p>
        </p:txBody>
      </p:sp>
    </p:spTree>
    <p:extLst>
      <p:ext uri="{BB962C8B-B14F-4D97-AF65-F5344CB8AC3E}">
        <p14:creationId xmlns:p14="http://schemas.microsoft.com/office/powerpoint/2010/main" val="854835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MENSAJE CENTRAL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La seguridad se convierte en una decisión automática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Cada cambio se evalúa con reglas claras: si supera el umbral, no avanza sin corrección o excepción aprobada.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2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F476F"/>
                </a:solidFill>
              </a:rPr>
              <a:t>Sin gobierno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El escáner alerta,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pero el riesgo puede avanzar.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E9F98"/>
                </a:solidFill>
              </a:rPr>
              <a:t>Con política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El umbral falla el check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y el ruleset bloquea.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454C6"/>
                </a:solidFill>
              </a:rPr>
              <a:t>Con evidencia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Corrección o excepción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quedan trazables.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20" b="1">
                <a:solidFill>
                  <a:srgbClr val="FFFFFF"/>
                </a:solidFill>
              </a:rPr>
              <a:t>Resultado: avanzar más rápido sin perder control ni responsabilidad.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45E5EF-13A0-4B36-936D-4A1EDD4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FLUJO OPERATIVO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7B0274-1571-4447-9C16-F81CEED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Un cambio solo avanza cuando demuestra que cumple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89911-8559-4682-B388-F9917C3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El pipeline evalúa código, dependencias, infraestructura, imagen y aplicación con umbrales definidos.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AE6C50-3AE7-481A-A06F-115CBD9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3A7FCF-1FA0-408D-9E55-B2D98DB7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DF4B75F-7563-424B-AF18-4B65C65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8CCE63-5395-4CC0-835F-6085EA5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Commit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secretos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788385C-2E45-4FC9-B7A3-4C486A6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5E63A7-5C99-41D6-B616-0EBC816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código + dependencias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6EFB4A3-FC34-4FBB-B030-14D7D30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E2EC86-C92E-4D6B-9C6A-F831563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Build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pruebas + imagen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DA4FC0-72FB-4E1C-BBE6-2EC6D61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8F11F-3768-4961-A8D4-A7A226B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Gate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Trivy + SBOM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9BF9DF-75DB-4FEA-935B-91CC9D09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Release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attestation + DAST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1C0B21-E695-4CD5-AC5A-73ACA86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0"/>
            <a:ext cx="102412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Gobierno: ruleset + code scanning + CODEOWNERS + acciones fijadas por SHA + excepciones con caducidad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0C3A38-25C4-40A5-8203-35143B4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5778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C7D6EA"/>
                </a:solidFill>
              </a:rPr>
              <a:t>La decisión queda unida al Pull Request, al artefacto y a la evidencia; no depende de una revisión informal.</a:t>
            </a:r>
          </a:p>
        </p:txBody>
      </p:sp>
    </p:spTree>
    <p:extLst>
      <p:ext uri="{BB962C8B-B14F-4D97-AF65-F5344CB8AC3E}">
        <p14:creationId xmlns:p14="http://schemas.microsoft.com/office/powerpoint/2010/main" val="797783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3E58FA-F33F-4372-AA9F-32382BF7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CONTROLES EN SIMPLE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E1CFEF-5734-48D7-BE88-3BE8CF7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Las 7 capas: qué controlan y cómo protegen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C8510F-E883-4E9E-82DF-456C6B0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Una sola vista para explicar el riesgo, la herramienta y la decisión automática.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B8292A1-1476-4D75-8F47-1F3A4E4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0F9D5D-8644-46E5-A3F7-505C7BA5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4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AF4ADCB-9602-4DC0-A480-143EDC2D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1E0F71-9189-4597-A9A8-4B89D872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98424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Secretos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0E691B-0C05-4F53-B176-AB220E5A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98424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Gitleaks / Secret Scanning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C9EB3C-CB41-46E6-B37F-16FC6A1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965960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Credenciales y llaves expuestas.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20D5BD-7E60-4CA4-B6CD-9C79A28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965960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Detecta en commits; Push Protection evita que entren.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FE9C98-D523-46B0-B8E3-D28C9C9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32888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B437CC-B5E1-4C26-8A7F-193A278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33472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F2"/>
          </a:solidFill>
          <a:ln xmlns:a="http://schemas.openxmlformats.org/drawingml/2006/main" w="10160">
            <a:solidFill>
              <a:srgbClr val="7B3FF2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2BAFCD9-6690-4E8D-B267-343477C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65176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SAST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F98AADA-4A20-4B02-81CC-1D591A6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651760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7B3FF2"/>
                </a:solidFill>
              </a:rPr>
              <a:t>CodeQL / Semgrep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55B2FC-5DDC-4FF2-98F4-39DA05B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633472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Código vulnerable o inseguro.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5AA8482-3E31-4B8B-99A2-80B4540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633472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CodeQL analiza flujo; Semgrep aplica reglas y bloquea.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0789811-792F-4E27-99A6-A3D0C87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0B455F0-C06A-49D1-AD69-5596DC96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00984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2D438C3-346B-4074-ADE2-D8A91C14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19272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SCA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0D9610-9B0D-4D2A-AEA2-3D481AD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319272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FF9F1C"/>
                </a:solidFill>
              </a:rPr>
              <a:t>Dependabot / Review / Trivy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4D4D23-FE4F-47F8-9E5D-352E899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300984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Dependencias con CVE altas o críticas.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3D5667-AC85-49D1-86C6-4E927074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300984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Review y Trivy fallan; Dependabot propone corrección.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BD73C7-F261-4952-92DE-F749B81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6791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D57076-AF08-4411-989A-4CB8815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C6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5A144CA-82EB-44E4-8644-B27644B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986784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Contenedor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882C4DD-DF14-4094-ACA8-426F5F45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986784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2454C6"/>
                </a:solidFill>
              </a:rPr>
              <a:t>Trivy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D4326C7-2F35-47E6-8FDC-0155297A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968496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CVEs del sistema operativo y la imagen.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253A894-CDE3-4B73-944A-4B3EBAF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968496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Trivy aprueba antes de publicar la imagen.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3649944-CDC8-460A-9745-62A9CA8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BF14E21-4696-45E2-AE3C-54E0972E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36008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AE000A6-6632-44E8-B6F6-AAB7CDC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654296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IaC / K8s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3B16F45-0493-47AA-B883-A9F6C04D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4654296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0E9F98"/>
                </a:solidFill>
              </a:rPr>
              <a:t>Checkov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514D1D2-9F6E-484E-A9CC-2377EC2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4636008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Privilegios y exposición en Kubernetes.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B5965F1-20FE-458F-8D48-DC2DA9E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4636008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Checkov falla configuraciones fuera de política.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3301262-37A1-4527-9C04-2A84B4E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02936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D86F019-CFDC-46CF-8943-2BCF1D6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0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669D72C-DCC1-4AB7-8DD4-94FE94F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3218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DAST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DB68BCC-770E-40B0-B8D8-A0DFE6B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532180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OWASP ZAP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29E92E8A-D009-4B32-B5C1-4B2EBE27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303520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Fallas visibles con la aplicación viva.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06C479B-4DE9-4EA0-90F9-B6566E8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5303520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ZAP prueba HTTP y falla alertas no aceptadas.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3E23E5C-EFDB-44AB-91BE-8B08D7D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0448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C6BAF5A-7CF1-44A9-94CA-F1F1A34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6A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14EC773-BC76-45D9-8185-B54AD91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98932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Cadena suministro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B9F55B8-5A63-40C4-9E97-CB8362C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5989320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Syft + Attestations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C9301743-021C-4F7B-9679-153C0C95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971032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Componentes y origen del artefacto.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6ED378CA-CF10-44CC-82C9-AC2E606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5971032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Syft genera SBOM; attestation declara procedencia L2.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6422C27-9903-4AA8-A8F1-47F5136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3796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514981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B11BB8-919C-4F28-B175-82E12FFE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EVALUACIÓN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EBFC14-4C44-4639-97C8-F35F5B82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Sí encaja en banca como base DevSecOps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E0773D8-4A21-4EE9-BB17-A52F0AEF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Es robusta para gobernar cambios y evidencia; no reemplaza IAM, protección de datos ni controles de operación.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D22635-A465-49F6-BF68-AF7DE7D5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B990E0-2F87-4AD0-897D-3B48DDB0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5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C09DB0-B7DA-486E-B1B1-38D04591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48006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0E9F98"/>
                </a:solidFill>
              </a:rPr>
              <a:t>Cobertura complementaria</a:t>
            </a:r>
            <a:br>
              <a:rPr sz="1120" b="1">
                <a:solidFill>
                  <a:srgbClr val="0E9F98"/>
                </a:solidFill>
              </a:rPr>
            </a:br>
            <a:r>
              <a:rPr sz="1120">
                <a:solidFill>
                  <a:srgbClr val="526176"/>
                </a:solidFill>
              </a:rPr>
              <a:t>Secretos, código, dependencias, imagen, IaC, DAST y procedencia cubren riesgos distintos.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98FCBE9-03B5-4961-949B-F036B9A1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48006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2454C6"/>
                </a:solidFill>
              </a:rPr>
              <a:t>Gates reales</a:t>
            </a:r>
            <a:br>
              <a:rPr sz="1120" b="1">
                <a:solidFill>
                  <a:srgbClr val="2454C6"/>
                </a:solidFill>
              </a:rPr>
            </a:br>
            <a:r>
              <a:rPr sz="1120">
                <a:solidFill>
                  <a:srgbClr val="526176"/>
                </a:solidFill>
              </a:rPr>
              <a:t>Gitleaks, Semgrep, Trivy, Checkov, Review y ZAP fallan; el ruleset impide el merge.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BC650A3-B39D-4B16-AE93-EEF7BDF7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66160"/>
            <a:ext cx="48006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14B86A"/>
                </a:solidFill>
              </a:rPr>
              <a:t>Evidencia auditable</a:t>
            </a:r>
            <a:br>
              <a:rPr sz="1120" b="1">
                <a:solidFill>
                  <a:srgbClr val="14B86A"/>
                </a:solidFill>
              </a:rPr>
            </a:br>
            <a:r>
              <a:rPr sz="1120">
                <a:solidFill>
                  <a:srgbClr val="526176"/>
                </a:solidFill>
              </a:rPr>
              <a:t>Checks, SARIF, SBOM, digest y attestations dejan trazabilidad de cada decisión.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663649-FD84-4979-AE59-3DAA0F60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566160"/>
            <a:ext cx="48006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FF9F1C"/>
                </a:solidFill>
              </a:rPr>
              <a:t>Límite de alcance</a:t>
            </a:r>
            <a:br>
              <a:rPr sz="1120" b="1">
                <a:solidFill>
                  <a:srgbClr val="FF9F1C"/>
                </a:solidFill>
              </a:rPr>
            </a:br>
            <a:r>
              <a:rPr sz="1120">
                <a:solidFill>
                  <a:srgbClr val="526176"/>
                </a:solidFill>
              </a:rPr>
              <a:t>Faltan IAM, cifrado/llaves, privacidad, WAF/API gateway, SOC, resiliencia y excepciones formales.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5CCF35-68EB-4992-93AB-25E15207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8755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30" b="1">
                <a:solidFill>
                  <a:srgbClr val="FFFFFF"/>
                </a:solidFill>
              </a:rPr>
              <a:t>Veredicto: robusta como baseline DevSecOps; insuficiente por sí sola como arquitectura bancaria integral.</a:t>
            </a:r>
          </a:p>
        </p:txBody>
      </p:sp>
    </p:spTree>
    <p:extLst>
      <p:ext uri="{BB962C8B-B14F-4D97-AF65-F5344CB8AC3E}">
        <p14:creationId xmlns:p14="http://schemas.microsoft.com/office/powerpoint/2010/main" val="908548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AJUSTE A BANCA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Una base sólida con brechas explícitas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La decisión correcta es aprobarla como piloto condicionado, con gobierno y alcance bien definidos.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6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B86A"/>
                </a:solidFill>
              </a:rPr>
              <a:t>Beneficios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Prevención temprana</a:t>
            </a:r>
            <a:br>
              <a:rPr sz="980" b="1">
                <a:solidFill>
                  <a:srgbClr val="14B86A"/>
                </a:solidFill>
              </a:rPr>
            </a:br>
            <a:r>
              <a:rPr sz="980">
                <a:solidFill>
                  <a:srgbClr val="526176"/>
                </a:solidFill>
              </a:rPr>
              <a:t>Los riesgos críticos se frenan antes del merge.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Evidencia verificable</a:t>
            </a:r>
            <a:br>
              <a:rPr sz="980" b="1">
                <a:solidFill>
                  <a:srgbClr val="14B86A"/>
                </a:solidFill>
              </a:rPr>
            </a:br>
            <a:r>
              <a:rPr sz="980">
                <a:solidFill>
                  <a:srgbClr val="526176"/>
                </a:solidFill>
              </a:rPr>
              <a:t>Cada control deja resultado, responsable y artefacto.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Escala por plantilla</a:t>
            </a:r>
            <a:br>
              <a:rPr sz="980" b="1">
                <a:solidFill>
                  <a:srgbClr val="14B86A"/>
                </a:solidFill>
              </a:rPr>
            </a:br>
            <a:r>
              <a:rPr sz="980">
                <a:solidFill>
                  <a:srgbClr val="526176"/>
                </a:solidFill>
              </a:rPr>
              <a:t>Workflows y rulesets se reutilizan por equipo.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F476F"/>
                </a:solidFill>
              </a:rPr>
              <a:t>Condiciones para banca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Identidad y datos</a:t>
            </a:r>
            <a:br>
              <a:rPr sz="980" b="1">
                <a:solidFill>
                  <a:srgbClr val="EF476F"/>
                </a:solidFill>
              </a:rPr>
            </a:br>
            <a:r>
              <a:rPr sz="980">
                <a:solidFill>
                  <a:srgbClr val="526176"/>
                </a:solidFill>
              </a:rPr>
              <a:t>Añadir IAM, autorización, cifrado y gestión de llaves.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Operación segura</a:t>
            </a:r>
            <a:br>
              <a:rPr sz="980" b="1">
                <a:solidFill>
                  <a:srgbClr val="EF476F"/>
                </a:solidFill>
              </a:rPr>
            </a:br>
            <a:r>
              <a:rPr sz="980">
                <a:solidFill>
                  <a:srgbClr val="526176"/>
                </a:solidFill>
              </a:rPr>
              <a:t>Integrar WAF/API gateway, rate limiting, SOC y respuesta.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Madurez supply chain</a:t>
            </a:r>
            <a:br>
              <a:rPr sz="980" b="1">
                <a:solidFill>
                  <a:srgbClr val="EF476F"/>
                </a:solidFill>
              </a:rPr>
            </a:br>
            <a:r>
              <a:rPr sz="980">
                <a:solidFill>
                  <a:srgbClr val="526176"/>
                </a:solidFill>
              </a:rPr>
              <a:t>Attestations aportan L2; L3 exige build reutilizable aislado.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Recomendación: piloto formal con métricas, dueños de control y excepciones con caducidad.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399477-7BBF-4519-8E5F-0E581120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GOBIERNO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54510E-D766-4DE5-9859-95DE84C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La protección depende de reglas, no solo de escáneres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623E33-6B86-4C7A-9244-FD8A9A53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GitHub reúne controles y evidencia; el banco define qué es obligatorio, quién aprueba y cuándo se exceptúa.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B888F8-EFA0-4D75-ABA0-354AC79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A3656A0-A280-4F34-9547-DF241859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7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624EB8-372D-4D25-AD37-72F90FD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Ruleset de main</a:t>
            </a:r>
            <a:br>
              <a:rPr sz="1070" b="1">
                <a:solidFill>
                  <a:srgbClr val="11C5B4"/>
                </a:solidFill>
              </a:rPr>
            </a:br>
            <a:r>
              <a:rPr sz="1070">
                <a:solidFill>
                  <a:srgbClr val="D9E8FF"/>
                </a:solidFill>
              </a:rPr>
              <a:t>Exige 10 checks y bloquea cambios que no cumplen.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E89B7D-5E38-4A92-BD9C-19DC05B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2454C6"/>
                </a:solidFill>
              </a:rPr>
              <a:t>Code scanning</a:t>
            </a:r>
            <a:br>
              <a:rPr sz="1070" b="1">
                <a:solidFill>
                  <a:srgbClr val="2454C6"/>
                </a:solidFill>
              </a:rPr>
            </a:br>
            <a:r>
              <a:rPr sz="1070">
                <a:solidFill>
                  <a:srgbClr val="D9E8FF"/>
                </a:solidFill>
              </a:rPr>
              <a:t>CodeQL bloquea alertas altas o críticas del cambio.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08FE83-941C-4066-A521-342EC636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EF476F"/>
                </a:solidFill>
              </a:rPr>
              <a:t>CODEOWNERS</a:t>
            </a:r>
            <a:br>
              <a:rPr sz="1070" b="1">
                <a:solidFill>
                  <a:srgbClr val="EF476F"/>
                </a:solidFill>
              </a:rPr>
            </a:br>
            <a:r>
              <a:rPr sz="1070">
                <a:solidFill>
                  <a:srgbClr val="D9E8FF"/>
                </a:solidFill>
              </a:rPr>
              <a:t>Seguridad revisa workflows, Docker, IaC y dependencias.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887354-6F3A-4B9D-8070-F859892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2057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 b="1">
                <a:solidFill>
                  <a:srgbClr val="FF9F1C"/>
                </a:solidFill>
              </a:rPr>
              <a:t>Acciones inmutables</a:t>
            </a:r>
            <a:br>
              <a:rPr sz="930" b="1">
                <a:solidFill>
                  <a:srgbClr val="FF9F1C"/>
                </a:solidFill>
              </a:rPr>
            </a:br>
            <a:r>
              <a:rPr sz="930">
                <a:solidFill>
                  <a:srgbClr val="D9E8FF"/>
                </a:solidFill>
              </a:rPr>
              <a:t>Terceros fijados por SHA; Dependabot propone cambios.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F9FBF3-49AB-4684-8BC7-E196A420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Publicación segura</a:t>
            </a:r>
            <a:br>
              <a:rPr sz="1070" b="1">
                <a:solidFill>
                  <a:srgbClr val="11C5B4"/>
                </a:solidFill>
              </a:rPr>
            </a:br>
            <a:r>
              <a:rPr sz="1070">
                <a:solidFill>
                  <a:srgbClr val="D9E8FF"/>
                </a:solidFill>
              </a:rPr>
              <a:t>Trivy aprueba antes de subir; SBOM y digest quedan ligados.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6F8DF3-D24D-4056-870C-FC540AC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4B86A"/>
                </a:solidFill>
              </a:rPr>
              <a:t>Attestations verificables</a:t>
            </a:r>
            <a:br>
              <a:rPr sz="1070" b="1">
                <a:solidFill>
                  <a:srgbClr val="14B86A"/>
                </a:solidFill>
              </a:rPr>
            </a:br>
            <a:r>
              <a:rPr sz="1070">
                <a:solidFill>
                  <a:srgbClr val="D9E8FF"/>
                </a:solidFill>
              </a:rPr>
              <a:t>Procedencia Build L2; siguiente paso: reusable workflow L3.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CE5824-4A39-4C9B-A474-B582DE05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7B3FF2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7B3FF2"/>
                </a:solidFill>
              </a:rPr>
              <a:t>Excepciones gobernadas</a:t>
            </a:r>
            <a:br>
              <a:rPr sz="1070" b="1">
                <a:solidFill>
                  <a:srgbClr val="7B3FF2"/>
                </a:solidFill>
              </a:rPr>
            </a:br>
            <a:r>
              <a:rPr sz="1070">
                <a:solidFill>
                  <a:srgbClr val="D9E8FF"/>
                </a:solidFill>
              </a:rPr>
              <a:t>Riesgo, responsable, mitigación y caducidad quedan registrados.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8BB9C4-1D17-47DE-9C08-D184A71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784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5C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FFFFFF"/>
                </a:solidFill>
              </a:rPr>
              <a:t>Condición enterprise: confirmar licencias de Code Security / Secret Protection para repositorios privados.</a:t>
            </a:r>
          </a:p>
        </p:txBody>
      </p:sp>
    </p:spTree>
    <p:extLst>
      <p:ext uri="{BB962C8B-B14F-4D97-AF65-F5344CB8AC3E}">
        <p14:creationId xmlns:p14="http://schemas.microsoft.com/office/powerpoint/2010/main" val="696221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40B35D-F957-4AE1-8104-3109D753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DEMO EJECUTIVA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8483E8-2B9A-4A7D-91CF-11DDF7C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La demo prueba bloqueo y evidencia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133B02-0172-4834-936E-0F25DDEA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El valor es demostrar una decisión gobernada, no abrir muchas herramientas.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0EA1D8-FB03-458A-AD86-B4A54B0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E38A1A-6EEB-4FBB-BFB0-62075F3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8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B75193-54D9-40ED-8619-746DB7D0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4290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B05BD4-7AAE-4CF8-AFCA-E963B99D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3774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C5B4"/>
                </a:solidFill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1B74B7-5D13-4B58-B295-B38391A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162763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Main limpio</a:t>
            </a:r>
          </a:p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10 checks en verde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C61D23-E40B-4993-A9FE-A06DC656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290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44C38A-A060-46B6-B82E-53691B23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774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C5B4"/>
                </a:solidFill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F7FA2CD-30C0-4535-951C-892C63D7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80360"/>
            <a:ext cx="162763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Cambio inseguro</a:t>
            </a:r>
          </a:p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5 fallas intencionales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09DF90-CCCC-458D-9845-43363A52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290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72040BB-C88C-4D04-B652-A644B46C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3774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C5B4"/>
                </a:solidFill>
              </a:rPr>
              <a:t>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7072DD-3829-43E4-BF35-5B425D0A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80360"/>
            <a:ext cx="162763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PR bloqueado</a:t>
            </a:r>
          </a:p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gates + CodeQL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C96180F-542B-48C4-9282-73668D18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4290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AD9880A-5AEC-4619-915B-73E0E1B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3774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C5B4"/>
                </a:solidFill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45B352-D967-4021-B827-5CDDA39A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880360"/>
            <a:ext cx="162763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Evidencia</a:t>
            </a:r>
          </a:p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SARIF + SBOM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C3EEFA-862F-440B-BA0E-973481A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23774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C5B4"/>
                </a:solidFill>
              </a:rPr>
              <a:t>5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697E391-A8B8-4487-B826-F17BB84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880360"/>
            <a:ext cx="162763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Corrección / excepción</a:t>
            </a:r>
          </a:p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trazable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DE5B87-0381-4619-8ECF-9A8DD2C4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332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 b="1">
                <a:solidFill>
                  <a:srgbClr val="FFFFFF"/>
                </a:solidFill>
              </a:rPr>
              <a:t>Frase: “el riesgo no avanza sin corrección o excepción aprobada, registrada y temporal”.</a:t>
            </a:r>
          </a:p>
        </p:txBody>
      </p:sp>
    </p:spTree>
    <p:extLst>
      <p:ext uri="{BB962C8B-B14F-4D97-AF65-F5344CB8AC3E}">
        <p14:creationId xmlns:p14="http://schemas.microsoft.com/office/powerpoint/2010/main" val="939843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5C7B2-28FA-4E32-88C8-436736E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CIERRE EJECUTIVO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7B1819-15DA-48D3-B669-2CABCFEB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La seguridad se convierte en una capacidad institucional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2A9A52-04A6-42A9-9509-6E7B5C83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La iniciativa ya demuestra controles reales; el siguiente paso es gobernarlos y medirlos a escala.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DF991F-1DFA-4AA7-A6F7-87CC442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Seguridad DevSecOps para banca - Carlos Enrique León Vela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31A71E-3EA7-49F3-AB18-638344D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9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E797CC4-1B62-4B5A-85D3-3E4EB745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5669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C5B4"/>
                </a:solidFill>
              </a:rPr>
              <a:t>Mi recomendación: aprobar el piloto.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A8177C-B608-4517-BA76-DA4ECA4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083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</a:rPr>
              <a:t>Usarlo para definir el estándar mínimo DevSecOps del banco, sin confundirlo con la seguridad completa de la aplicación.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F7F2F1-FCA9-492F-A333-2218BB14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96596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Gates obligatorios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6AF338-8FD7-4205-B094-2F41379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97180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Evidencia auditable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B25408C-29E4-42F8-BE5C-6E580749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97764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Brechas con dueño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2C6AB56-5AD6-4943-8111-FD33C24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6070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Decisión solicitada: aprobar el piloto y asignar responsables de Seguridad, Plataforma, Desarrollo y Riesgo.</a:t>
            </a:r>
          </a:p>
        </p:txBody>
      </p:sp>
    </p:spTree>
    <p:extLst>
      <p:ext uri="{BB962C8B-B14F-4D97-AF65-F5344CB8AC3E}">
        <p14:creationId xmlns:p14="http://schemas.microsoft.com/office/powerpoint/2010/main" val="8382623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2026-07-10T08:28:54.2330000Z</dcterms:created>
  <dcterms:modified xsi:type="dcterms:W3CDTF">2026-07-10T08:28:54.2330000Z</dcterms:modified>
</coreProperties>
</file>