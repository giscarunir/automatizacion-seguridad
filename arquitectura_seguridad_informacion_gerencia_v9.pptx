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0"/>
  </p:normalViewPr>
  <p:slideViewPr>
    <p:cSldViewPr snapToGrid="0" snapToObjects="1">
      <p:cViewPr varScale="1">
        <p:scale>
          <a:sx n="109" d="100"/>
          <a:sy n="109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con el resultado: el piloto no es una colección de escáneres; es un flujo que bloquea, deja evidencia y puede gobernarse.</a:t>
            </a:r>
          </a:p>
          <a:p>
            <a:r>
              <a:t>No presentar certificaciones. El foco es la prueba, los tiempos y los requisitos para el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directa a la duda: sí se hizo trabajo sustantivo en código, workflows, contenedor, Kubernetes y gobierno.</a:t>
            </a:r>
          </a:p>
          <a:p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demora fue productiva: se cerraron errores de configuración y riesgos del artefacto. La última ejecución limpia ya no hereda ese costo de estabilización.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directa a la duda: sí se hizo trabajo sustantivo en código, workflows, contenedor, Kubernetes y gobierno.</a:t>
            </a:r>
          </a:p>
          <a:p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directa a la duda: sí se hizo trabajo sustantivo en código, workflows, contenedor, Kubernetes y gobierno.</a:t>
            </a:r>
          </a:p>
          <a:p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directa a la duda: sí se hizo trabajo sustantivo en código, workflows, contenedor, Kubernetes y gobierno.</a:t>
            </a:r>
          </a:p>
          <a:p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directa a la duda: sí se hizo trabajo sustantivo en código, workflows, contenedor, Kubernetes y gobierno.</a:t>
            </a:r>
          </a:p>
          <a:p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directa a la duda: sí se hizo trabajo sustantivo en código, workflows, contenedor, Kubernetes y gobierno.</a:t>
            </a:r>
          </a:p>
          <a:p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directa a la duda: sí se hizo trabajo sustantivo en código, workflows, contenedor, Kubernetes y gobierno.</a:t>
            </a:r>
          </a:p>
          <a:p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directa a la duda: sí se hizo trabajo sustantivo en código, workflows, contenedor, Kubernetes y gobierno.</a:t>
            </a:r>
          </a:p>
          <a:p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demora fue productiva: se cerraron errores de configuración y riesgos del artefacto. La última ejecución limpia ya no hereda ese costo de estabilización.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Aclarar que la cobertura DevSecOps no reemplaza IAM, cifrado, WAF, SOC ni resiliencia de la aplicación bancaria.</a:t>
            </a:r>
          </a:p>
          <a:p>
            <a:r>
              <a:t>Fuente oficial: https://docs.github.com/en/code-security/getting-started/github-security-features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demora fue productiva: se cerraron errores de configuración y riesgos del artefacto. La última ejecución limpia ya no hereda ese costo de estabilización.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demora fue productiva: se cerraron errores de configuración y riesgos del artefacto. La última ejecución limpia ya no hereda ese costo de estabilización.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pidiendo una decisión concreta: autorizar piloto, confirmar SKUs y nombrar dueños. El rollout masivo se decide después de medir dos servicios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5D72D9-6452-4653-A6F9-D8352481C927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DCE8F5"/>
                </a:solidFill>
              </a:defRPr>
            </a:pPr>
            <a:r>
              <a:rPr sz="570">
                <a:solidFill>
                  <a:srgbClr val="DCE8F5"/>
                </a:solidFill>
              </a:rPr>
              <a:t>Seguridad de software · Propuesta para gerencia · 10/07/2026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52D199-C243-4947-88AC-B74BE9A019DF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DCE8F5"/>
                </a:solidFill>
              </a:defRPr>
            </a:pPr>
            <a:r>
              <a:rPr sz="620">
                <a:solidFill>
                  <a:srgbClr val="DCE8F5"/>
                </a:solidFill>
              </a:rPr>
              <a:t>1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B81CB7-3035-44CF-95DC-0CCEDDA3C329}"/>
              </a:ext>
            </a:extLst>
          </p:cNvPr>
          <p:cNvSpPr>
            <a:spLocks noGrp="1"/>
          </p:cNvSpPr>
          <p:nvPr/>
        </p:nvSpPr>
        <p:spPr>
          <a:xfrm>
            <a:off x="640080" y="5486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800" b="1">
                <a:solidFill>
                  <a:srgbClr val="19C7C3"/>
                </a:solidFill>
              </a:rPr>
              <a:t>INICIATIVA BANCARIA · DECISIÓN GERENCIAL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BD457E-952F-4AA8-89BB-FC4514D016E8}"/>
              </a:ext>
            </a:extLst>
          </p:cNvPr>
          <p:cNvSpPr>
            <a:spLocks noGrp="1"/>
          </p:cNvSpPr>
          <p:nvPr/>
        </p:nvSpPr>
        <p:spPr>
          <a:xfrm>
            <a:off x="621792" y="960120"/>
            <a:ext cx="6035040" cy="1417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3700" b="1">
                <a:solidFill>
                  <a:srgbClr val="FFFFFF"/>
                </a:solidFill>
              </a:rPr>
              <a:t>Seguridad de software</a:t>
            </a:r>
          </a:p>
          <a:p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3700" b="1">
                <a:solidFill>
                  <a:srgbClr val="FFFFFF"/>
                </a:solidFill>
              </a:rPr>
              <a:t>de última generación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6BC1B5-3309-4156-93D2-C16418DF956F}"/>
              </a:ext>
            </a:extLst>
          </p:cNvPr>
          <p:cNvSpPr>
            <a:spLocks noGrp="1"/>
          </p:cNvSpPr>
          <p:nvPr/>
        </p:nvSpPr>
        <p:spPr>
          <a:xfrm>
            <a:off x="658368" y="2670048"/>
            <a:ext cx="6629400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DCE8F5"/>
                </a:solidFill>
              </a:defRPr>
            </a:pPr>
            <a:r>
              <a:rPr sz="1550">
                <a:solidFill>
                  <a:srgbClr val="DCE8F5"/>
                </a:solidFill>
              </a:rPr>
              <a:t>Siete capas de protección integradas al GitHub Enterprise que el banco ya utiliza.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4194E3-D648-461D-A614-33FE314CDA68}"/>
              </a:ext>
            </a:extLst>
          </p:cNvPr>
          <p:cNvSpPr>
            <a:spLocks noGrp="1"/>
          </p:cNvSpPr>
          <p:nvPr/>
        </p:nvSpPr>
        <p:spPr>
          <a:xfrm>
            <a:off x="7543800" y="960120"/>
            <a:ext cx="3657600" cy="1024128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algn="l">
              <a:buNone/>
              <a:defRPr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DECISIÓN CLAVE</a:t>
            </a:r>
          </a:p>
          <a:p>
            <a:pPr algn="l">
              <a:buNone/>
              <a:defRPr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Adoptar sin reemplazar</a:t>
            </a:r>
          </a:p>
          <a:p>
            <a:pPr algn="l">
              <a:buNone/>
              <a:defRPr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la plataforma actual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60E23DD-B7DF-4E5D-8491-F56F046639CB}"/>
              </a:ext>
            </a:extLst>
          </p:cNvPr>
          <p:cNvSpPr>
            <a:spLocks noGrp="1"/>
          </p:cNvSpPr>
          <p:nvPr/>
        </p:nvSpPr>
        <p:spPr>
          <a:xfrm>
            <a:off x="713232" y="5074920"/>
            <a:ext cx="2331720" cy="658368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 capas</a:t>
            </a:r>
          </a:p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integradas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0B3651-2DA9-40CF-B2A6-119086C2A628}"/>
              </a:ext>
            </a:extLst>
          </p:cNvPr>
          <p:cNvSpPr>
            <a:spLocks noGrp="1"/>
          </p:cNvSpPr>
          <p:nvPr/>
        </p:nvSpPr>
        <p:spPr>
          <a:xfrm>
            <a:off x="3502152" y="5074920"/>
            <a:ext cx="2331720" cy="658368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 plataforma</a:t>
            </a:r>
          </a:p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GitHub Enterprise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2599092-01DF-4CC9-80B6-25563F49B09B}"/>
              </a:ext>
            </a:extLst>
          </p:cNvPr>
          <p:cNvSpPr>
            <a:spLocks noGrp="1"/>
          </p:cNvSpPr>
          <p:nvPr/>
        </p:nvSpPr>
        <p:spPr>
          <a:xfrm>
            <a:off x="6291072" y="5074920"/>
            <a:ext cx="2331720" cy="658368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 caminos</a:t>
            </a:r>
          </a:p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según licencia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B00F443-ECA5-41D7-8775-6DAEE4A66934}"/>
              </a:ext>
            </a:extLst>
          </p:cNvPr>
          <p:cNvSpPr>
            <a:spLocks noGrp="1"/>
          </p:cNvSpPr>
          <p:nvPr/>
        </p:nvSpPr>
        <p:spPr>
          <a:xfrm>
            <a:off x="9079992" y="5074920"/>
            <a:ext cx="2331720" cy="658368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2–5 min</a:t>
            </a:r>
          </a:p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objetivo inicial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CC96EC-25A1-4A4F-95C8-CA1A6EEB2A7B}"/>
              </a:ext>
            </a:extLst>
          </p:cNvPr>
          <p:cNvSpPr>
            <a:spLocks noGrp="1"/>
          </p:cNvSpPr>
          <p:nvPr/>
        </p:nvSpPr>
        <p:spPr>
          <a:xfrm>
            <a:off x="7616952" y="2002536"/>
            <a:ext cx="3108960" cy="2514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buNone/>
              <a:defRPr>
                <a:solidFill>
                  <a:srgbClr val="DCE8F5"/>
                </a:solidFill>
              </a:defRPr>
            </a:pPr>
            <a:r>
              <a:rPr sz="1050" b="1">
                <a:solidFill>
                  <a:srgbClr val="DCE8F5"/>
                </a:solidFill>
                <a:latin typeface="Aptos"/>
                <a:ea typeface="Aptos"/>
                <a:cs typeface="Aptos"/>
              </a:rPr>
              <a:t>Protección equivalente, con o sin complementos avanzados</a:t>
            </a:r>
          </a:p>
        </p:txBody>
      </p:sp>
    </p:spTree>
    <p:extLst>
      <p:ext uri="{BB962C8B-B14F-4D97-AF65-F5344CB8AC3E}">
        <p14:creationId xmlns:p14="http://schemas.microsoft.com/office/powerpoint/2010/main" val="85483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DECISIÓN ESTRATÉGICA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 dirty="0" err="1">
                <a:solidFill>
                  <a:srgbClr val="10233F"/>
                </a:solidFill>
              </a:rPr>
              <a:t>Sí</a:t>
            </a:r>
            <a:r>
              <a:rPr sz="2850" b="1" dirty="0">
                <a:solidFill>
                  <a:srgbClr val="10233F"/>
                </a:solidFill>
              </a:rPr>
              <a:t>: </a:t>
            </a:r>
            <a:r>
              <a:rPr sz="2850" b="1" dirty="0" err="1">
                <a:solidFill>
                  <a:srgbClr val="10233F"/>
                </a:solidFill>
              </a:rPr>
              <a:t>el</a:t>
            </a:r>
            <a:r>
              <a:rPr sz="2850" b="1" dirty="0">
                <a:solidFill>
                  <a:srgbClr val="10233F"/>
                </a:solidFill>
              </a:rPr>
              <a:t> banco </a:t>
            </a:r>
            <a:r>
              <a:rPr sz="2850" b="1" dirty="0" err="1">
                <a:solidFill>
                  <a:srgbClr val="10233F"/>
                </a:solidFill>
              </a:rPr>
              <a:t>puede</a:t>
            </a:r>
            <a:r>
              <a:rPr sz="2850" b="1" dirty="0">
                <a:solidFill>
                  <a:srgbClr val="10233F"/>
                </a:solidFill>
              </a:rPr>
              <a:t> </a:t>
            </a:r>
            <a:r>
              <a:rPr sz="2850" b="1" dirty="0" err="1">
                <a:solidFill>
                  <a:srgbClr val="10233F"/>
                </a:solidFill>
              </a:rPr>
              <a:t>adoptarlo</a:t>
            </a:r>
            <a:r>
              <a:rPr sz="2850" b="1" dirty="0">
                <a:solidFill>
                  <a:srgbClr val="10233F"/>
                </a:solidFill>
              </a:rPr>
              <a:t> </a:t>
            </a:r>
            <a:r>
              <a:rPr lang="es-ES" sz="2850" b="1">
                <a:solidFill>
                  <a:srgbClr val="10233F"/>
                </a:solidFill>
              </a:rPr>
              <a:t>ya tenemos </a:t>
            </a:r>
            <a:r>
              <a:rPr sz="2850" b="1">
                <a:solidFill>
                  <a:srgbClr val="10233F"/>
                </a:solidFill>
              </a:rPr>
              <a:t>GitHub </a:t>
            </a:r>
            <a:r>
              <a:rPr sz="2850" b="1" dirty="0">
                <a:solidFill>
                  <a:srgbClr val="10233F"/>
                </a:solidFill>
              </a:rPr>
              <a:t>Enterprise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La plataforma actual sigue siendo el centro; la elección es el grado de consolidación nativa.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20116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Base común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noGrp="1"/>
          </p:cNvSpPr>
          <p:nvPr/>
        </p:nvSpPr>
        <p:spPr>
          <a:xfrm>
            <a:off x="822960" y="2743200"/>
            <a:ext cx="29260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GitHub Enterprise</a:t>
            </a:r>
          </a:p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Repositorio, automatización, gobierno y evidencia.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noGrp="1"/>
          </p:cNvSpPr>
          <p:nvPr/>
        </p:nvSpPr>
        <p:spPr>
          <a:xfrm>
            <a:off x="3886200" y="3255264"/>
            <a:ext cx="100584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noGrp="1"/>
          </p:cNvSpPr>
          <p:nvPr/>
        </p:nvSpPr>
        <p:spPr>
          <a:xfrm>
            <a:off x="5029200" y="2148840"/>
            <a:ext cx="1828800" cy="411480"/>
          </a:xfrm>
          <a:prstGeom prst="rect">
            <a:avLst/>
          </a:prstGeom>
          <a:solidFill>
            <a:srgbClr val="E7FBF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Camino nativo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Si ya están contratados</a:t>
            </a:r>
          </a:p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Code Security + Secret Protection.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noGrp="1"/>
          </p:cNvSpPr>
          <p:nvPr/>
        </p:nvSpPr>
        <p:spPr>
          <a:xfrm>
            <a:off x="8138160" y="3255264"/>
            <a:ext cx="86868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noGrp="1"/>
          </p:cNvSpPr>
          <p:nvPr/>
        </p:nvSpPr>
        <p:spPr>
          <a:xfrm>
            <a:off x="9144000" y="2148840"/>
            <a:ext cx="1828800" cy="411480"/>
          </a:xfrm>
          <a:prstGeom prst="rect">
            <a:avLst/>
          </a:prstGeom>
          <a:solidFill>
            <a:srgbClr val="EAF2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Camino abierto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noGrp="1"/>
          </p:cNvSpPr>
          <p:nvPr/>
        </p:nvSpPr>
        <p:spPr>
          <a:xfrm>
            <a:off x="8732520" y="2743200"/>
            <a:ext cx="27432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Si no están contratados</a:t>
            </a:r>
          </a:p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Herramientas abiertas ya implementadas.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noGrp="1"/>
          </p:cNvSpPr>
          <p:nvPr/>
        </p:nvSpPr>
        <p:spPr>
          <a:xfrm>
            <a:off x="1508760" y="5074920"/>
            <a:ext cx="9235440" cy="59436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La cobertura se mantiene; solo cambia la tecnología de las capas 1, 2, 3 y 7.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VALOR PARA EL BANCO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La iniciativa protege operación, cumplimiento y reputación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Convierte seguridad en una condición verificable de cada entrega, no en una revisión tardía.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3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noGrp="1"/>
          </p:cNvSpPr>
          <p:nvPr/>
        </p:nvSpPr>
        <p:spPr>
          <a:xfrm>
            <a:off x="777240" y="2011680"/>
            <a:ext cx="2103120" cy="411480"/>
          </a:xfrm>
          <a:prstGeom prst="rect">
            <a:avLst/>
          </a:prstGeom>
          <a:solidFill>
            <a:srgbClr val="EAF8F0"/>
          </a:solidFill>
          <a:ln w="10160">
            <a:solidFill>
              <a:srgbClr val="14B86A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Menos exposición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noGrp="1"/>
          </p:cNvSpPr>
          <p:nvPr/>
        </p:nvSpPr>
        <p:spPr>
          <a:xfrm>
            <a:off x="777240" y="2606040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Incidentes evitables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Bloquea secretos y fallas antes de producción.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noGrp="1"/>
          </p:cNvSpPr>
          <p:nvPr/>
        </p:nvSpPr>
        <p:spPr>
          <a:xfrm>
            <a:off x="777240" y="3392424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Superficie controlada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Revisa código, componentes, imagen e infraestructura.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noGrp="1"/>
          </p:cNvSpPr>
          <p:nvPr/>
        </p:nvSpPr>
        <p:spPr>
          <a:xfrm>
            <a:off x="777240" y="4178808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Continuidad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Impide publicar un artefacto que no supera controles.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noGrp="1"/>
          </p:cNvSpPr>
          <p:nvPr/>
        </p:nvSpPr>
        <p:spPr>
          <a:xfrm>
            <a:off x="6537960" y="2011680"/>
            <a:ext cx="24688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Más control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noGrp="1"/>
          </p:cNvSpPr>
          <p:nvPr/>
        </p:nvSpPr>
        <p:spPr>
          <a:xfrm>
            <a:off x="6537960" y="2606040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Decisión auditable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Cada aprobación deja evidencia.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noGrp="1"/>
          </p:cNvSpPr>
          <p:nvPr/>
        </p:nvSpPr>
        <p:spPr>
          <a:xfrm>
            <a:off x="6537960" y="3392424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Respuesta más rápida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Hallazgo con dueño, severidad y remediación.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noGrp="1"/>
          </p:cNvSpPr>
          <p:nvPr/>
        </p:nvSpPr>
        <p:spPr>
          <a:xfrm>
            <a:off x="6537960" y="4178808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Gobierno escalable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La misma política se replica por repositorio.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noGrp="1"/>
          </p:cNvSpPr>
          <p:nvPr/>
        </p:nvSpPr>
        <p:spPr>
          <a:xfrm>
            <a:off x="1325880" y="5532120"/>
            <a:ext cx="9601200" cy="566928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Regla de negocio: ningún cambio crítico avanza sin evidencia de seguridad.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1 · SECRETOS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Bloquear credenciales antes de que salgan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Evita que una clave expuesta se convierta en acceso no autorizado.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5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20116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noGrp="1"/>
          </p:cNvSpPr>
          <p:nvPr/>
        </p:nvSpPr>
        <p:spPr>
          <a:xfrm>
            <a:off x="822960" y="2743200"/>
            <a:ext cx="29260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Contraseñas, tokens, llaves API y credenciales de servicios.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noGrp="1"/>
          </p:cNvSpPr>
          <p:nvPr/>
        </p:nvSpPr>
        <p:spPr>
          <a:xfrm>
            <a:off x="3886200" y="3255264"/>
            <a:ext cx="100584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noGrp="1"/>
          </p:cNvSpPr>
          <p:nvPr/>
        </p:nvSpPr>
        <p:spPr>
          <a:xfrm>
            <a:off x="5029200" y="2148840"/>
            <a:ext cx="1828800" cy="411480"/>
          </a:xfrm>
          <a:prstGeom prst="rect">
            <a:avLst/>
          </a:prstGeom>
          <a:solidFill>
            <a:srgbClr val="E7FBF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Fraude, fuga de datos y acceso a sistemas internos o terceros.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noGrp="1"/>
          </p:cNvSpPr>
          <p:nvPr/>
        </p:nvSpPr>
        <p:spPr>
          <a:xfrm>
            <a:off x="8138160" y="3255264"/>
            <a:ext cx="86868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noGrp="1"/>
          </p:cNvSpPr>
          <p:nvPr/>
        </p:nvSpPr>
        <p:spPr>
          <a:xfrm>
            <a:off x="9144000" y="2148840"/>
            <a:ext cx="1828800" cy="411480"/>
          </a:xfrm>
          <a:prstGeom prst="rect">
            <a:avLst/>
          </a:prstGeom>
          <a:solidFill>
            <a:srgbClr val="EAF2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noGrp="1"/>
          </p:cNvSpPr>
          <p:nvPr/>
        </p:nvSpPr>
        <p:spPr>
          <a:xfrm>
            <a:off x="8732520" y="2743200"/>
            <a:ext cx="27432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Bloqueo preventivo y alerta centralizada antes de integrar el cambio.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noGrp="1"/>
          </p:cNvSpPr>
          <p:nvPr/>
        </p:nvSpPr>
        <p:spPr>
          <a:xfrm>
            <a:off x="1508760" y="5074920"/>
            <a:ext cx="9235440" cy="59436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preventiva + detectiva  |  Nativo: Secret Protection  |  Alternativa: GitLeaks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2 · CÓDIGO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Descubrir fallas antes de producir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Revisa la lógica del software mientras todavía es económico corregirla.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6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20116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noGrp="1"/>
          </p:cNvSpPr>
          <p:nvPr/>
        </p:nvSpPr>
        <p:spPr>
          <a:xfrm>
            <a:off x="822960" y="2743200"/>
            <a:ext cx="29260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Código fuente, validaciones y lógica de negocio de aplicaciones y APIs.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noGrp="1"/>
          </p:cNvSpPr>
          <p:nvPr/>
        </p:nvSpPr>
        <p:spPr>
          <a:xfrm>
            <a:off x="3886200" y="3255264"/>
            <a:ext cx="100584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noGrp="1"/>
          </p:cNvSpPr>
          <p:nvPr/>
        </p:nvSpPr>
        <p:spPr>
          <a:xfrm>
            <a:off x="5029200" y="2148840"/>
            <a:ext cx="1828800" cy="411480"/>
          </a:xfrm>
          <a:prstGeom prst="rect">
            <a:avLst/>
          </a:prstGeom>
          <a:solidFill>
            <a:srgbClr val="E7FBF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Inyección, validaciones inseguras y rutas explotables por un atacante.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noGrp="1"/>
          </p:cNvSpPr>
          <p:nvPr/>
        </p:nvSpPr>
        <p:spPr>
          <a:xfrm>
            <a:off x="8138160" y="3255264"/>
            <a:ext cx="86868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noGrp="1"/>
          </p:cNvSpPr>
          <p:nvPr/>
        </p:nvSpPr>
        <p:spPr>
          <a:xfrm>
            <a:off x="9144000" y="2148840"/>
            <a:ext cx="1828800" cy="411480"/>
          </a:xfrm>
          <a:prstGeom prst="rect">
            <a:avLst/>
          </a:prstGeom>
          <a:solidFill>
            <a:srgbClr val="EAF2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noGrp="1"/>
          </p:cNvSpPr>
          <p:nvPr/>
        </p:nvSpPr>
        <p:spPr>
          <a:xfrm>
            <a:off x="8732520" y="2743200"/>
            <a:ext cx="27432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Hallazgo temprano, prioridad por severidad y corrección antes del despliegue.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noGrp="1"/>
          </p:cNvSpPr>
          <p:nvPr/>
        </p:nvSpPr>
        <p:spPr>
          <a:xfrm>
            <a:off x="1508760" y="5074920"/>
            <a:ext cx="9235440" cy="59436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seguridad de aplicaciones  |  Nativo: CodeQL  |  Alternativa: Semgrep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3 · DEPENDENCIAS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Controlar el software de terceros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El banco conoce qué componentes incorpora y si arrastran vulnerabilidades conocidas.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7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20116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noGrp="1"/>
          </p:cNvSpPr>
          <p:nvPr/>
        </p:nvSpPr>
        <p:spPr>
          <a:xfrm>
            <a:off x="822960" y="2743200"/>
            <a:ext cx="29260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Librerías, paquetes y componentes externos usados por la aplicación.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noGrp="1"/>
          </p:cNvSpPr>
          <p:nvPr/>
        </p:nvSpPr>
        <p:spPr>
          <a:xfrm>
            <a:off x="3886200" y="3255264"/>
            <a:ext cx="100584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noGrp="1"/>
          </p:cNvSpPr>
          <p:nvPr/>
        </p:nvSpPr>
        <p:spPr>
          <a:xfrm>
            <a:off x="5029200" y="2148840"/>
            <a:ext cx="1828800" cy="411480"/>
          </a:xfrm>
          <a:prstGeom prst="rect">
            <a:avLst/>
          </a:prstGeom>
          <a:solidFill>
            <a:srgbClr val="E7FBF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Vulnerabilidades conocidas, componentes obsoletos o cambios maliciosos.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noGrp="1"/>
          </p:cNvSpPr>
          <p:nvPr/>
        </p:nvSpPr>
        <p:spPr>
          <a:xfrm>
            <a:off x="8138160" y="3255264"/>
            <a:ext cx="86868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noGrp="1"/>
          </p:cNvSpPr>
          <p:nvPr/>
        </p:nvSpPr>
        <p:spPr>
          <a:xfrm>
            <a:off x="9144000" y="2148840"/>
            <a:ext cx="1828800" cy="411480"/>
          </a:xfrm>
          <a:prstGeom prst="rect">
            <a:avLst/>
          </a:prstGeom>
          <a:solidFill>
            <a:srgbClr val="EAF2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noGrp="1"/>
          </p:cNvSpPr>
          <p:nvPr/>
        </p:nvSpPr>
        <p:spPr>
          <a:xfrm>
            <a:off x="8732520" y="2743200"/>
            <a:ext cx="27432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Inventario, bloqueo de cambios riesgosos y ruta de actualización.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noGrp="1"/>
          </p:cNvSpPr>
          <p:nvPr/>
        </p:nvSpPr>
        <p:spPr>
          <a:xfrm>
            <a:off x="1508760" y="5074920"/>
            <a:ext cx="9235440" cy="59436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cadena de suministro  |  Nativo: Dependency Review  |  Alternativa: Trivy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4 · CONTENEDOR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Asegurar lo que realmente llega a producción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Valida la imagen ejecutable, no solo el código que la originó.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8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20116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noGrp="1"/>
          </p:cNvSpPr>
          <p:nvPr/>
        </p:nvSpPr>
        <p:spPr>
          <a:xfrm>
            <a:off x="822960" y="2743200"/>
            <a:ext cx="29260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Imagen desplegable, paquetes del sistema operativo y configuración de ejecución.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noGrp="1"/>
          </p:cNvSpPr>
          <p:nvPr/>
        </p:nvSpPr>
        <p:spPr>
          <a:xfrm>
            <a:off x="3886200" y="3255264"/>
            <a:ext cx="100584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noGrp="1"/>
          </p:cNvSpPr>
          <p:nvPr/>
        </p:nvSpPr>
        <p:spPr>
          <a:xfrm>
            <a:off x="5029200" y="2148840"/>
            <a:ext cx="1828800" cy="411480"/>
          </a:xfrm>
          <a:prstGeom prst="rect">
            <a:avLst/>
          </a:prstGeom>
          <a:solidFill>
            <a:srgbClr val="E7FBF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Componentes vulnerables, ejecución como root y exposición innecesaria.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noGrp="1"/>
          </p:cNvSpPr>
          <p:nvPr/>
        </p:nvSpPr>
        <p:spPr>
          <a:xfrm>
            <a:off x="8138160" y="3255264"/>
            <a:ext cx="86868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noGrp="1"/>
          </p:cNvSpPr>
          <p:nvPr/>
        </p:nvSpPr>
        <p:spPr>
          <a:xfrm>
            <a:off x="9144000" y="2148840"/>
            <a:ext cx="1828800" cy="411480"/>
          </a:xfrm>
          <a:prstGeom prst="rect">
            <a:avLst/>
          </a:prstGeom>
          <a:solidFill>
            <a:srgbClr val="EAF2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noGrp="1"/>
          </p:cNvSpPr>
          <p:nvPr/>
        </p:nvSpPr>
        <p:spPr>
          <a:xfrm>
            <a:off x="8732520" y="2743200"/>
            <a:ext cx="27432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Solo se publica una imagen identificada y aprobada por política.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noGrp="1"/>
          </p:cNvSpPr>
          <p:nvPr/>
        </p:nvSpPr>
        <p:spPr>
          <a:xfrm>
            <a:off x="1508760" y="5074920"/>
            <a:ext cx="9235440" cy="59436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seguridad de cargas de trabajo  |  Tecnología: Trivy  |  No cambia entre caminos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5 · INFRAESTRUCTURA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Prevenir configuraciones riesgosas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Detecta exposición y privilegios excesivos antes de crear infraestructura o Kubernetes.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9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20116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noGrp="1"/>
          </p:cNvSpPr>
          <p:nvPr/>
        </p:nvSpPr>
        <p:spPr>
          <a:xfrm>
            <a:off x="822960" y="2743200"/>
            <a:ext cx="29260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Definiciones de infraestructura, permisos, redes y manifiestos Kubernetes.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noGrp="1"/>
          </p:cNvSpPr>
          <p:nvPr/>
        </p:nvSpPr>
        <p:spPr>
          <a:xfrm>
            <a:off x="3886200" y="3255264"/>
            <a:ext cx="100584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noGrp="1"/>
          </p:cNvSpPr>
          <p:nvPr/>
        </p:nvSpPr>
        <p:spPr>
          <a:xfrm>
            <a:off x="5029200" y="2148840"/>
            <a:ext cx="1828800" cy="411480"/>
          </a:xfrm>
          <a:prstGeom prst="rect">
            <a:avLst/>
          </a:prstGeom>
          <a:solidFill>
            <a:srgbClr val="E7FBF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Servicios expuestos, permisos excesivos y ausencia de controles mínimos.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noGrp="1"/>
          </p:cNvSpPr>
          <p:nvPr/>
        </p:nvSpPr>
        <p:spPr>
          <a:xfrm>
            <a:off x="8138160" y="3255264"/>
            <a:ext cx="86868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noGrp="1"/>
          </p:cNvSpPr>
          <p:nvPr/>
        </p:nvSpPr>
        <p:spPr>
          <a:xfrm>
            <a:off x="9144000" y="2148840"/>
            <a:ext cx="1828800" cy="411480"/>
          </a:xfrm>
          <a:prstGeom prst="rect">
            <a:avLst/>
          </a:prstGeom>
          <a:solidFill>
            <a:srgbClr val="EAF2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noGrp="1"/>
          </p:cNvSpPr>
          <p:nvPr/>
        </p:nvSpPr>
        <p:spPr>
          <a:xfrm>
            <a:off x="8732520" y="2743200"/>
            <a:ext cx="27432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Configuración corregida antes del despliegue y evidencia de política.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noGrp="1"/>
          </p:cNvSpPr>
          <p:nvPr/>
        </p:nvSpPr>
        <p:spPr>
          <a:xfrm>
            <a:off x="1508760" y="5074920"/>
            <a:ext cx="9235440" cy="59436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seguridad de configuración y nube  |  Tecnología: Checkov  |  No cambia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6 · APLICACIÓN ACTIVA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Validar como la ve un atacante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Comprueba el comportamiento de la aplicación y sus APIs mientras están ejecutándose.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20116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noGrp="1"/>
          </p:cNvSpPr>
          <p:nvPr/>
        </p:nvSpPr>
        <p:spPr>
          <a:xfrm>
            <a:off x="822960" y="2743200"/>
            <a:ext cx="29260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Aplicación web, API, cabeceras, sesiones y puntos de entrada visibles.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noGrp="1"/>
          </p:cNvSpPr>
          <p:nvPr/>
        </p:nvSpPr>
        <p:spPr>
          <a:xfrm>
            <a:off x="3886200" y="3255264"/>
            <a:ext cx="100584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noGrp="1"/>
          </p:cNvSpPr>
          <p:nvPr/>
        </p:nvSpPr>
        <p:spPr>
          <a:xfrm>
            <a:off x="5029200" y="2148840"/>
            <a:ext cx="1828800" cy="411480"/>
          </a:xfrm>
          <a:prstGeom prst="rect">
            <a:avLst/>
          </a:prstGeom>
          <a:solidFill>
            <a:srgbClr val="E7FBF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Debilidades HTTP y fallas que solo aparecen con la aplicación activa.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noGrp="1"/>
          </p:cNvSpPr>
          <p:nvPr/>
        </p:nvSpPr>
        <p:spPr>
          <a:xfrm>
            <a:off x="8138160" y="3255264"/>
            <a:ext cx="86868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noGrp="1"/>
          </p:cNvSpPr>
          <p:nvPr/>
        </p:nvSpPr>
        <p:spPr>
          <a:xfrm>
            <a:off x="9144000" y="2148840"/>
            <a:ext cx="1828800" cy="411480"/>
          </a:xfrm>
          <a:prstGeom prst="rect">
            <a:avLst/>
          </a:prstGeom>
          <a:solidFill>
            <a:srgbClr val="EAF2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noGrp="1"/>
          </p:cNvSpPr>
          <p:nvPr/>
        </p:nvSpPr>
        <p:spPr>
          <a:xfrm>
            <a:off x="8732520" y="2743200"/>
            <a:ext cx="27432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Validación independiente antes de liberar y evidencia de la prueba.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noGrp="1"/>
          </p:cNvSpPr>
          <p:nvPr/>
        </p:nvSpPr>
        <p:spPr>
          <a:xfrm>
            <a:off x="1508760" y="5074920"/>
            <a:ext cx="9235440" cy="59436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seguridad dinámica de aplicaciones  |  Tecnología: OWASP ZAP  |  No cambia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7 · CADENA DE SUMINISTRO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Demostrar qué se construyó y de dónde viene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Aporta trazabilidad para responder quién produjo el artefacto y qué contiene.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20116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noGrp="1"/>
          </p:cNvSpPr>
          <p:nvPr/>
        </p:nvSpPr>
        <p:spPr>
          <a:xfrm>
            <a:off x="822960" y="2743200"/>
            <a:ext cx="29260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Artefacto final, inventario de componentes, origen y proceso de construcción.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noGrp="1"/>
          </p:cNvSpPr>
          <p:nvPr/>
        </p:nvSpPr>
        <p:spPr>
          <a:xfrm>
            <a:off x="3886200" y="3255264"/>
            <a:ext cx="100584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noGrp="1"/>
          </p:cNvSpPr>
          <p:nvPr/>
        </p:nvSpPr>
        <p:spPr>
          <a:xfrm>
            <a:off x="5029200" y="2148840"/>
            <a:ext cx="1828800" cy="411480"/>
          </a:xfrm>
          <a:prstGeom prst="rect">
            <a:avLst/>
          </a:prstGeom>
          <a:solidFill>
            <a:srgbClr val="E7FBF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Manipulación, componentes desconocidos y builds sin trazabilidad.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noGrp="1"/>
          </p:cNvSpPr>
          <p:nvPr/>
        </p:nvSpPr>
        <p:spPr>
          <a:xfrm>
            <a:off x="8138160" y="3255264"/>
            <a:ext cx="86868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noGrp="1"/>
          </p:cNvSpPr>
          <p:nvPr/>
        </p:nvSpPr>
        <p:spPr>
          <a:xfrm>
            <a:off x="9144000" y="2148840"/>
            <a:ext cx="1828800" cy="411480"/>
          </a:xfrm>
          <a:prstGeom prst="rect">
            <a:avLst/>
          </a:prstGeom>
          <a:solidFill>
            <a:srgbClr val="EAF2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noGrp="1"/>
          </p:cNvSpPr>
          <p:nvPr/>
        </p:nvSpPr>
        <p:spPr>
          <a:xfrm>
            <a:off x="8732520" y="2743200"/>
            <a:ext cx="27432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SBOM, procedencia verificable y evidencia útil para auditoría e incidentes.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noGrp="1"/>
          </p:cNvSpPr>
          <p:nvPr/>
        </p:nvSpPr>
        <p:spPr>
          <a:xfrm>
            <a:off x="1508760" y="5074920"/>
            <a:ext cx="9235440" cy="59436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integridad + trazabilidad  |  Nativo: Attestations  |  Alternativa: Syft + Cosign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LICENCIAS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196"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GitHub Enterprise es la base; los productos avanzados se confirman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La iniciativa puede comenzar hoy con herramientas abiertas y consolidarse nativamente después.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Fuentes: GitHub Docs · Product billing y GitHub security features · consulta 10/07/2026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noGrp="1"/>
          </p:cNvSpPr>
          <p:nvPr/>
        </p:nvSpPr>
        <p:spPr>
          <a:xfrm>
            <a:off x="777240" y="2011680"/>
            <a:ext cx="2103120" cy="411480"/>
          </a:xfrm>
          <a:prstGeom prst="rect">
            <a:avLst/>
          </a:prstGeom>
          <a:solidFill>
            <a:srgbClr val="EAF8F0"/>
          </a:solidFill>
          <a:ln w="10160">
            <a:solidFill>
              <a:srgbClr val="14B86A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Puede iniciar ahora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noGrp="1"/>
          </p:cNvSpPr>
          <p:nvPr/>
        </p:nvSpPr>
        <p:spPr>
          <a:xfrm>
            <a:off x="777240" y="2606040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GitHub Enterprise actual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Repositorio, Actions, reglas y gobierno.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noGrp="1"/>
          </p:cNvSpPr>
          <p:nvPr/>
        </p:nvSpPr>
        <p:spPr>
          <a:xfrm>
            <a:off x="777240" y="3392424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Herramientas abiertas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GitLeaks, Semgrep, Trivy, Checkov y ZAP.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noGrp="1"/>
          </p:cNvSpPr>
          <p:nvPr/>
        </p:nvSpPr>
        <p:spPr>
          <a:xfrm>
            <a:off x="777240" y="4178808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Capas estables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Contenedor, infraestructura y DAST no cambian.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noGrp="1"/>
          </p:cNvSpPr>
          <p:nvPr/>
        </p:nvSpPr>
        <p:spPr>
          <a:xfrm>
            <a:off x="6537960" y="2011680"/>
            <a:ext cx="24688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Para máxima consolidación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noGrp="1"/>
          </p:cNvSpPr>
          <p:nvPr/>
        </p:nvSpPr>
        <p:spPr>
          <a:xfrm>
            <a:off x="6537960" y="2606040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GitHub Secret Protection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Secret scanning y push protection en privados.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noGrp="1"/>
          </p:cNvSpPr>
          <p:nvPr/>
        </p:nvSpPr>
        <p:spPr>
          <a:xfrm>
            <a:off x="6537960" y="3392424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GitHub Code Security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CodeQL y Dependency Review en privados.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noGrp="1"/>
          </p:cNvSpPr>
          <p:nvPr/>
        </p:nvSpPr>
        <p:spPr>
          <a:xfrm>
            <a:off x="6537960" y="4178808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Confirmar contrato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Cloud o Server, versión, committers y attestations.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noGrp="1"/>
          </p:cNvSpPr>
          <p:nvPr/>
        </p:nvSpPr>
        <p:spPr>
          <a:xfrm>
            <a:off x="1325880" y="5532120"/>
            <a:ext cx="9601200" cy="566928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Enterprise basta para iniciar con herramientas abiertas; el camino 100% nativo exige validar productos.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3E58FA-F33F-4372-AA9F-32382BF73086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DOS CAMINOS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E1CFEF-5734-48D7-BE88-3BE8CF76AB1D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Dos caminos, la misma cobertura objetivo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C8510F-E883-4E9E-82DF-456C6B0ACB61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Lectura: capa, camino nativo, camino abierto e impacto. Solo las capas 1, 2, 3 y 7 cambian.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8292A1-1476-4D75-8F47-1F3A4E453E67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GitHub Docs · *Attestations privadas: Enterprise Cloud; validar Server y versión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0F9D5D-8644-46E5-A3F7-505C7BA5C490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13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F4ADCB-9602-4DC0-A480-143EDC2DBA2C}"/>
              </a:ext>
            </a:extLst>
          </p:cNvPr>
          <p:cNvSpPr>
            <a:spLocks noGrp="1"/>
          </p:cNvSpPr>
          <p:nvPr/>
        </p:nvSpPr>
        <p:spPr>
          <a:xfrm>
            <a:off x="566928" y="1965960"/>
            <a:ext cx="502920" cy="411480"/>
          </a:xfrm>
          <a:prstGeom prst="rect">
            <a:avLst/>
          </a:prstGeom>
          <a:solidFill>
            <a:srgbClr val="EF476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1E0F71-9189-4597-A9A8-4B89D872EE4A}"/>
              </a:ext>
            </a:extLst>
          </p:cNvPr>
          <p:cNvSpPr>
            <a:spLocks noGrp="1"/>
          </p:cNvSpPr>
          <p:nvPr/>
        </p:nvSpPr>
        <p:spPr>
          <a:xfrm>
            <a:off x="1225296" y="198424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Secretos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0E691B-0C05-4F53-B176-AB220E5A6226}"/>
              </a:ext>
            </a:extLst>
          </p:cNvPr>
          <p:cNvSpPr>
            <a:spLocks noGrp="1"/>
          </p:cNvSpPr>
          <p:nvPr/>
        </p:nvSpPr>
        <p:spPr>
          <a:xfrm>
            <a:off x="3419856" y="1984248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Secret Protection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DC9EB3C-CB41-46E6-B37F-16FC6A160328}"/>
              </a:ext>
            </a:extLst>
          </p:cNvPr>
          <p:cNvSpPr>
            <a:spLocks noGrp="1"/>
          </p:cNvSpPr>
          <p:nvPr/>
        </p:nvSpPr>
        <p:spPr>
          <a:xfrm>
            <a:off x="5458968" y="196596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GitLeaks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D20D5BD-7E60-4CA4-B6CD-9C79A285E941}"/>
              </a:ext>
            </a:extLst>
          </p:cNvPr>
          <p:cNvSpPr>
            <a:spLocks noGrp="1"/>
          </p:cNvSpPr>
          <p:nvPr/>
        </p:nvSpPr>
        <p:spPr>
          <a:xfrm>
            <a:off x="8110728" y="1965960"/>
            <a:ext cx="35204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Cambia: menos nativo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6FE9C98-D523-46B0-B8E3-D28C9C90AE94}"/>
              </a:ext>
            </a:extLst>
          </p:cNvPr>
          <p:cNvSpPr>
            <a:spLocks noGrp="1"/>
          </p:cNvSpPr>
          <p:nvPr/>
        </p:nvSpPr>
        <p:spPr>
          <a:xfrm>
            <a:off x="566928" y="2532888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BB437CC-B5E1-4C26-8A7F-193A2787D13B}"/>
              </a:ext>
            </a:extLst>
          </p:cNvPr>
          <p:cNvSpPr>
            <a:spLocks noGrp="1"/>
          </p:cNvSpPr>
          <p:nvPr/>
        </p:nvSpPr>
        <p:spPr>
          <a:xfrm>
            <a:off x="566928" y="2633472"/>
            <a:ext cx="502920" cy="411480"/>
          </a:xfrm>
          <a:prstGeom prst="rect">
            <a:avLst/>
          </a:prstGeom>
          <a:solidFill>
            <a:srgbClr val="7B3FF2"/>
          </a:solidFill>
          <a:ln w="10160">
            <a:solidFill>
              <a:srgbClr val="7B3FF2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2BAFCD9-6690-4E8D-B267-343477CE7B3B}"/>
              </a:ext>
            </a:extLst>
          </p:cNvPr>
          <p:cNvSpPr>
            <a:spLocks noGrp="1"/>
          </p:cNvSpPr>
          <p:nvPr/>
        </p:nvSpPr>
        <p:spPr>
          <a:xfrm>
            <a:off x="1225296" y="265176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Código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F98AADA-4A20-4B02-81CC-1D591A6D89EE}"/>
              </a:ext>
            </a:extLst>
          </p:cNvPr>
          <p:cNvSpPr>
            <a:spLocks noGrp="1"/>
          </p:cNvSpPr>
          <p:nvPr/>
        </p:nvSpPr>
        <p:spPr>
          <a:xfrm>
            <a:off x="3419856" y="265176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CodeQL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255B2FC-5DDC-4FF2-98F4-39DA05B75A98}"/>
              </a:ext>
            </a:extLst>
          </p:cNvPr>
          <p:cNvSpPr>
            <a:spLocks noGrp="1"/>
          </p:cNvSpPr>
          <p:nvPr/>
        </p:nvSpPr>
        <p:spPr>
          <a:xfrm>
            <a:off x="5458968" y="2633472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Semgrep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5AA8482-3E31-4B8B-99A2-80B4540FE605}"/>
              </a:ext>
            </a:extLst>
          </p:cNvPr>
          <p:cNvSpPr>
            <a:spLocks noGrp="1"/>
          </p:cNvSpPr>
          <p:nvPr/>
        </p:nvSpPr>
        <p:spPr>
          <a:xfrm>
            <a:off x="8110728" y="2633472"/>
            <a:ext cx="35204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Cambia: menor unificación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0789811-792F-4E27-99A6-A3D0C8786D66}"/>
              </a:ext>
            </a:extLst>
          </p:cNvPr>
          <p:cNvSpPr>
            <a:spLocks noGrp="1"/>
          </p:cNvSpPr>
          <p:nvPr/>
        </p:nvSpPr>
        <p:spPr>
          <a:xfrm>
            <a:off x="566928" y="3200400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0B455F0-C06A-49D1-AD69-5596DC963CDD}"/>
              </a:ext>
            </a:extLst>
          </p:cNvPr>
          <p:cNvSpPr>
            <a:spLocks noGrp="1"/>
          </p:cNvSpPr>
          <p:nvPr/>
        </p:nvSpPr>
        <p:spPr>
          <a:xfrm>
            <a:off x="566928" y="3300984"/>
            <a:ext cx="502920" cy="411480"/>
          </a:xfrm>
          <a:prstGeom prst="rect">
            <a:avLst/>
          </a:prstGeom>
          <a:solidFill>
            <a:srgbClr val="FF9F1C"/>
          </a:solidFill>
          <a:ln w="10160">
            <a:solidFill>
              <a:srgbClr val="FF9F1C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2D438C3-346B-4074-ADE2-D8A91C143D23}"/>
              </a:ext>
            </a:extLst>
          </p:cNvPr>
          <p:cNvSpPr>
            <a:spLocks noGrp="1"/>
          </p:cNvSpPr>
          <p:nvPr/>
        </p:nvSpPr>
        <p:spPr>
          <a:xfrm>
            <a:off x="1225296" y="3319272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Dependencias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A0D9610-9B0D-4D2A-AEA2-3D481ADC37EB}"/>
              </a:ext>
            </a:extLst>
          </p:cNvPr>
          <p:cNvSpPr>
            <a:spLocks noGrp="1"/>
          </p:cNvSpPr>
          <p:nvPr/>
        </p:nvSpPr>
        <p:spPr>
          <a:xfrm>
            <a:off x="3419856" y="331927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Dependency Review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34D4D23-FE4F-47F8-9E5D-352E89930A3E}"/>
              </a:ext>
            </a:extLst>
          </p:cNvPr>
          <p:cNvSpPr>
            <a:spLocks noGrp="1"/>
          </p:cNvSpPr>
          <p:nvPr/>
        </p:nvSpPr>
        <p:spPr>
          <a:xfrm>
            <a:off x="5458968" y="3300984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Trivy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43D5667-AC85-49D1-86C6-4E927074FCDA}"/>
              </a:ext>
            </a:extLst>
          </p:cNvPr>
          <p:cNvSpPr>
            <a:spLocks noGrp="1"/>
          </p:cNvSpPr>
          <p:nvPr/>
        </p:nvSpPr>
        <p:spPr>
          <a:xfrm>
            <a:off x="8110728" y="3300984"/>
            <a:ext cx="35204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Cambia: menos contexto PR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3BD73C7-F261-4952-92DE-F749B811D552}"/>
              </a:ext>
            </a:extLst>
          </p:cNvPr>
          <p:cNvSpPr>
            <a:spLocks noGrp="1"/>
          </p:cNvSpPr>
          <p:nvPr/>
        </p:nvSpPr>
        <p:spPr>
          <a:xfrm>
            <a:off x="566928" y="3867912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FD57076-AF08-4411-989A-4CB88159A6DB}"/>
              </a:ext>
            </a:extLst>
          </p:cNvPr>
          <p:cNvSpPr>
            <a:spLocks noGrp="1"/>
          </p:cNvSpPr>
          <p:nvPr/>
        </p:nvSpPr>
        <p:spPr>
          <a:xfrm>
            <a:off x="566928" y="3968496"/>
            <a:ext cx="502920" cy="411480"/>
          </a:xfrm>
          <a:prstGeom prst="rect">
            <a:avLst/>
          </a:prstGeom>
          <a:solidFill>
            <a:srgbClr val="2454C6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5A144CA-82EB-44E4-8644-B27644B6F1EC}"/>
              </a:ext>
            </a:extLst>
          </p:cNvPr>
          <p:cNvSpPr>
            <a:spLocks noGrp="1"/>
          </p:cNvSpPr>
          <p:nvPr/>
        </p:nvSpPr>
        <p:spPr>
          <a:xfrm>
            <a:off x="1225296" y="3986784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Contenedor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882C4DD-DF14-4094-ACA8-426F5F454613}"/>
              </a:ext>
            </a:extLst>
          </p:cNvPr>
          <p:cNvSpPr>
            <a:spLocks noGrp="1"/>
          </p:cNvSpPr>
          <p:nvPr/>
        </p:nvSpPr>
        <p:spPr>
          <a:xfrm>
            <a:off x="3419856" y="398678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Trivy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D4326C7-2F35-47E6-8FDC-0155297A0982}"/>
              </a:ext>
            </a:extLst>
          </p:cNvPr>
          <p:cNvSpPr>
            <a:spLocks noGrp="1"/>
          </p:cNvSpPr>
          <p:nvPr/>
        </p:nvSpPr>
        <p:spPr>
          <a:xfrm>
            <a:off x="5458968" y="3968496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Igual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253A894-CDE3-4B73-944A-4B3EBAFDA67C}"/>
              </a:ext>
            </a:extLst>
          </p:cNvPr>
          <p:cNvSpPr>
            <a:spLocks noGrp="1"/>
          </p:cNvSpPr>
          <p:nvPr/>
        </p:nvSpPr>
        <p:spPr>
          <a:xfrm>
            <a:off x="8110728" y="3968496"/>
            <a:ext cx="35204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No cambia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3649944-CDC8-460A-9745-62A9CA889645}"/>
              </a:ext>
            </a:extLst>
          </p:cNvPr>
          <p:cNvSpPr>
            <a:spLocks noGrp="1"/>
          </p:cNvSpPr>
          <p:nvPr/>
        </p:nvSpPr>
        <p:spPr>
          <a:xfrm>
            <a:off x="566928" y="4535424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BF14E21-4696-45E2-AE3C-54E0972E5F37}"/>
              </a:ext>
            </a:extLst>
          </p:cNvPr>
          <p:cNvSpPr>
            <a:spLocks noGrp="1"/>
          </p:cNvSpPr>
          <p:nvPr/>
        </p:nvSpPr>
        <p:spPr>
          <a:xfrm>
            <a:off x="566928" y="4636008"/>
            <a:ext cx="502920" cy="411480"/>
          </a:xfrm>
          <a:prstGeom prst="rect">
            <a:avLst/>
          </a:prstGeom>
          <a:solidFill>
            <a:srgbClr val="0E9F9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AE000A6-6632-44E8-B6F6-AAB7CDC701FB}"/>
              </a:ext>
            </a:extLst>
          </p:cNvPr>
          <p:cNvSpPr>
            <a:spLocks noGrp="1"/>
          </p:cNvSpPr>
          <p:nvPr/>
        </p:nvSpPr>
        <p:spPr>
          <a:xfrm>
            <a:off x="1225296" y="4654296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IaC / K8s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3B16F45-0493-47AA-B883-A9F6C04D0905}"/>
              </a:ext>
            </a:extLst>
          </p:cNvPr>
          <p:cNvSpPr>
            <a:spLocks noGrp="1"/>
          </p:cNvSpPr>
          <p:nvPr/>
        </p:nvSpPr>
        <p:spPr>
          <a:xfrm>
            <a:off x="3419856" y="465429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Checkov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514D1D2-9F6E-484E-A9CC-2377EC2C49B3}"/>
              </a:ext>
            </a:extLst>
          </p:cNvPr>
          <p:cNvSpPr>
            <a:spLocks noGrp="1"/>
          </p:cNvSpPr>
          <p:nvPr/>
        </p:nvSpPr>
        <p:spPr>
          <a:xfrm>
            <a:off x="5458968" y="4636008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Igual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B5965F1-20FE-458F-8D48-DC2DA9E57517}"/>
              </a:ext>
            </a:extLst>
          </p:cNvPr>
          <p:cNvSpPr>
            <a:spLocks noGrp="1"/>
          </p:cNvSpPr>
          <p:nvPr/>
        </p:nvSpPr>
        <p:spPr>
          <a:xfrm>
            <a:off x="8110728" y="4636008"/>
            <a:ext cx="35204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No cambia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3301262-37A1-4527-9C04-2A84B4E1F895}"/>
              </a:ext>
            </a:extLst>
          </p:cNvPr>
          <p:cNvSpPr>
            <a:spLocks noGrp="1"/>
          </p:cNvSpPr>
          <p:nvPr/>
        </p:nvSpPr>
        <p:spPr>
          <a:xfrm>
            <a:off x="566928" y="5202936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D86F019-CFDC-46CF-8943-2BCF1D689D07}"/>
              </a:ext>
            </a:extLst>
          </p:cNvPr>
          <p:cNvSpPr>
            <a:spLocks noGrp="1"/>
          </p:cNvSpPr>
          <p:nvPr/>
        </p:nvSpPr>
        <p:spPr>
          <a:xfrm>
            <a:off x="566928" y="5303520"/>
            <a:ext cx="502920" cy="411480"/>
          </a:xfrm>
          <a:prstGeom prst="rect">
            <a:avLst/>
          </a:prstGeom>
          <a:solidFill>
            <a:srgbClr val="EF476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669D72C-DCC1-4AB7-8DD4-94FE94FE763E}"/>
              </a:ext>
            </a:extLst>
          </p:cNvPr>
          <p:cNvSpPr>
            <a:spLocks noGrp="1"/>
          </p:cNvSpPr>
          <p:nvPr/>
        </p:nvSpPr>
        <p:spPr>
          <a:xfrm>
            <a:off x="1225296" y="532180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DAST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DB68BCC-770E-40B0-B8D8-A0DFE6BAF19A}"/>
              </a:ext>
            </a:extLst>
          </p:cNvPr>
          <p:cNvSpPr>
            <a:spLocks noGrp="1"/>
          </p:cNvSpPr>
          <p:nvPr/>
        </p:nvSpPr>
        <p:spPr>
          <a:xfrm>
            <a:off x="3419856" y="5321808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OWASP ZAP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9E92E8A-D009-4B32-B5C1-4B2EBE27F1D2}"/>
              </a:ext>
            </a:extLst>
          </p:cNvPr>
          <p:cNvSpPr>
            <a:spLocks noGrp="1"/>
          </p:cNvSpPr>
          <p:nvPr/>
        </p:nvSpPr>
        <p:spPr>
          <a:xfrm>
            <a:off x="5458968" y="530352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Igual</a:t>
            </a: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06C479B-4DE9-4EA0-90F9-B6566E812D79}"/>
              </a:ext>
            </a:extLst>
          </p:cNvPr>
          <p:cNvSpPr>
            <a:spLocks noGrp="1"/>
          </p:cNvSpPr>
          <p:nvPr/>
        </p:nvSpPr>
        <p:spPr>
          <a:xfrm>
            <a:off x="8110728" y="5303520"/>
            <a:ext cx="35204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No cambia</a:t>
            </a: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63E23E5C-EFDB-44AB-91BE-8B08D7D5EF9E}"/>
              </a:ext>
            </a:extLst>
          </p:cNvPr>
          <p:cNvSpPr>
            <a:spLocks noGrp="1"/>
          </p:cNvSpPr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C6BAF5A-7CF1-44A9-94CA-F1F1A3490A17}"/>
              </a:ext>
            </a:extLst>
          </p:cNvPr>
          <p:cNvSpPr>
            <a:spLocks noGrp="1"/>
          </p:cNvSpPr>
          <p:nvPr/>
        </p:nvSpPr>
        <p:spPr>
          <a:xfrm>
            <a:off x="566928" y="5971032"/>
            <a:ext cx="502920" cy="411480"/>
          </a:xfrm>
          <a:prstGeom prst="rect">
            <a:avLst/>
          </a:prstGeom>
          <a:solidFill>
            <a:srgbClr val="14B86A"/>
          </a:solidFill>
          <a:ln w="10160">
            <a:solidFill>
              <a:srgbClr val="14B86A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14EC773-BC76-45D9-8185-B54AD9101F06}"/>
              </a:ext>
            </a:extLst>
          </p:cNvPr>
          <p:cNvSpPr>
            <a:spLocks noGrp="1"/>
          </p:cNvSpPr>
          <p:nvPr/>
        </p:nvSpPr>
        <p:spPr>
          <a:xfrm>
            <a:off x="1225296" y="598932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Cadena suministro</a:t>
            </a: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0B9F55B8-5A63-40C4-9E97-CB8362CE15E8}"/>
              </a:ext>
            </a:extLst>
          </p:cNvPr>
          <p:cNvSpPr>
            <a:spLocks noGrp="1"/>
          </p:cNvSpPr>
          <p:nvPr/>
        </p:nvSpPr>
        <p:spPr>
          <a:xfrm>
            <a:off x="3419856" y="598932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Artifact Attestations</a:t>
            </a: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C9301743-021C-4F7B-9679-153C0C956A94}"/>
              </a:ext>
            </a:extLst>
          </p:cNvPr>
          <p:cNvSpPr>
            <a:spLocks noGrp="1"/>
          </p:cNvSpPr>
          <p:nvPr/>
        </p:nvSpPr>
        <p:spPr>
          <a:xfrm>
            <a:off x="5458968" y="5971032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Syft + Cosign</a:t>
            </a: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6ED378CA-CF10-44CC-82C9-AC2E6069A8F8}"/>
              </a:ext>
            </a:extLst>
          </p:cNvPr>
          <p:cNvSpPr>
            <a:spLocks noGrp="1"/>
          </p:cNvSpPr>
          <p:nvPr/>
        </p:nvSpPr>
        <p:spPr>
          <a:xfrm>
            <a:off x="8110728" y="5971032"/>
            <a:ext cx="35204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Cambia: más integración</a:t>
            </a: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6422C27-9903-4AA8-A8F1-47F5136897F5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498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TIEMPOS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El flujo tarda minutos; la sesión se alargó por iterar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Una ejecución automática no equivale al tiempo de construir, corregir y volver a demostrar el flujo.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Evidencia: ejecución final validada del piloto · 2m19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14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noGrp="1"/>
          </p:cNvSpPr>
          <p:nvPr/>
        </p:nvSpPr>
        <p:spPr>
          <a:xfrm>
            <a:off x="777240" y="2011680"/>
            <a:ext cx="2103120" cy="411480"/>
          </a:xfrm>
          <a:prstGeom prst="rect">
            <a:avLst/>
          </a:prstGeom>
          <a:solidFill>
            <a:srgbClr val="EAF8F0"/>
          </a:solidFill>
          <a:ln w="10160">
            <a:solidFill>
              <a:srgbClr val="14B86A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Ejecución normal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noGrp="1"/>
          </p:cNvSpPr>
          <p:nvPr/>
        </p:nvSpPr>
        <p:spPr>
          <a:xfrm>
            <a:off x="777240" y="2606040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Referencia observada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2m19 en el flujo final validado.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noGrp="1"/>
          </p:cNvSpPr>
          <p:nvPr/>
        </p:nvSpPr>
        <p:spPr>
          <a:xfrm>
            <a:off x="777240" y="3392424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Objetivo operativo inicial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≈2–5 min por Pull Request crítico.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noGrp="1"/>
          </p:cNvSpPr>
          <p:nvPr/>
        </p:nvSpPr>
        <p:spPr>
          <a:xfrm>
            <a:off x="777240" y="4178808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Qué puede variar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Tamaño, caché, runner, descarga de imagen y DAST.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noGrp="1"/>
          </p:cNvSpPr>
          <p:nvPr/>
        </p:nvSpPr>
        <p:spPr>
          <a:xfrm>
            <a:off x="6537960" y="2011680"/>
            <a:ext cx="24688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Sesión de ayer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noGrp="1"/>
          </p:cNvSpPr>
          <p:nvPr/>
        </p:nvSpPr>
        <p:spPr>
          <a:xfrm>
            <a:off x="6537960" y="2606040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Configuración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 ajustaron build, grafo y workflows.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noGrp="1"/>
          </p:cNvSpPr>
          <p:nvPr/>
        </p:nvSpPr>
        <p:spPr>
          <a:xfrm>
            <a:off x="6537960" y="3392424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Correcciones reales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Cada hallazgo exigió cambio y nuevo commit.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noGrp="1"/>
          </p:cNvSpPr>
          <p:nvPr/>
        </p:nvSpPr>
        <p:spPr>
          <a:xfrm>
            <a:off x="6537960" y="4178808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Reejecuciones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 repitieron controles hasta obtener evidencia limpia.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noGrp="1"/>
          </p:cNvSpPr>
          <p:nvPr/>
        </p:nvSpPr>
        <p:spPr>
          <a:xfrm>
            <a:off x="1325880" y="5532120"/>
            <a:ext cx="9601200" cy="566928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2m19 es una medición puntual; el piloto medirá p50/p95 para fijar el promedio real del banco.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REQUISITOS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Qué necesita el banco para iniciar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Las decisiones son contractuales y operativas; no se requiere migrar la plataforma.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15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noGrp="1"/>
          </p:cNvSpPr>
          <p:nvPr/>
        </p:nvSpPr>
        <p:spPr>
          <a:xfrm>
            <a:off x="777240" y="2011680"/>
            <a:ext cx="2103120" cy="411480"/>
          </a:xfrm>
          <a:prstGeom prst="rect">
            <a:avLst/>
          </a:prstGeom>
          <a:solidFill>
            <a:srgbClr val="EAF8F0"/>
          </a:solidFill>
          <a:ln w="10160">
            <a:solidFill>
              <a:srgbClr val="14B86A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Decisiones previas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noGrp="1"/>
          </p:cNvSpPr>
          <p:nvPr/>
        </p:nvSpPr>
        <p:spPr>
          <a:xfrm>
            <a:off x="777240" y="2606040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Contrato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Confirmar Code Security y Secret Protection.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noGrp="1"/>
          </p:cNvSpPr>
          <p:nvPr/>
        </p:nvSpPr>
        <p:spPr>
          <a:xfrm>
            <a:off x="777240" y="3392424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Plataforma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Cloud o Server, versión, runners y conectividad.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noGrp="1"/>
          </p:cNvSpPr>
          <p:nvPr/>
        </p:nvSpPr>
        <p:spPr>
          <a:xfrm>
            <a:off x="777240" y="4178808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Política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Severidades, excepciones y datos permitidos.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noGrp="1"/>
          </p:cNvSpPr>
          <p:nvPr/>
        </p:nvSpPr>
        <p:spPr>
          <a:xfrm>
            <a:off x="6537960" y="2011680"/>
            <a:ext cx="24688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Operación del piloto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noGrp="1"/>
          </p:cNvSpPr>
          <p:nvPr/>
        </p:nvSpPr>
        <p:spPr>
          <a:xfrm>
            <a:off x="6537960" y="2606040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Responsables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Seguridad, Plataforma, Desarrollo y Riesgo.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noGrp="1"/>
          </p:cNvSpPr>
          <p:nvPr/>
        </p:nvSpPr>
        <p:spPr>
          <a:xfrm>
            <a:off x="6537960" y="3392424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Alcance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Dos servicios privados representativos.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noGrp="1"/>
          </p:cNvSpPr>
          <p:nvPr/>
        </p:nvSpPr>
        <p:spPr>
          <a:xfrm>
            <a:off x="6537960" y="4178808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anchor="t">
            <a:normAutofit/>
          </a:bodyPr>
          <a:lstStyle/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Éxito</a:t>
            </a:r>
          </a:p>
          <a:p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Tiempo p50/p95, cobertura y remediación.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noGrp="1"/>
          </p:cNvSpPr>
          <p:nvPr/>
        </p:nvSpPr>
        <p:spPr>
          <a:xfrm>
            <a:off x="1325880" y="5532120"/>
            <a:ext cx="9601200" cy="566928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Propuesta: piloto controlado de 4 semanas, sin migrar repositorios ni reemplazar GitHub Enterprise.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95C7B2-28FA-4E32-88C8-436736E7C500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DECISIÓN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7B1819-15DA-48D3-B669-2CABCFEBA307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Aprobar un piloto sobre GitHub Enterprise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2A9A52-04A6-42A9-9509-6E7B5C839FAA}"/>
              </a:ext>
            </a:extLst>
          </p:cNvPr>
          <p:cNvSpPr>
            <a:spLocks noGrp="1"/>
          </p:cNvSpPr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DCE8F5"/>
                </a:solidFill>
              </a:defRPr>
            </a:pPr>
            <a:r>
              <a:rPr sz="1180">
                <a:solidFill>
                  <a:srgbClr val="DCE8F5"/>
                </a:solidFill>
              </a:rPr>
              <a:t>La decisión no es cambiar de plataforma: es elegir el camino de consolidación y medirlo con evidencia.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DF991F-1DFA-4AA7-A6F7-87CC442CF887}"/>
              </a:ext>
            </a:extLst>
          </p:cNvPr>
          <p:cNvSpPr>
            <a:spLocks noGrp="1"/>
          </p:cNvSpPr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DCE8F5"/>
                </a:solidFill>
              </a:defRPr>
            </a:pPr>
            <a:r>
              <a:rPr sz="570">
                <a:solidFill>
                  <a:srgbClr val="DCE8F5"/>
                </a:solidFill>
              </a:rPr>
              <a:t>Decisión solicitada · Seguridad + Plataforma + Desarrollo + Riesgo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531A71E-3EA7-49F3-AB18-638344D2CD12}"/>
              </a:ext>
            </a:extLst>
          </p:cNvPr>
          <p:cNvSpPr>
            <a:spLocks noGrp="1"/>
          </p:cNvSpPr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  <a:defRPr>
                <a:solidFill>
                  <a:srgbClr val="DCE8F5"/>
                </a:solidFill>
              </a:defRPr>
            </a:pPr>
            <a:r>
              <a:rPr sz="620">
                <a:solidFill>
                  <a:srgbClr val="DCE8F5"/>
                </a:solidFill>
              </a:rPr>
              <a:t>16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797CC4-1B62-4B5A-85D3-3E4EB745CB97}"/>
              </a:ext>
            </a:extLst>
          </p:cNvPr>
          <p:cNvSpPr>
            <a:spLocks noGrp="1"/>
          </p:cNvSpPr>
          <p:nvPr/>
        </p:nvSpPr>
        <p:spPr>
          <a:xfrm>
            <a:off x="777240" y="2011680"/>
            <a:ext cx="56692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2100" b="1">
                <a:solidFill>
                  <a:srgbClr val="19C7C3"/>
                </a:solidFill>
              </a:rPr>
              <a:t>El banco sí puede adoptar la iniciativa.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A8177C-B608-4517-BA76-DA4ECA4CCA1C}"/>
              </a:ext>
            </a:extLst>
          </p:cNvPr>
          <p:cNvSpPr>
            <a:spLocks noGrp="1"/>
          </p:cNvSpPr>
          <p:nvPr/>
        </p:nvSpPr>
        <p:spPr>
          <a:xfrm>
            <a:off x="777240" y="260604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7170"/>
          </a:bodyPr>
          <a:lstStyle/>
          <a:p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Camino A: máxima consolidación con productos GitHub contratados.</a:t>
            </a:r>
          </a:p>
          <a:p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Camino B: protección equivalente con herramientas abiertas ya implementadas.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F7F2F1-FCA9-492F-A333-2218BB141D2A}"/>
              </a:ext>
            </a:extLst>
          </p:cNvPr>
          <p:cNvSpPr>
            <a:spLocks noGrp="1"/>
          </p:cNvSpPr>
          <p:nvPr/>
        </p:nvSpPr>
        <p:spPr>
          <a:xfrm>
            <a:off x="8595360" y="1965960"/>
            <a:ext cx="2377440" cy="64008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Confirmar licencias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C6AF338-8FD7-4205-B094-2F41379A8184}"/>
              </a:ext>
            </a:extLst>
          </p:cNvPr>
          <p:cNvSpPr>
            <a:spLocks noGrp="1"/>
          </p:cNvSpPr>
          <p:nvPr/>
        </p:nvSpPr>
        <p:spPr>
          <a:xfrm>
            <a:off x="8595360" y="2971800"/>
            <a:ext cx="2377440" cy="64008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Seleccionar 2 servicios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B25408C-29E4-42F8-BE5C-6E58074996EC}"/>
              </a:ext>
            </a:extLst>
          </p:cNvPr>
          <p:cNvSpPr>
            <a:spLocks noGrp="1"/>
          </p:cNvSpPr>
          <p:nvPr/>
        </p:nvSpPr>
        <p:spPr>
          <a:xfrm>
            <a:off x="8595360" y="3977640"/>
            <a:ext cx="2377440" cy="64008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Medir tiempo y riesgo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2C6AB56-5AD6-4943-8111-FD33C24FA268}"/>
              </a:ext>
            </a:extLst>
          </p:cNvPr>
          <p:cNvSpPr>
            <a:spLocks noGrp="1"/>
          </p:cNvSpPr>
          <p:nvPr/>
        </p:nvSpPr>
        <p:spPr>
          <a:xfrm>
            <a:off x="822960" y="5349240"/>
            <a:ext cx="10607040" cy="685800"/>
          </a:xfrm>
          <a:prstGeom prst="rect">
            <a:avLst/>
          </a:prstGeom>
          <a:solidFill>
            <a:srgbClr val="092552"/>
          </a:solidFill>
          <a:ln w="10160">
            <a:solidFill>
              <a:srgbClr val="FF9F1C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Autorizar 4 semanas y decidir la escala con evidencia de cobertura, costo y operación.</a:t>
            </a:r>
          </a:p>
        </p:txBody>
      </p:sp>
    </p:spTree>
    <p:extLst>
      <p:ext uri="{BB962C8B-B14F-4D97-AF65-F5344CB8AC3E}">
        <p14:creationId xmlns:p14="http://schemas.microsoft.com/office/powerpoint/2010/main" val="83826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2005</Words>
  <Application>Microsoft Macintosh PowerPoint</Application>
  <DocSecurity>0</DocSecurity>
  <PresentationFormat>Panorámica</PresentationFormat>
  <Paragraphs>277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Aptos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carlos leon vela</cp:lastModifiedBy>
  <cp:revision>1</cp:revision>
  <dcterms:created xsi:type="dcterms:W3CDTF">2026-07-10T16:35:16Z</dcterms:created>
  <dcterms:modified xsi:type="dcterms:W3CDTF">2026-07-10T16:49:50Z</dcterms:modified>
</cp:coreProperties>
</file>