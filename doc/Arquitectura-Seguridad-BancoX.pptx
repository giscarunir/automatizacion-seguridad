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relativo</c:v>
                </c:pt>
              </c:strCache>
            </c:strRef>
          </c:tx>
          <c:spPr>
            <a:solidFill>
              <a:srgbClr val="13B6A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7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Código</c:v>
                  </c:pt>
                  <c:pt idx="1">
                    <c:v>Build</c:v>
                  </c:pt>
                  <c:pt idx="2">
                    <c:v>Pruebas</c:v>
                  </c:pt>
                  <c:pt idx="3">
                    <c:v>Producción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7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F2147"/>
          </a:solidFill>
          <a:ln w="12700">
            <a:solidFill>
              <a:srgbClr val="1730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12305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1143000" cy="1143000"/>
          </a:xfrm>
          <a:prstGeom prst="ellipse">
            <a:avLst/>
          </a:prstGeom>
          <a:solidFill>
            <a:srgbClr val="13B6A6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9372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AUTOMATIZACIÓN  ·  PARTE 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5146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Arquitectura de Seguridad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DevSecOps para la Banca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1520" y="4526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capas de defensa automatizadas sobre GitHub — controles nativos y open-source que protegen el código fuente en cada cambio.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5532120"/>
            <a:ext cx="1613916" cy="457200"/>
          </a:xfrm>
          <a:prstGeom prst="roundRect">
            <a:avLst>
              <a:gd name="adj" fmla="val 50000"/>
            </a:avLst>
          </a:prstGeom>
          <a:solidFill>
            <a:srgbClr val="14294E"/>
          </a:solidFill>
          <a:ln w="12700">
            <a:solidFill>
              <a:srgbClr val="13B6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532120"/>
            <a:ext cx="1613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GitHub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74036" y="5532120"/>
            <a:ext cx="1421892" cy="457200"/>
          </a:xfrm>
          <a:prstGeom prst="roundRect">
            <a:avLst>
              <a:gd name="adj" fmla="val 50000"/>
            </a:avLst>
          </a:prstGeom>
          <a:solidFill>
            <a:srgbClr val="14294E"/>
          </a:solidFill>
          <a:ln w="12700">
            <a:solidFill>
              <a:srgbClr val="13B6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74036" y="5532120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24528" y="553212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14294E"/>
          </a:solidFill>
          <a:ln w="12700">
            <a:solidFill>
              <a:srgbClr val="13B6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24528" y="5532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79008" y="5532120"/>
            <a:ext cx="2958084" cy="457200"/>
          </a:xfrm>
          <a:prstGeom prst="roundRect">
            <a:avLst>
              <a:gd name="adj" fmla="val 50000"/>
            </a:avLst>
          </a:prstGeom>
          <a:solidFill>
            <a:srgbClr val="14294E"/>
          </a:solidFill>
          <a:ln w="12700">
            <a:solidFill>
              <a:srgbClr val="13B6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9008" y="5532120"/>
            <a:ext cx="2958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/ Cadena de suministro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¿Por qué la seguridad del código es crítica en un banco?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75688"/>
            <a:ext cx="731520" cy="731520"/>
          </a:xfrm>
          <a:prstGeom prst="ellipse">
            <a:avLst/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58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y cumplimiento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3500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Reguladores, PCI-DSS y auditorías exigen controles demostrables sobre el software.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538728"/>
            <a:ext cx="731520" cy="731520"/>
          </a:xfrm>
          <a:prstGeom prst="ellipse">
            <a:avLst/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216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3813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brecha o una fuga de credenciales daña la confianza del cliente de forma irreversible.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5001768"/>
            <a:ext cx="731520" cy="731520"/>
          </a:xfrm>
          <a:prstGeom prst="ellipse">
            <a:avLst/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846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92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suministro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52760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ataques modernos entran por dependencias y artefactos de terceros.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58368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corregir una vulnerabilidad según cuándo se detecta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92240" y="228600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6492240" y="5852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en el código cuesta hasta 100× menos que en producción. Por eso el pipeline mueve la seguridad “a la izquierda”.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Defensa en profundidad: 7 capas automáticas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se ejecuta en un momento del pipeline y atrapa un tipo de riesgo distinto. Juntas, ninguna falla llega a producción.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38943" y="3406140"/>
            <a:ext cx="9483634" cy="0"/>
          </a:xfrm>
          <a:prstGeom prst="line">
            <a:avLst/>
          </a:prstGeom>
          <a:noFill/>
          <a:ln w="25400">
            <a:solidFill>
              <a:srgbClr val="C6D3E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13163" y="2880360"/>
            <a:ext cx="1051560" cy="1051560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83" y="315468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80675" y="2834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80675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8327" y="4041648"/>
            <a:ext cx="15455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393769" y="2880360"/>
            <a:ext cx="1051560" cy="10515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089" y="3154680"/>
            <a:ext cx="502920" cy="502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061281" y="2834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61281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298932" y="4041648"/>
            <a:ext cx="15455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974374" y="2880360"/>
            <a:ext cx="1051560" cy="105156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694" y="3154680"/>
            <a:ext cx="502920" cy="5029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641886" y="2834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41886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879538" y="4041648"/>
            <a:ext cx="15455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554980" y="2880360"/>
            <a:ext cx="1051560" cy="105156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3154680"/>
            <a:ext cx="502920" cy="5029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222492" y="2834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22249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60144" y="4041648"/>
            <a:ext cx="15455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135586" y="2880360"/>
            <a:ext cx="1051560" cy="10515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906" y="3154680"/>
            <a:ext cx="502920" cy="50292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803098" y="2834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80309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040749" y="4041648"/>
            <a:ext cx="15455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/ K8s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716191" y="2880360"/>
            <a:ext cx="1051560" cy="105156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511" y="3154680"/>
            <a:ext cx="502920" cy="50292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383703" y="2834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383703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621355" y="4041648"/>
            <a:ext cx="15455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10296797" y="2880360"/>
            <a:ext cx="1051560" cy="105156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1117" y="3154680"/>
            <a:ext cx="502920" cy="502920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10964309" y="2834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0964309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201961" y="4041648"/>
            <a:ext cx="15455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Procedencia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Pull Request  </a:t>
            </a:r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secretos · SAST · dependencias · IaC        </a:t>
            </a:r>
            <a:pPr algn="ctr" indent="0" marL="0">
              <a:buNone/>
            </a:pPr>
            <a:r>
              <a:rPr lang="en-US" sz="1300" b="1" dirty="0">
                <a:solidFill>
                  <a:srgbClr val="13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build/deploy  </a:t>
            </a:r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contenedor · DAST · procedencia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algn="ctr"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Nativo GitHub (CodeQL, Secret Scanning, Attestations)      </a:t>
            </a:r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algn="ctr"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 Source (Gitleaks, Semgrep, Trivy, Checkov, ZAP)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· SECRETOS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Detección y bloqueo de credenciales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1463040" cy="1463040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25786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+ OSS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463600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(OSS)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5111496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1114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5586984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5586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Protection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06240" y="1783080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62272" y="2093976"/>
            <a:ext cx="731520" cy="731520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9514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9659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consiste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394960" y="2331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código y el historial en busca de tokens, llaves y contraseñas. Push Protection bloquea el secreto antes de que entre al repositorio.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206240" y="3273552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62272" y="3584448"/>
            <a:ext cx="731520" cy="731520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8561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345643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39496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la fuga de credenciales — la causa más común de brechas. No solo detecta: previene en el momento exacto del push.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206240" y="4764024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462272" y="5074920"/>
            <a:ext cx="731520" cy="731520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27608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94960" y="49469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un banco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394960" y="531266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credencial filtrada puede abrir acceso a sistemas core. El bloqueo preventivo es un requisito de cumplimiento.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· SAST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Análisis estático del código fuente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1463040" cy="14630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25786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+ OSS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463600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(nativo)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5111496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1114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(OSS)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1783080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2272" y="2093976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9514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9659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consiste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94960" y="2331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código Java siguiendo el flujo de datos para hallar inyección SQL, XSS, deserialización insegura y patrones peligrosos.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206240" y="3273552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62272" y="3584448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85616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94960" y="345643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39496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la vulnerabilidad en el código, antes de compilar o desplegar, en cada Pull Request.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206240" y="4764024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462272" y="507492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27608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49469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un banco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394960" y="531266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propio es superficie de ataque directa; encontrarlo temprano reduce costo y riesgo regulatorio.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 · SCA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Seguridad de dependencias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1463040" cy="1463040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25786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+ OSS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463600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5111496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1114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5586984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5586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(OSS)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06240" y="1783080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62272" y="2093976"/>
            <a:ext cx="731520" cy="731520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9514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9659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consiste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394960" y="2331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las librerías de terceros del pom.xml buscando versiones con CVE conocidos y licencias no permitidas.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206240" y="3273552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62272" y="3584448"/>
            <a:ext cx="731520" cy="731520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8561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345643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39496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el Pull Request que introduce una dependencia vulnerable y propone actualizaciones automáticas.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206240" y="4764024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462272" y="5074920"/>
            <a:ext cx="731520" cy="731520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27608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94960" y="49469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un banco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394960" y="531266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vulnerabilidades llega por dependencias; controlarlas es control de la cadena de suministro.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4 · CONTENEDOR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Escaneo de la imagen de contenedor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1463040" cy="146304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25786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463600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(OSS)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783080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2093976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951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9659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consiste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94960" y="2331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la imagen Docker construida: CVEs del sistema base, librerías y malas configuraciones (root, tags mutables).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206240" y="3273552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62272" y="3584448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8561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345643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39496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publicar al registry una imagen con vulnerabilidades críticas.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206240" y="4764024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462272" y="507492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27608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49469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un banco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394960" y="531266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es lo que corre en producción; una imagen insegura anula todos los controles previos.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5 · IAC / K8S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Seguridad de infraestructura como código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1463040" cy="14630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25786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463600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(OSS)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783080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2093976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951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9659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consiste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94960" y="2331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los manifiestos de Kubernetes y el Dockerfile: privilegios excesivos, ejecución como root y ausencia de límites.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206240" y="3273552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62272" y="3584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8561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345643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39496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configuraciones inseguras antes de aplicarlas al clúster.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206240" y="4764024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462272" y="507492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27608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49469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un banco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394960" y="531266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mala configuración de infraestructura es tan peligrosa como un bug de código.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6 · DAST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Pruebas dinámicas sobre la app viva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1463040" cy="146304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25786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463600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(OSS)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783080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2093976"/>
            <a:ext cx="731520" cy="73152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951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9659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consiste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94960" y="2331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la aplicación ya desplegada y en ejecución: cabeceras faltantes, inyecciones y autenticación débil.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206240" y="3273552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62272" y="3584448"/>
            <a:ext cx="731520" cy="73152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8561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345643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39496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fallas que solo aparecen en runtime, complementando el análisis estático.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206240" y="4764024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462272" y="5074920"/>
            <a:ext cx="731520" cy="73152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27608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49469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un banco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394960" y="531266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el comportamiento de un atacante real sobre el servicio en funcionamiento.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7 · CADENA DE SUMINISTRO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Procedencia y firma del artefacto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1463040" cy="146304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25786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463600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636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(Syft)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5111496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1114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Attestations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5586984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5586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L3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06240" y="1783080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62272" y="2093976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9514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9659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consiste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394960" y="2331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inventario de componentes (SBOM) y firma criptográficamente la procedencia de la imagen (SLSA build level 3).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206240" y="3273552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62272" y="3584448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8561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345643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39496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verificar que solo se despliegan imágenes construidas por el pipeline oficial, sin manipulación.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206240" y="4764024"/>
            <a:ext cx="7452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462272" y="507492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27608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94960" y="49469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un banco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394960" y="531266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no-repudio del artefacto — clave para auditoría, SOC2 y reguladores.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Hacer que los controles sean obligatorios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escáneres detectan; el gobierno impide que un cambio inseguro se fusione. Es lo que convierte las capas en una política.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05940" y="2651760"/>
            <a:ext cx="1097280" cy="1097280"/>
          </a:xfrm>
          <a:prstGeom prst="ellipse">
            <a:avLst/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548" y="294436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Rulesets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 que TODOS los checks de seguridad pasen antes de permitir el merge. Ningún control se puede saltar.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16552" y="233172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73852" y="2651760"/>
            <a:ext cx="1097280" cy="1097280"/>
          </a:xfrm>
          <a:prstGeom prst="ellipse">
            <a:avLst/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94436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CODEOWNERS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82312" y="4389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Obligan a que ciertos archivos (contratos, workflows) sean revisados por el equipo dueño.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84464" y="233172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41764" y="2651760"/>
            <a:ext cx="1097280" cy="1097280"/>
          </a:xfrm>
          <a:prstGeom prst="ellipse">
            <a:avLst/>
          </a:prstGeom>
          <a:solidFill>
            <a:srgbClr val="0F2147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2" y="294436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58784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Environments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650224" y="4389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Aprobadores humanos y esperas para el despliegue a certificación y producción.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INTEGRAL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pipeline, dos niveles, cero código inseguro en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3294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585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157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· SAST · SCA · IaC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408" y="2638044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84448" y="20574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3294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7328" y="22585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67328" y="27157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· Contenedor · SBOM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263804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83096" y="20574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3294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65976" y="22585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Procedencia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65976" y="27157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SLSA · Attestations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4" y="2638044"/>
            <a:ext cx="256032" cy="2560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381744" y="20574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3294F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564624" y="22585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DAST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564624" y="27157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OWASP ZAP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Gobernado por Rulesets: si una capa falla, el merge se bloquea.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420624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12233F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4535424"/>
            <a:ext cx="384048" cy="384048"/>
          </a:xfrm>
          <a:prstGeom prst="ellipse">
            <a:avLst/>
          </a:prstGeom>
          <a:solidFill>
            <a:srgbClr val="13B6A6"/>
          </a:solidFill>
          <a:ln/>
        </p:spPr>
      </p:sp>
      <p:sp>
        <p:nvSpPr>
          <p:cNvPr id="22" name="Text 17"/>
          <p:cNvSpPr/>
          <p:nvPr/>
        </p:nvSpPr>
        <p:spPr>
          <a:xfrm>
            <a:off x="1508760" y="43708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— Open Source (portable)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508760" y="471830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· Semgrep · Trivy · Checkov · OWASP ZAP · Cosign. Funciona en cualquier plan y repo, público o privado. La base que el equipo controla y audita.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5800" y="5376672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12233F"/>
          </a:solidFill>
          <a:ln/>
        </p:spPr>
      </p:sp>
      <p:sp>
        <p:nvSpPr>
          <p:cNvPr id="25" name="Shape 20"/>
          <p:cNvSpPr/>
          <p:nvPr/>
        </p:nvSpPr>
        <p:spPr>
          <a:xfrm>
            <a:off x="914400" y="5705856"/>
            <a:ext cx="384048" cy="384048"/>
          </a:xfrm>
          <a:prstGeom prst="ellipse">
            <a:avLst/>
          </a:prstGeom>
          <a:solidFill>
            <a:srgbClr val="38D9C8"/>
          </a:solidFill>
          <a:ln/>
        </p:spPr>
      </p:sp>
      <p:sp>
        <p:nvSpPr>
          <p:cNvPr id="26" name="Text 21"/>
          <p:cNvSpPr/>
          <p:nvPr/>
        </p:nvSpPr>
        <p:spPr>
          <a:xfrm>
            <a:off x="1508760" y="55412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— Nativo GitHub (premium)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508760" y="588873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· Secret Scanning · Push Protection · Artifact Attestations · Copilot Autofix. Lo último en seguridad; el GitHub Enterprise del banco ya lo incluye.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ARGUMENTO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esta arquitectura es adecuada para un banco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914400" cy="914400"/>
          </a:xfrm>
          <a:prstGeom prst="ellipse">
            <a:avLst/>
          </a:prstGeom>
          <a:solidFill>
            <a:srgbClr val="EEF3F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4780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762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Cumplimiento demostrable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20240" y="2651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control deja evidencia (SARIF, SBOM, attestations) lista para auditoría, SOC2 y reguladores.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240280"/>
            <a:ext cx="914400" cy="914400"/>
          </a:xfrm>
          <a:prstGeom prst="ellipse">
            <a:avLst/>
          </a:prstGeom>
          <a:solidFill>
            <a:srgbClr val="EEF3F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4780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1762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Trazabilidad y no-repudio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589520" y="2651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procedencia SLSA: se prueba dónde y cómo se construyó cada imagen que llega a producción.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914400" cy="914400"/>
          </a:xfrm>
          <a:prstGeom prst="ellipse">
            <a:avLst/>
          </a:prstGeom>
          <a:solidFill>
            <a:srgbClr val="EEF3F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48970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1879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Defensa en profundidad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20240" y="4663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capas independientes: si una falla, las demás siguen protegiendo. Riesgo distribuido.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914400" cy="914400"/>
          </a:xfrm>
          <a:prstGeom prst="ellipse">
            <a:avLst/>
          </a:prstGeom>
          <a:solidFill>
            <a:srgbClr val="EEF3FA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48970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1879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Cero exposición del banco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589520" y="4663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corren en repos privados; la demostración usa una vitrina genérica. Nada sensible se expone.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840480"/>
            <a:ext cx="4937760" cy="4937760"/>
          </a:xfrm>
          <a:prstGeom prst="ellipse">
            <a:avLst/>
          </a:prstGeom>
          <a:solidFill>
            <a:srgbClr val="0F21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0"/>
            <a:ext cx="1188720" cy="1188720"/>
          </a:xfrm>
          <a:prstGeom prst="ellipse">
            <a:avLst/>
          </a:prstGeom>
          <a:solidFill>
            <a:srgbClr val="13B6A6"/>
          </a:solidFill>
          <a:ln/>
          <a:effectLst>
            <a:outerShdw sx="100000" sy="100000" kx="0" ky="0" algn="bl" rotWithShape="0" blurRad="114300" dist="38100" dir="5400000">
              <a:srgbClr val="0A1836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168066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788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la propuesta a producción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7033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capas de seguridad automáticas que funcionan en cualquier entorno; </a:t>
            </a:r>
            <a:pPr indent="0" marL="0">
              <a:buNone/>
            </a:pPr>
            <a:r>
              <a:rPr lang="en-US" sz="1800" dirty="0">
                <a:solidFill>
                  <a:srgbClr val="3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GitHub Enterprise del banco se potencian con CodeQL, Push Protection y firma de procedencia nativas.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8920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mejor de ambos mundos — y ningún código inseguro llega a producción.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Seguridad DevSecOps  ·  Banco X (vitrina)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 Seguridad DevSecOps para Banca</dc:title>
  <dc:subject>PptxGenJS Presentation</dc:subject>
  <dc:creator>Propuesta DevSecOps</dc:creator>
  <cp:lastModifiedBy>Propuesta DevSecOps</cp:lastModifiedBy>
  <cp:revision>1</cp:revision>
  <dcterms:created xsi:type="dcterms:W3CDTF">2026-07-09T03:42:40Z</dcterms:created>
  <dcterms:modified xsi:type="dcterms:W3CDTF">2026-07-09T03:42:40Z</dcterms:modified>
</cp:coreProperties>
</file>